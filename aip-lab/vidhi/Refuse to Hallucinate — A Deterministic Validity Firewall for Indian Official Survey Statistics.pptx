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ConfAI 2026, Track 06 on Responsible and Ethical AI. I am Ajay Choudhary from the MSAI program at Plaksha University, and the deck you are about to see is called Vidhi Guardian — Refuse to Hallucinate. The central claim is simple: generative AI does not fail at retrieving Indian official statistics, it fails at governing them. It expands acronyms wrongly, chains non-comparable rounds, and bends to poisoned context. Our fix is a deterministic validity firewall that runs before any document is read and freezes the verdict under a SHA-256 hash. Four headline numbers frame the talk: 100 of 100 golden verdicts agree with curators, 59 of 59 figures are exact, 0 of 19 cache collisions on danger pairs, and SHA-256 freezes the verdict pre-retrieval. We will close the cover with a live teaser: what was urban female LFPR in PLFS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walks the room through five concrete failure modes observed during a live session with the StatsDoc pilot, contrasted with the corresponding measured behavior from Vidhi Guardian. Row one: StatsDoc expands MPCE as Mean Per Capita Expenditure — wrong; Vidhi enforces the statutory Monthly Per Capita Consumption Expenditure and cites the ₹4,122 figure from HCES 2022-23. Row two: a 2011-12 to 2023-24 comparison is quoted at forty percent growth with no methodology warning; Vidhi halts with reason code R_COMPARABILITY_HCES_METHOD. Row three: multi-period chaining is unsound. Row four: poisoned context flips the verdict; Vidhi freezes it pre-retrieval. The highlighted cost row is the practical clincher — zero marginal dollars, one hundred twenty millisecond warm latency on CPU. These are governance failures, not retrieval failures, and the next slide shows how the firewall fixes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a nine-step pipeline. A question is normalized, matched against an exact cache, decomposed into atomic claims, checked against a field-guard cache, and then handed to the firewall. The firewall is the highlighted node — it sits before any retrieval happens. Its verdict is then frozen under a SHA-256 hash of the claim, the decision, the reason, and the rule-version. Only after that hash exists does untrusted retrieval read document text; the prose is templated and a citation check closes the loop. Inside the firewall, five stages run in fixed order: scope and safety refuse outright, comparability and metadata warn, and only a verified ground-truth row match passes at stage five. The two guarantees on the right — Safety-B hashes the verdict before retrieval, and the field-guard cache uses exact critical-field match instead of a cosine threshold — are what make live demos boring in a good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two PASS verdicts captured live from the localhost demo while building this deck. On the left, the LFPR 59.3 percent answer is provably tied to a ground-truth row — the hash 404272ed and rule-version v2026.10 are stamped before any document text is read, so a planted "ignore the caveat" chunk cannot change the verdict. The provenance chip points back to PLFS Annual Report 2024-25, Statement 4.7, row_id plfs_a_15_us_2025. On the right, the four-slice Bihar MPCE table demonstrates that the firewall handles multi-row verified answers, each slice carrying its own row_id. The Export CSV button makes the output auditable — four slices verified, zero refused — so a journalist or fact-checker can take the file straight into their own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live question we teased on the cover. On the left, urban female LFPR is not in the verified store for PLFS 2025, so the firewall returns WARN_NO_DATA. It does show the SOURCED 27.7 percent figure for context, but the verdict stays WARN — never silently PASS — and the NOT-the-figure guard prevents anyone from quoting it as a verified statistic. The offline twin carries the same coverage note and guard at tier NONE, so the behavior survives cold start. On the right, the firewall refuses a 2027 unemployment forecast with reason code R_FORECAST — Stage 1 rule, no number produced. Refusal here is a feature, not a failure mode: the system would rather say nothing than fabricate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six is the evaluation scorecard — and the point of the slide is that none of these numbers are slide claims; every one is a test output. On the left, six correctness gates all must pass: 100 of 100 golden verdicts match within an agreement range of 0.963 to 1.000, 100 of 100 reason codes are correct with figures 59 of 59, zero cache collisions across 19 danger pairs at a similarity floor of 0.83, citations valid at 1.000 — every PASS cites a source row, the Safety-B hash is unchanged under corpus injection, and 90 unit tests pass offline with no API key. Reproduce it yourself with pytest tests/ -q. On the right, economics stated plainly: zero marginal model cost, p50 about 120 milliseconds warm on CPU. The honest limits are coverage — PLFS state splits warn, never guess — and exotic phrasing that breaks the heuristic readers, for which an LLM port already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is short and ranked. Move one is the operating model — an eSankhyiki adapter that ingests each release at publish time, runs the audit gate, and freezes the verified JSON. Human work per release is one comparability entry plus a diff review; that is the path from 173 rows today to national coverage without ever touching the firewall logic. Move two, in progress, is one parser per table family — Statement 7 is done with 37 of 37 pairs and zero mismatches, TUS and MIS tables are next. Move three, proposed, is a verify-then-publish endpoint for journalists and fact-checkers: submit a claim, get a cited verdict. Already built today: an MCP server with four tools and a policy-briefing agent. To reproduce everything in five minutes, run pytest tests/ -q for 90 passed offline, run vidhi/eval.py for 100/100, 0/19, Safety-B ok, and ask the hard question — expect WARN_NO_DATA plus a coverage note. Thank you — questions and red-team attempts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57150" cy="5143500"/>
          </a:xfrm>
          <a:prstGeom prst="rect">
            <a:avLst/>
          </a:prstGeom>
          <a:solidFill>
            <a:srgbClr val="0F4C5C"/>
          </a:solidFill>
          <a:ln/>
        </p:spPr>
        <p:txBody>
          <a:bodyPr wrap="square" rtlCol="0" anchor="ctr"/>
          <a:lstStyle/>
          <a:p>
            <a:pPr indent="0" marL="0">
              <a:buNone/>
            </a:pPr>
            <a:endParaRPr lang="en-US" dirty="0"/>
          </a:p>
        </p:txBody>
      </p:sp>
      <p:sp>
        <p:nvSpPr>
          <p:cNvPr id="3" name="Text 1"/>
          <p:cNvSpPr/>
          <p:nvPr/>
        </p:nvSpPr>
        <p:spPr>
          <a:xfrm>
            <a:off x="571500" y="342900"/>
            <a:ext cx="4152603" cy="164592"/>
          </a:xfrm>
          <a:prstGeom prst="rect">
            <a:avLst/>
          </a:prstGeom>
          <a:noFill/>
          <a:ln/>
        </p:spPr>
        <p:txBody>
          <a:bodyPr wrap="square" lIns="0" tIns="0" rIns="0" bIns="0" rtlCol="0" anchor="t"/>
          <a:lstStyle/>
          <a:p>
            <a:pPr algn="l" indent="0" marL="0">
              <a:lnSpc>
                <a:spcPts val="886"/>
              </a:lnSpc>
              <a:buNone/>
            </a:pPr>
            <a:r>
              <a:rPr lang="en-US" sz="600" b="1" spc="106" kern="0" dirty="0">
                <a:solidFill>
                  <a:srgbClr val="E36414"/>
                </a:solidFill>
                <a:latin typeface="Carlito" pitchFamily="34" charset="0"/>
                <a:ea typeface="Carlito" pitchFamily="34" charset="-122"/>
                <a:cs typeface="Carlito" pitchFamily="34" charset="-120"/>
              </a:rPr>
              <a:t>CONFAI 2026 · PLAKSHA UNIVERSITY · TRACK 06 RESPONSIBLE &amp; ETHICAL AI</a:t>
            </a:r>
            <a:endParaRPr lang="en-US" sz="600" dirty="0"/>
          </a:p>
        </p:txBody>
      </p:sp>
      <p:sp>
        <p:nvSpPr>
          <p:cNvPr id="4" name="Text 2"/>
          <p:cNvSpPr/>
          <p:nvPr/>
        </p:nvSpPr>
        <p:spPr>
          <a:xfrm>
            <a:off x="571500" y="857250"/>
            <a:ext cx="5118106" cy="518368"/>
          </a:xfrm>
          <a:prstGeom prst="rect">
            <a:avLst/>
          </a:prstGeom>
          <a:noFill/>
          <a:ln/>
        </p:spPr>
        <p:txBody>
          <a:bodyPr wrap="none" lIns="0" tIns="0" rIns="0" bIns="0" rtlCol="0" anchor="t"/>
          <a:lstStyle/>
          <a:p>
            <a:pPr algn="l" indent="0" marL="0">
              <a:lnSpc>
                <a:spcPts val="3780"/>
              </a:lnSpc>
              <a:buNone/>
            </a:pPr>
            <a:r>
              <a:rPr lang="en-US" sz="3600" b="1" spc="-36" kern="0" dirty="0">
                <a:solidFill>
                  <a:srgbClr val="0F4C5C"/>
                </a:solidFill>
                <a:latin typeface="Tinos" pitchFamily="34" charset="0"/>
                <a:ea typeface="Tinos" pitchFamily="34" charset="-122"/>
                <a:cs typeface="Tinos" pitchFamily="34" charset="-120"/>
              </a:rPr>
              <a:t>Refuse to Hallucinate</a:t>
            </a:r>
            <a:endParaRPr lang="en-US" sz="3600" dirty="0"/>
          </a:p>
        </p:txBody>
      </p:sp>
      <p:sp>
        <p:nvSpPr>
          <p:cNvPr id="5" name="Text 3"/>
          <p:cNvSpPr/>
          <p:nvPr/>
        </p:nvSpPr>
        <p:spPr>
          <a:xfrm>
            <a:off x="4751710" y="957263"/>
            <a:ext cx="200025" cy="200025"/>
          </a:xfrm>
          <a:prstGeom prst="rect">
            <a:avLst/>
          </a:prstGeom>
          <a:noFill/>
          <a:ln/>
        </p:spPr>
        <p:txBody>
          <a:bodyPr wrap="none" lIns="0" tIns="0" rIns="0" bIns="0" rtlCol="0" anchor="ctr"/>
          <a:lstStyle/>
          <a:p>
            <a:pPr algn="ctr" indent="0" marL="0">
              <a:buNone/>
            </a:pPr>
            <a:r>
              <a:rPr lang="en-US" sz="1969" dirty="0">
                <a:solidFill>
                  <a:srgbClr val="E36414"/>
                </a:solidFill>
                <a:latin typeface="Segoe UI Symbol" pitchFamily="34" charset="0"/>
                <a:ea typeface="Segoe UI Symbol" pitchFamily="34" charset="-122"/>
                <a:cs typeface="Segoe UI Symbol" pitchFamily="34" charset="-120"/>
              </a:rPr>
              <a:t>⛨</a:t>
            </a:r>
            <a:endParaRPr lang="en-US" sz="1969" dirty="0"/>
          </a:p>
        </p:txBody>
      </p:sp>
      <p:sp>
        <p:nvSpPr>
          <p:cNvPr id="6" name="Text 4"/>
          <p:cNvSpPr/>
          <p:nvPr/>
        </p:nvSpPr>
        <p:spPr>
          <a:xfrm>
            <a:off x="571500" y="1408658"/>
            <a:ext cx="6691796" cy="220608"/>
          </a:xfrm>
          <a:prstGeom prst="rect">
            <a:avLst/>
          </a:prstGeom>
          <a:noFill/>
          <a:ln/>
        </p:spPr>
        <p:txBody>
          <a:bodyPr wrap="square" lIns="0" tIns="0" rIns="0" bIns="0" rtlCol="0" anchor="t"/>
          <a:lstStyle/>
          <a:p>
            <a:pPr algn="l" indent="0" marL="0">
              <a:lnSpc>
                <a:spcPts val="1609"/>
              </a:lnSpc>
              <a:buNone/>
            </a:pPr>
            <a:r>
              <a:rPr lang="en-US" sz="1238" i="1" dirty="0">
                <a:solidFill>
                  <a:srgbClr val="4A4A4A"/>
                </a:solidFill>
                <a:latin typeface="Tinos" pitchFamily="34" charset="0"/>
                <a:ea typeface="Tinos" pitchFamily="34" charset="-122"/>
                <a:cs typeface="Tinos" pitchFamily="34" charset="-120"/>
              </a:rPr>
              <a:t>A Deterministic Validity Firewall for Indian Official Survey Statistics (MoSPI · PLFS · HCES · TUS · MIS)</a:t>
            </a:r>
            <a:endParaRPr lang="en-US" sz="1238" dirty="0"/>
          </a:p>
        </p:txBody>
      </p:sp>
      <p:sp>
        <p:nvSpPr>
          <p:cNvPr id="7" name="Text 5"/>
          <p:cNvSpPr/>
          <p:nvPr/>
        </p:nvSpPr>
        <p:spPr>
          <a:xfrm>
            <a:off x="571500" y="2000250"/>
            <a:ext cx="6572250" cy="380217"/>
          </a:xfrm>
          <a:prstGeom prst="rect">
            <a:avLst/>
          </a:prstGeom>
          <a:noFill/>
          <a:ln/>
        </p:spPr>
        <p:txBody>
          <a:bodyPr wrap="square" lIns="0" tIns="0" rIns="0" bIns="0" rtlCol="0" anchor="t"/>
          <a:lstStyle/>
          <a:p>
            <a:pPr algn="l" indent="0" marL="0">
              <a:lnSpc>
                <a:spcPts val="1387"/>
              </a:lnSpc>
              <a:buNone/>
            </a:pPr>
            <a:r>
              <a:rPr lang="en-US" sz="956" dirty="0">
                <a:solidFill>
                  <a:srgbClr val="1A1A1A"/>
                </a:solidFill>
                <a:latin typeface="Carlito" pitchFamily="34" charset="0"/>
                <a:ea typeface="Carlito" pitchFamily="34" charset="-122"/>
                <a:cs typeface="Carlito" pitchFamily="34" charset="-120"/>
              </a:rPr>
              <a:t>MoSPI’s tools help you find the number. This firewall checks whether you are allowed to say what you want to say with it — and stops you, with a cited rule, when you are not.</a:t>
            </a:r>
            <a:endParaRPr lang="en-US" sz="956" dirty="0"/>
          </a:p>
        </p:txBody>
      </p:sp>
      <p:sp>
        <p:nvSpPr>
          <p:cNvPr id="8" name="Text 6"/>
          <p:cNvSpPr/>
          <p:nvPr/>
        </p:nvSpPr>
        <p:spPr>
          <a:xfrm>
            <a:off x="575072" y="2861072"/>
            <a:ext cx="1907381" cy="778669"/>
          </a:xfrm>
          <a:prstGeom prst="roundRect">
            <a:avLst>
              <a:gd name="adj" fmla="val 7339"/>
            </a:avLst>
          </a:prstGeom>
          <a:solidFill>
            <a:srgbClr val="F6F4F1"/>
          </a:solidFill>
          <a:ln w="7144">
            <a:solidFill>
              <a:srgbClr val="D8D2CB"/>
            </a:solidFill>
            <a:prstDash val="solid"/>
          </a:ln>
        </p:spPr>
        <p:txBody>
          <a:bodyPr wrap="square" rtlCol="0" anchor="ctr"/>
          <a:lstStyle/>
          <a:p>
            <a:pPr indent="0" marL="0">
              <a:buNone/>
            </a:pPr>
            <a:endParaRPr lang="en-US" dirty="0"/>
          </a:p>
        </p:txBody>
      </p:sp>
      <p:sp>
        <p:nvSpPr>
          <p:cNvPr id="9" name="Text 7"/>
          <p:cNvSpPr/>
          <p:nvPr/>
        </p:nvSpPr>
        <p:spPr>
          <a:xfrm>
            <a:off x="721519" y="2996803"/>
            <a:ext cx="1614488" cy="347186"/>
          </a:xfrm>
          <a:prstGeom prst="rect">
            <a:avLst/>
          </a:prstGeom>
          <a:noFill/>
          <a:ln/>
        </p:spPr>
        <p:txBody>
          <a:bodyPr wrap="none" lIns="0" tIns="0" rIns="0" bIns="0" rtlCol="0" anchor="t"/>
          <a:lstStyle/>
          <a:p>
            <a:pPr algn="l" indent="0" marL="0">
              <a:lnSpc>
                <a:spcPts val="2531"/>
              </a:lnSpc>
              <a:buNone/>
            </a:pPr>
            <a:r>
              <a:rPr lang="en-US" sz="1688" b="1" spc="-17" kern="0" dirty="0">
                <a:solidFill>
                  <a:srgbClr val="0F4C5C"/>
                </a:solidFill>
                <a:latin typeface="Liberation Sans Narrow" pitchFamily="34" charset="0"/>
                <a:ea typeface="Liberation Sans Narrow" pitchFamily="34" charset="-122"/>
                <a:cs typeface="Liberation Sans Narrow" pitchFamily="34" charset="-120"/>
              </a:rPr>
              <a:t>100 / 100</a:t>
            </a:r>
            <a:endParaRPr lang="en-US" sz="1688" dirty="0"/>
          </a:p>
        </p:txBody>
      </p:sp>
      <p:sp>
        <p:nvSpPr>
          <p:cNvPr id="10" name="Text 8"/>
          <p:cNvSpPr/>
          <p:nvPr/>
        </p:nvSpPr>
        <p:spPr>
          <a:xfrm>
            <a:off x="721519" y="3375422"/>
            <a:ext cx="1614488" cy="132159"/>
          </a:xfrm>
          <a:prstGeom prst="rect">
            <a:avLst/>
          </a:prstGeom>
          <a:noFill/>
          <a:ln/>
        </p:spPr>
        <p:txBody>
          <a:bodyPr wrap="none" lIns="0" tIns="0" rIns="0" bIns="0" rtlCol="0" anchor="t"/>
          <a:lstStyle/>
          <a:p>
            <a:pPr algn="l" indent="0" marL="0">
              <a:lnSpc>
                <a:spcPts val="1013"/>
              </a:lnSpc>
              <a:buNone/>
            </a:pPr>
            <a:r>
              <a:rPr lang="en-US" sz="800" spc="108" kern="0" dirty="0">
                <a:solidFill>
                  <a:srgbClr val="4A4A4A"/>
                </a:solidFill>
                <a:latin typeface="Carlito" pitchFamily="34" charset="0"/>
                <a:ea typeface="Carlito" pitchFamily="34" charset="-122"/>
                <a:cs typeface="Carlito" pitchFamily="34" charset="-120"/>
              </a:rPr>
              <a:t>GOLDEN VERDICTS</a:t>
            </a:r>
            <a:endParaRPr lang="en-US" sz="800" dirty="0"/>
          </a:p>
        </p:txBody>
      </p:sp>
      <p:sp>
        <p:nvSpPr>
          <p:cNvPr id="11" name="Text 9"/>
          <p:cNvSpPr/>
          <p:nvPr/>
        </p:nvSpPr>
        <p:spPr>
          <a:xfrm>
            <a:off x="2603897" y="2861072"/>
            <a:ext cx="1907381" cy="778669"/>
          </a:xfrm>
          <a:prstGeom prst="roundRect">
            <a:avLst>
              <a:gd name="adj" fmla="val 7339"/>
            </a:avLst>
          </a:prstGeom>
          <a:solidFill>
            <a:srgbClr val="F6F4F1"/>
          </a:solidFill>
          <a:ln w="7144">
            <a:solidFill>
              <a:srgbClr val="D8D2CB"/>
            </a:solidFill>
            <a:prstDash val="solid"/>
          </a:ln>
        </p:spPr>
        <p:txBody>
          <a:bodyPr wrap="square" rtlCol="0" anchor="ctr"/>
          <a:lstStyle/>
          <a:p>
            <a:pPr indent="0" marL="0">
              <a:buNone/>
            </a:pPr>
            <a:endParaRPr lang="en-US" dirty="0"/>
          </a:p>
        </p:txBody>
      </p:sp>
      <p:sp>
        <p:nvSpPr>
          <p:cNvPr id="12" name="Text 10"/>
          <p:cNvSpPr/>
          <p:nvPr/>
        </p:nvSpPr>
        <p:spPr>
          <a:xfrm>
            <a:off x="2750344" y="2996803"/>
            <a:ext cx="1614488" cy="347186"/>
          </a:xfrm>
          <a:prstGeom prst="rect">
            <a:avLst/>
          </a:prstGeom>
          <a:noFill/>
          <a:ln/>
        </p:spPr>
        <p:txBody>
          <a:bodyPr wrap="none" lIns="0" tIns="0" rIns="0" bIns="0" rtlCol="0" anchor="t"/>
          <a:lstStyle/>
          <a:p>
            <a:pPr algn="l" indent="0" marL="0">
              <a:lnSpc>
                <a:spcPts val="2531"/>
              </a:lnSpc>
              <a:buNone/>
            </a:pPr>
            <a:r>
              <a:rPr lang="en-US" sz="1688" b="1" spc="-17" kern="0" dirty="0">
                <a:solidFill>
                  <a:srgbClr val="0F4C5C"/>
                </a:solidFill>
                <a:latin typeface="Liberation Sans Narrow" pitchFamily="34" charset="0"/>
                <a:ea typeface="Liberation Sans Narrow" pitchFamily="34" charset="-122"/>
                <a:cs typeface="Liberation Sans Narrow" pitchFamily="34" charset="-120"/>
              </a:rPr>
              <a:t>59 / 59</a:t>
            </a:r>
            <a:endParaRPr lang="en-US" sz="1688" dirty="0"/>
          </a:p>
        </p:txBody>
      </p:sp>
      <p:sp>
        <p:nvSpPr>
          <p:cNvPr id="13" name="Text 11"/>
          <p:cNvSpPr/>
          <p:nvPr/>
        </p:nvSpPr>
        <p:spPr>
          <a:xfrm>
            <a:off x="2750344" y="3375422"/>
            <a:ext cx="1614487" cy="132159"/>
          </a:xfrm>
          <a:prstGeom prst="rect">
            <a:avLst/>
          </a:prstGeom>
          <a:noFill/>
          <a:ln/>
        </p:spPr>
        <p:txBody>
          <a:bodyPr wrap="none" lIns="0" tIns="0" rIns="0" bIns="0" rtlCol="0" anchor="t"/>
          <a:lstStyle/>
          <a:p>
            <a:pPr algn="l" indent="0" marL="0">
              <a:lnSpc>
                <a:spcPts val="1013"/>
              </a:lnSpc>
              <a:buNone/>
            </a:pPr>
            <a:r>
              <a:rPr lang="en-US" sz="800" spc="108" kern="0" dirty="0">
                <a:solidFill>
                  <a:srgbClr val="4A4A4A"/>
                </a:solidFill>
                <a:latin typeface="Carlito" pitchFamily="34" charset="0"/>
                <a:ea typeface="Carlito" pitchFamily="34" charset="-122"/>
                <a:cs typeface="Carlito" pitchFamily="34" charset="-120"/>
              </a:rPr>
              <a:t>FIGURES EXACT</a:t>
            </a:r>
            <a:endParaRPr lang="en-US" sz="800" dirty="0"/>
          </a:p>
        </p:txBody>
      </p:sp>
      <p:sp>
        <p:nvSpPr>
          <p:cNvPr id="14" name="Text 12"/>
          <p:cNvSpPr/>
          <p:nvPr/>
        </p:nvSpPr>
        <p:spPr>
          <a:xfrm>
            <a:off x="4632722" y="2861072"/>
            <a:ext cx="1907381" cy="778669"/>
          </a:xfrm>
          <a:prstGeom prst="roundRect">
            <a:avLst>
              <a:gd name="adj" fmla="val 7339"/>
            </a:avLst>
          </a:prstGeom>
          <a:solidFill>
            <a:srgbClr val="F6F4F1"/>
          </a:solidFill>
          <a:ln w="7144">
            <a:solidFill>
              <a:srgbClr val="D8D2CB"/>
            </a:solidFill>
            <a:prstDash val="solid"/>
          </a:ln>
        </p:spPr>
        <p:txBody>
          <a:bodyPr wrap="square" rtlCol="0" anchor="ctr"/>
          <a:lstStyle/>
          <a:p>
            <a:pPr indent="0" marL="0">
              <a:buNone/>
            </a:pPr>
            <a:endParaRPr lang="en-US" dirty="0"/>
          </a:p>
        </p:txBody>
      </p:sp>
      <p:sp>
        <p:nvSpPr>
          <p:cNvPr id="15" name="Text 13"/>
          <p:cNvSpPr/>
          <p:nvPr/>
        </p:nvSpPr>
        <p:spPr>
          <a:xfrm>
            <a:off x="4779169" y="2996803"/>
            <a:ext cx="1614488" cy="347186"/>
          </a:xfrm>
          <a:prstGeom prst="rect">
            <a:avLst/>
          </a:prstGeom>
          <a:noFill/>
          <a:ln/>
        </p:spPr>
        <p:txBody>
          <a:bodyPr wrap="none" lIns="0" tIns="0" rIns="0" bIns="0" rtlCol="0" anchor="t"/>
          <a:lstStyle/>
          <a:p>
            <a:pPr algn="l" indent="0" marL="0">
              <a:lnSpc>
                <a:spcPts val="2531"/>
              </a:lnSpc>
              <a:buNone/>
            </a:pPr>
            <a:r>
              <a:rPr lang="en-US" sz="1688" b="1" spc="-17" kern="0" dirty="0">
                <a:solidFill>
                  <a:srgbClr val="0F4C5C"/>
                </a:solidFill>
                <a:latin typeface="Liberation Sans Narrow" pitchFamily="34" charset="0"/>
                <a:ea typeface="Liberation Sans Narrow" pitchFamily="34" charset="-122"/>
                <a:cs typeface="Liberation Sans Narrow" pitchFamily="34" charset="-120"/>
              </a:rPr>
              <a:t>0 / 19</a:t>
            </a:r>
            <a:endParaRPr lang="en-US" sz="1688" dirty="0"/>
          </a:p>
        </p:txBody>
      </p:sp>
      <p:sp>
        <p:nvSpPr>
          <p:cNvPr id="16" name="Text 14"/>
          <p:cNvSpPr/>
          <p:nvPr/>
        </p:nvSpPr>
        <p:spPr>
          <a:xfrm>
            <a:off x="4779169" y="3375422"/>
            <a:ext cx="1614487" cy="132159"/>
          </a:xfrm>
          <a:prstGeom prst="rect">
            <a:avLst/>
          </a:prstGeom>
          <a:noFill/>
          <a:ln/>
        </p:spPr>
        <p:txBody>
          <a:bodyPr wrap="none" lIns="0" tIns="0" rIns="0" bIns="0" rtlCol="0" anchor="t"/>
          <a:lstStyle/>
          <a:p>
            <a:pPr algn="l" indent="0" marL="0">
              <a:lnSpc>
                <a:spcPts val="1013"/>
              </a:lnSpc>
              <a:buNone/>
            </a:pPr>
            <a:r>
              <a:rPr lang="en-US" sz="800" spc="108" kern="0" dirty="0">
                <a:solidFill>
                  <a:srgbClr val="4A4A4A"/>
                </a:solidFill>
                <a:latin typeface="Carlito" pitchFamily="34" charset="0"/>
                <a:ea typeface="Carlito" pitchFamily="34" charset="-122"/>
                <a:cs typeface="Carlito" pitchFamily="34" charset="-120"/>
              </a:rPr>
              <a:t>CACHE COLLISIONS</a:t>
            </a:r>
            <a:endParaRPr lang="en-US" sz="800" dirty="0"/>
          </a:p>
        </p:txBody>
      </p:sp>
      <p:sp>
        <p:nvSpPr>
          <p:cNvPr id="17" name="Text 15"/>
          <p:cNvSpPr/>
          <p:nvPr/>
        </p:nvSpPr>
        <p:spPr>
          <a:xfrm>
            <a:off x="6657975" y="2857500"/>
            <a:ext cx="1914525" cy="785813"/>
          </a:xfrm>
          <a:prstGeom prst="roundRect">
            <a:avLst>
              <a:gd name="adj" fmla="val 4848"/>
            </a:avLst>
          </a:prstGeom>
          <a:solidFill>
            <a:srgbClr val="FFFFFF"/>
          </a:solidFill>
          <a:ln/>
        </p:spPr>
        <p:txBody>
          <a:bodyPr wrap="square" rtlCol="0" anchor="ctr"/>
          <a:lstStyle/>
          <a:p>
            <a:pPr indent="0" marL="0">
              <a:buNone/>
            </a:pPr>
            <a:endParaRPr lang="en-US" dirty="0"/>
          </a:p>
        </p:txBody>
      </p:sp>
      <p:sp>
        <p:nvSpPr>
          <p:cNvPr id="18" name="Shape 16"/>
          <p:cNvSpPr/>
          <p:nvPr/>
        </p:nvSpPr>
        <p:spPr>
          <a:xfrm>
            <a:off x="6657975" y="2861072"/>
            <a:ext cx="1914525" cy="0"/>
          </a:xfrm>
          <a:prstGeom prst="line">
            <a:avLst/>
          </a:prstGeom>
          <a:noFill/>
          <a:ln w="7144">
            <a:solidFill>
              <a:srgbClr val="D8D2CB"/>
            </a:solidFill>
            <a:prstDash val="solid"/>
          </a:ln>
        </p:spPr>
      </p:sp>
      <p:sp>
        <p:nvSpPr>
          <p:cNvPr id="19" name="Shape 17"/>
          <p:cNvSpPr/>
          <p:nvPr/>
        </p:nvSpPr>
        <p:spPr>
          <a:xfrm>
            <a:off x="8568928" y="2857500"/>
            <a:ext cx="0" cy="785813"/>
          </a:xfrm>
          <a:prstGeom prst="line">
            <a:avLst/>
          </a:prstGeom>
          <a:noFill/>
          <a:ln w="7144">
            <a:solidFill>
              <a:srgbClr val="D8D2CB"/>
            </a:solidFill>
            <a:prstDash val="solid"/>
          </a:ln>
        </p:spPr>
      </p:sp>
      <p:sp>
        <p:nvSpPr>
          <p:cNvPr id="20" name="Shape 18"/>
          <p:cNvSpPr/>
          <p:nvPr/>
        </p:nvSpPr>
        <p:spPr>
          <a:xfrm>
            <a:off x="6657975" y="3639741"/>
            <a:ext cx="1914525" cy="0"/>
          </a:xfrm>
          <a:prstGeom prst="line">
            <a:avLst/>
          </a:prstGeom>
          <a:noFill/>
          <a:ln w="7144">
            <a:solidFill>
              <a:srgbClr val="D8D2CB"/>
            </a:solidFill>
            <a:prstDash val="solid"/>
          </a:ln>
        </p:spPr>
      </p:sp>
      <p:sp>
        <p:nvSpPr>
          <p:cNvPr id="21" name="Shape 19"/>
          <p:cNvSpPr/>
          <p:nvPr/>
        </p:nvSpPr>
        <p:spPr>
          <a:xfrm>
            <a:off x="6672263" y="2857500"/>
            <a:ext cx="0" cy="785813"/>
          </a:xfrm>
          <a:prstGeom prst="line">
            <a:avLst/>
          </a:prstGeom>
          <a:noFill/>
          <a:ln w="28575">
            <a:solidFill>
              <a:srgbClr val="E36414"/>
            </a:solidFill>
            <a:prstDash val="solid"/>
          </a:ln>
        </p:spPr>
      </p:sp>
      <p:sp>
        <p:nvSpPr>
          <p:cNvPr id="22" name="Text 20"/>
          <p:cNvSpPr/>
          <p:nvPr/>
        </p:nvSpPr>
        <p:spPr>
          <a:xfrm>
            <a:off x="6829425" y="2932509"/>
            <a:ext cx="1593056" cy="347186"/>
          </a:xfrm>
          <a:prstGeom prst="rect">
            <a:avLst/>
          </a:prstGeom>
          <a:noFill/>
          <a:ln/>
        </p:spPr>
        <p:txBody>
          <a:bodyPr wrap="none" lIns="0" tIns="0" rIns="0" bIns="0" rtlCol="0" anchor="t"/>
          <a:lstStyle/>
          <a:p>
            <a:pPr algn="l" indent="0" marL="0">
              <a:lnSpc>
                <a:spcPts val="2531"/>
              </a:lnSpc>
              <a:buNone/>
            </a:pPr>
            <a:r>
              <a:rPr lang="en-US" sz="1688" b="1" spc="-17" kern="0" dirty="0">
                <a:solidFill>
                  <a:srgbClr val="0F4C5C"/>
                </a:solidFill>
                <a:latin typeface="Liberation Sans Narrow" pitchFamily="34" charset="0"/>
                <a:ea typeface="Liberation Sans Narrow" pitchFamily="34" charset="-122"/>
                <a:cs typeface="Liberation Sans Narrow" pitchFamily="34" charset="-120"/>
              </a:rPr>
              <a:t>SHA-256</a:t>
            </a:r>
            <a:endParaRPr lang="en-US" sz="1688" dirty="0"/>
          </a:p>
        </p:txBody>
      </p:sp>
      <p:sp>
        <p:nvSpPr>
          <p:cNvPr id="23" name="Text 21"/>
          <p:cNvSpPr/>
          <p:nvPr/>
        </p:nvSpPr>
        <p:spPr>
          <a:xfrm>
            <a:off x="6829425" y="3311128"/>
            <a:ext cx="1593056" cy="196453"/>
          </a:xfrm>
          <a:prstGeom prst="rect">
            <a:avLst/>
          </a:prstGeom>
          <a:noFill/>
          <a:ln/>
        </p:spPr>
        <p:txBody>
          <a:bodyPr wrap="square" lIns="0" tIns="0" rIns="0" bIns="0" rtlCol="0" anchor="t"/>
          <a:lstStyle/>
          <a:p>
            <a:pPr algn="l" indent="0" marL="0">
              <a:lnSpc>
                <a:spcPts val="1013"/>
              </a:lnSpc>
              <a:buNone/>
            </a:pPr>
            <a:r>
              <a:rPr lang="en-US" sz="800" spc="108" kern="0" dirty="0">
                <a:solidFill>
                  <a:srgbClr val="4A4A4A"/>
                </a:solidFill>
                <a:latin typeface="Carlito" pitchFamily="34" charset="0"/>
                <a:ea typeface="Carlito" pitchFamily="34" charset="-122"/>
                <a:cs typeface="Carlito" pitchFamily="34" charset="-120"/>
              </a:rPr>
              <a:t>VERDICT FROZEN PRE-RETRIEVAL</a:t>
            </a:r>
            <a:endParaRPr lang="en-US" sz="800" dirty="0"/>
          </a:p>
        </p:txBody>
      </p:sp>
      <p:sp>
        <p:nvSpPr>
          <p:cNvPr id="24" name="Text 22"/>
          <p:cNvSpPr/>
          <p:nvPr/>
        </p:nvSpPr>
        <p:spPr>
          <a:xfrm>
            <a:off x="575072" y="3861197"/>
            <a:ext cx="7993856" cy="389334"/>
          </a:xfrm>
          <a:prstGeom prst="roundRect">
            <a:avLst>
              <a:gd name="adj" fmla="val 9786"/>
            </a:avLst>
          </a:prstGeom>
          <a:solidFill>
            <a:srgbClr val="FFFFFF"/>
          </a:solidFill>
          <a:ln w="7144">
            <a:solidFill>
              <a:srgbClr val="E36414"/>
            </a:solidFill>
            <a:prstDash val="solid"/>
          </a:ln>
        </p:spPr>
        <p:txBody>
          <a:bodyPr wrap="square" rtlCol="0" anchor="ctr"/>
          <a:lstStyle/>
          <a:p>
            <a:pPr indent="0" marL="0">
              <a:buNone/>
            </a:pPr>
            <a:endParaRPr lang="en-US" dirty="0"/>
          </a:p>
        </p:txBody>
      </p:sp>
      <p:sp>
        <p:nvSpPr>
          <p:cNvPr id="25" name="Text 23"/>
          <p:cNvSpPr/>
          <p:nvPr/>
        </p:nvSpPr>
        <p:spPr>
          <a:xfrm>
            <a:off x="707231" y="3986213"/>
            <a:ext cx="1270605" cy="160734"/>
          </a:xfrm>
          <a:prstGeom prst="rect">
            <a:avLst/>
          </a:prstGeom>
          <a:noFill/>
          <a:ln/>
        </p:spPr>
        <p:txBody>
          <a:bodyPr wrap="square" lIns="0" tIns="0" rIns="0" bIns="0" rtlCol="0" anchor="t"/>
          <a:lstStyle/>
          <a:p>
            <a:pPr algn="l" indent="0" marL="0">
              <a:lnSpc>
                <a:spcPts val="1181"/>
              </a:lnSpc>
              <a:buNone/>
            </a:pPr>
            <a:r>
              <a:rPr lang="en-US" sz="788" dirty="0">
                <a:solidFill>
                  <a:srgbClr val="7A7A7A"/>
                </a:solidFill>
                <a:latin typeface="Carlito" pitchFamily="34" charset="0"/>
                <a:ea typeface="Carlito" pitchFamily="34" charset="-122"/>
                <a:cs typeface="Carlito" pitchFamily="34" charset="-120"/>
              </a:rPr>
              <a:t>Live question for the room:</a:t>
            </a:r>
            <a:endParaRPr lang="en-US" sz="788" dirty="0"/>
          </a:p>
        </p:txBody>
      </p:sp>
      <p:sp>
        <p:nvSpPr>
          <p:cNvPr id="26" name="Text 24"/>
          <p:cNvSpPr/>
          <p:nvPr/>
        </p:nvSpPr>
        <p:spPr>
          <a:xfrm>
            <a:off x="1969443" y="3964781"/>
            <a:ext cx="2561342" cy="182166"/>
          </a:xfrm>
          <a:prstGeom prst="rect">
            <a:avLst/>
          </a:prstGeom>
          <a:noFill/>
          <a:ln/>
        </p:spPr>
        <p:txBody>
          <a:bodyPr wrap="none" lIns="0" tIns="0" rIns="0" bIns="0" rtlCol="0" anchor="t"/>
          <a:lstStyle/>
          <a:p>
            <a:pPr algn="l" indent="0" marL="0">
              <a:lnSpc>
                <a:spcPts val="1434"/>
              </a:lnSpc>
              <a:buNone/>
            </a:pPr>
            <a:r>
              <a:rPr lang="en-US" sz="956" i="1" dirty="0">
                <a:solidFill>
                  <a:srgbClr val="0F4C5C"/>
                </a:solidFill>
                <a:latin typeface="Tinos" pitchFamily="34" charset="0"/>
                <a:ea typeface="Tinos" pitchFamily="34" charset="-122"/>
                <a:cs typeface="Tinos" pitchFamily="34" charset="-120"/>
              </a:rPr>
              <a:t>“What was urban female LFPR in PLFS 2025?”</a:t>
            </a:r>
            <a:endParaRPr lang="en-US" sz="956" dirty="0"/>
          </a:p>
        </p:txBody>
      </p:sp>
      <p:sp>
        <p:nvSpPr>
          <p:cNvPr id="27" name="Text 25"/>
          <p:cNvSpPr/>
          <p:nvPr/>
        </p:nvSpPr>
        <p:spPr>
          <a:xfrm>
            <a:off x="4426781" y="4000500"/>
            <a:ext cx="4009988" cy="146447"/>
          </a:xfrm>
          <a:prstGeom prst="rect">
            <a:avLst/>
          </a:prstGeom>
          <a:noFill/>
          <a:ln/>
        </p:spPr>
        <p:txBody>
          <a:bodyPr wrap="square" lIns="0" tIns="0" rIns="0" bIns="0" rtlCol="0" anchor="t"/>
          <a:lstStyle/>
          <a:p>
            <a:pPr algn="l" indent="0" marL="0">
              <a:lnSpc>
                <a:spcPts val="1013"/>
              </a:lnSpc>
              <a:buNone/>
            </a:pPr>
            <a:r>
              <a:rPr lang="en-US" sz="800" dirty="0">
                <a:solidFill>
                  <a:srgbClr val="4A4A4A"/>
                </a:solidFill>
                <a:latin typeface="Carlito" pitchFamily="34" charset="0"/>
                <a:ea typeface="Carlito" pitchFamily="34" charset="-122"/>
                <a:cs typeface="Carlito" pitchFamily="34" charset="-120"/>
              </a:rPr>
              <a:t>— it refuses to guess and shows exactly why (slide 5).</a:t>
            </a:r>
            <a:endParaRPr lang="en-US" sz="800" dirty="0"/>
          </a:p>
        </p:txBody>
      </p:sp>
      <p:sp>
        <p:nvSpPr>
          <p:cNvPr id="28" name="Text 26"/>
          <p:cNvSpPr/>
          <p:nvPr/>
        </p:nvSpPr>
        <p:spPr>
          <a:xfrm>
            <a:off x="571500" y="4572000"/>
            <a:ext cx="8001000" cy="164592"/>
          </a:xfrm>
          <a:prstGeom prst="rect">
            <a:avLst/>
          </a:prstGeom>
          <a:noFill/>
          <a:ln/>
        </p:spPr>
        <p:txBody>
          <a:bodyPr wrap="square" lIns="0" tIns="0" rIns="0" bIns="0" rtlCol="0" anchor="t"/>
          <a:lstStyle/>
          <a:p>
            <a:pPr algn="l" indent="0" marL="0">
              <a:lnSpc>
                <a:spcPts val="1013"/>
              </a:lnSpc>
              <a:buNone/>
            </a:pPr>
            <a:r>
              <a:rPr lang="en-US" sz="800" spc="14" kern="0" dirty="0">
                <a:solidFill>
                  <a:srgbClr val="4A4A4A"/>
                </a:solidFill>
                <a:latin typeface="Carlito" pitchFamily="34" charset="0"/>
                <a:ea typeface="Carlito" pitchFamily="34" charset="-122"/>
                <a:cs typeface="Carlito" pitchFamily="34" charset="-120"/>
              </a:rPr>
              <a:t>Ajay Choudhary · MSAI @ Plaksha University · offline demo localhost:8001/demo · $0.00 marginal cost · no GPU · MCP server + policy agent</a:t>
            </a:r>
            <a:endParaRPr lang="en-US" sz="800" dirty="0"/>
          </a:p>
        </p:txBody>
      </p:sp>
      <p:sp>
        <p:nvSpPr>
          <p:cNvPr id="29" name="Text 27"/>
          <p:cNvSpPr/>
          <p:nvPr/>
        </p:nvSpPr>
        <p:spPr>
          <a:xfrm>
            <a:off x="0" y="4943475"/>
            <a:ext cx="9144000" cy="200025"/>
          </a:xfrm>
          <a:prstGeom prst="rect">
            <a:avLst/>
          </a:prstGeom>
          <a:solidFill>
            <a:srgbClr val="FFFFFF"/>
          </a:solidFill>
          <a:ln/>
        </p:spPr>
        <p:txBody>
          <a:bodyPr wrap="square" rtlCol="0" anchor="ctr"/>
          <a:lstStyle/>
          <a:p>
            <a:pPr indent="0" marL="0">
              <a:buNone/>
            </a:pPr>
            <a:endParaRPr lang="en-US" dirty="0"/>
          </a:p>
        </p:txBody>
      </p:sp>
      <p:sp>
        <p:nvSpPr>
          <p:cNvPr id="30" name="Shape 28"/>
          <p:cNvSpPr/>
          <p:nvPr/>
        </p:nvSpPr>
        <p:spPr>
          <a:xfrm>
            <a:off x="0" y="4947047"/>
            <a:ext cx="9144000" cy="0"/>
          </a:xfrm>
          <a:prstGeom prst="line">
            <a:avLst/>
          </a:prstGeom>
          <a:noFill/>
          <a:ln w="7144">
            <a:solidFill>
              <a:srgbClr val="D8D2CB"/>
            </a:solidFill>
            <a:prstDash val="solid"/>
          </a:ln>
        </p:spPr>
      </p:sp>
      <p:sp>
        <p:nvSpPr>
          <p:cNvPr id="31" name="Text 29"/>
          <p:cNvSpPr/>
          <p:nvPr/>
        </p:nvSpPr>
        <p:spPr>
          <a:xfrm>
            <a:off x="342900" y="4990802"/>
            <a:ext cx="6154675" cy="152698"/>
          </a:xfrm>
          <a:prstGeom prst="rect">
            <a:avLst/>
          </a:prstGeom>
          <a:noFill/>
          <a:ln/>
        </p:spPr>
        <p:txBody>
          <a:bodyPr wrap="none" lIns="0" tIns="0" rIns="0" bIns="0" rtlCol="0" anchor="t"/>
          <a:lstStyle/>
          <a:p>
            <a:pPr algn="l" indent="0" marL="0">
              <a:lnSpc>
                <a:spcPts val="886"/>
              </a:lnSpc>
              <a:buNone/>
            </a:pPr>
            <a:r>
              <a:rPr lang="en-US" sz="800" spc="24" kern="0" dirty="0">
                <a:solidFill>
                  <a:srgbClr val="0F4C5C"/>
                </a:solidFill>
                <a:latin typeface="Carlito" pitchFamily="34" charset="0"/>
                <a:ea typeface="Carlito" pitchFamily="34" charset="-122"/>
                <a:cs typeface="Carlito" pitchFamily="34" charset="-120"/>
              </a:rPr>
              <a:t>Vidhi Guardian | Ajay Choudhary (MSAI @ Plaksha)</a:t>
            </a:r>
            <a:endParaRPr lang="en-US" sz="800" dirty="0"/>
          </a:p>
        </p:txBody>
      </p:sp>
      <p:sp>
        <p:nvSpPr>
          <p:cNvPr id="32" name="Text 30"/>
          <p:cNvSpPr/>
          <p:nvPr/>
        </p:nvSpPr>
        <p:spPr>
          <a:xfrm>
            <a:off x="6511863" y="4990802"/>
            <a:ext cx="2289237" cy="152698"/>
          </a:xfrm>
          <a:prstGeom prst="rect">
            <a:avLst/>
          </a:prstGeom>
          <a:noFill/>
          <a:ln/>
        </p:spPr>
        <p:txBody>
          <a:bodyPr wrap="square" lIns="0" tIns="0" rIns="0" bIns="0" rtlCol="0" anchor="t"/>
          <a:lstStyle/>
          <a:p>
            <a:pPr algn="l" indent="0" marL="0">
              <a:lnSpc>
                <a:spcPts val="886"/>
              </a:lnSpc>
              <a:buNone/>
            </a:pPr>
            <a:r>
              <a:rPr lang="en-US" sz="600" spc="24" kern="0" dirty="0">
                <a:solidFill>
                  <a:srgbClr val="0F4C5C"/>
                </a:solidFill>
                <a:latin typeface="Courier New" pitchFamily="34" charset="0"/>
                <a:ea typeface="Courier New" pitchFamily="34" charset="-122"/>
                <a:cs typeface="Courier New" pitchFamily="34" charset="-120"/>
              </a:rPr>
              <a:t>ConfAI 2026 · Track 06 Responsible &amp; Ethical AI | 1 / 7</a:t>
            </a:r>
            <a:endParaRPr lang="en-US" sz="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85750"/>
            <a:ext cx="3202320" cy="164592"/>
          </a:xfrm>
          <a:prstGeom prst="rect">
            <a:avLst/>
          </a:prstGeom>
          <a:noFill/>
          <a:ln/>
        </p:spPr>
        <p:txBody>
          <a:bodyPr wrap="square" lIns="0" tIns="0" rIns="0" bIns="0" rtlCol="0" anchor="t"/>
          <a:lstStyle/>
          <a:p>
            <a:pPr algn="l" indent="0" marL="0">
              <a:lnSpc>
                <a:spcPts val="886"/>
              </a:lnSpc>
              <a:buNone/>
            </a:pPr>
            <a:r>
              <a:rPr lang="en-US" sz="600" b="1" spc="106" kern="0" dirty="0">
                <a:solidFill>
                  <a:srgbClr val="E36414"/>
                </a:solidFill>
                <a:latin typeface="Carlito" pitchFamily="34" charset="0"/>
                <a:ea typeface="Carlito" pitchFamily="34" charset="-122"/>
                <a:cs typeface="Carlito" pitchFamily="34" charset="-120"/>
              </a:rPr>
              <a:t>PROBLEM · STATSDOC FAILURE MODES FROM LIVE PROBING</a:t>
            </a:r>
            <a:endParaRPr lang="en-US" sz="600" dirty="0"/>
          </a:p>
        </p:txBody>
      </p:sp>
      <p:sp>
        <p:nvSpPr>
          <p:cNvPr id="3" name="Text 1"/>
          <p:cNvSpPr/>
          <p:nvPr/>
        </p:nvSpPr>
        <p:spPr>
          <a:xfrm>
            <a:off x="457200" y="485775"/>
            <a:ext cx="4085734" cy="283897"/>
          </a:xfrm>
          <a:prstGeom prst="rect">
            <a:avLst/>
          </a:prstGeom>
          <a:noFill/>
          <a:ln/>
        </p:spPr>
        <p:txBody>
          <a:bodyPr wrap="square" lIns="0" tIns="0" rIns="0" bIns="0" rtlCol="0" anchor="t"/>
          <a:lstStyle/>
          <a:p>
            <a:pPr algn="l" indent="0" marL="0">
              <a:lnSpc>
                <a:spcPts val="2070"/>
              </a:lnSpc>
              <a:buNone/>
            </a:pPr>
            <a:r>
              <a:rPr lang="en-US" sz="1800" b="1" dirty="0">
                <a:solidFill>
                  <a:srgbClr val="0F4C5C"/>
                </a:solidFill>
                <a:latin typeface="Tinos" pitchFamily="34" charset="0"/>
                <a:ea typeface="Tinos" pitchFamily="34" charset="-122"/>
                <a:cs typeface="Tinos" pitchFamily="34" charset="-120"/>
              </a:rPr>
              <a:t>Retrieval is solved. Governance is not.</a:t>
            </a:r>
            <a:endParaRPr lang="en-US" sz="1800" dirty="0"/>
          </a:p>
        </p:txBody>
      </p:sp>
      <p:sp>
        <p:nvSpPr>
          <p:cNvPr id="4" name="Text 2"/>
          <p:cNvSpPr/>
          <p:nvPr/>
        </p:nvSpPr>
        <p:spPr>
          <a:xfrm>
            <a:off x="457200" y="857250"/>
            <a:ext cx="5412060" cy="153591"/>
          </a:xfrm>
          <a:prstGeom prst="rect">
            <a:avLst/>
          </a:prstGeom>
          <a:noFill/>
          <a:ln/>
        </p:spPr>
        <p:txBody>
          <a:bodyPr wrap="square" lIns="0" tIns="0" rIns="0" bIns="0" rtlCol="0" anchor="t"/>
          <a:lstStyle/>
          <a:p>
            <a:pPr algn="l" indent="0" marL="0">
              <a:lnSpc>
                <a:spcPts val="945"/>
              </a:lnSpc>
              <a:buNone/>
            </a:pPr>
            <a:r>
              <a:rPr lang="en-US" sz="675" i="1" dirty="0">
                <a:solidFill>
                  <a:srgbClr val="7A7A7A"/>
                </a:solidFill>
                <a:latin typeface="Carlito" pitchFamily="34" charset="0"/>
                <a:ea typeface="Carlito" pitchFamily="34" charset="-122"/>
                <a:cs typeface="Carlito" pitchFamily="34" charset="-120"/>
              </a:rPr>
              <a:t>Session statsdoc.ai.mospi.gov.in/c/2402 — anecdotal observations, not a measured baseline (see evaluation/statsdoc_audit/PROTOCOL.md).</a:t>
            </a:r>
            <a:endParaRPr lang="en-US" sz="675" dirty="0"/>
          </a:p>
        </p:txBody>
      </p:sp>
      <p:sp>
        <p:nvSpPr>
          <p:cNvPr id="5" name="Text 3"/>
          <p:cNvSpPr/>
          <p:nvPr/>
        </p:nvSpPr>
        <p:spPr>
          <a:xfrm>
            <a:off x="460772" y="1218009"/>
            <a:ext cx="8222456" cy="3321844"/>
          </a:xfrm>
          <a:prstGeom prst="roundRect">
            <a:avLst>
              <a:gd name="adj" fmla="val 1720"/>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6" name="Text 4"/>
          <p:cNvSpPr/>
          <p:nvPr/>
        </p:nvSpPr>
        <p:spPr>
          <a:xfrm>
            <a:off x="464344" y="1221581"/>
            <a:ext cx="8215313" cy="314325"/>
          </a:xfrm>
          <a:prstGeom prst="rect">
            <a:avLst/>
          </a:prstGeom>
          <a:solidFill>
            <a:srgbClr val="F6F4F1"/>
          </a:solidFill>
          <a:ln/>
        </p:spPr>
        <p:txBody>
          <a:bodyPr wrap="square" rtlCol="0" anchor="ctr"/>
          <a:lstStyle/>
          <a:p>
            <a:pPr indent="0" marL="0">
              <a:buNone/>
            </a:pPr>
            <a:endParaRPr lang="en-US" dirty="0"/>
          </a:p>
        </p:txBody>
      </p:sp>
      <p:sp>
        <p:nvSpPr>
          <p:cNvPr id="7" name="Text 5"/>
          <p:cNvSpPr/>
          <p:nvPr/>
        </p:nvSpPr>
        <p:spPr>
          <a:xfrm>
            <a:off x="464344" y="1221581"/>
            <a:ext cx="2000250" cy="314325"/>
          </a:xfrm>
          <a:prstGeom prst="rect">
            <a:avLst/>
          </a:prstGeom>
          <a:noFill/>
          <a:ln/>
        </p:spPr>
        <p:txBody>
          <a:bodyPr wrap="none" lIns="128588" tIns="0" rIns="128588" bIns="0" rtlCol="0" anchor="t"/>
          <a:lstStyle/>
          <a:p>
            <a:pPr algn="l" indent="0" marL="0">
              <a:lnSpc>
                <a:spcPts val="1013"/>
              </a:lnSpc>
              <a:buNone/>
            </a:pPr>
            <a:r>
              <a:rPr lang="en-US" sz="800" b="1" spc="95" kern="0" dirty="0">
                <a:solidFill>
                  <a:srgbClr val="0F4C5C"/>
                </a:solidFill>
                <a:latin typeface="Carlito" pitchFamily="34" charset="0"/>
                <a:ea typeface="Carlito" pitchFamily="34" charset="-122"/>
                <a:cs typeface="Carlito" pitchFamily="34" charset="-120"/>
              </a:rPr>
              <a:t>CHECK</a:t>
            </a:r>
            <a:endParaRPr lang="en-US" sz="800" dirty="0"/>
          </a:p>
        </p:txBody>
      </p:sp>
      <p:sp>
        <p:nvSpPr>
          <p:cNvPr id="8" name="Text 6"/>
          <p:cNvSpPr/>
          <p:nvPr/>
        </p:nvSpPr>
        <p:spPr>
          <a:xfrm>
            <a:off x="2464594" y="1221581"/>
            <a:ext cx="3114675" cy="314325"/>
          </a:xfrm>
          <a:prstGeom prst="rect">
            <a:avLst/>
          </a:prstGeom>
          <a:noFill/>
          <a:ln/>
        </p:spPr>
        <p:txBody>
          <a:bodyPr wrap="none" lIns="128588" tIns="0" rIns="128588" bIns="0" rtlCol="0" anchor="t"/>
          <a:lstStyle/>
          <a:p>
            <a:pPr algn="l" indent="0" marL="0">
              <a:lnSpc>
                <a:spcPts val="1013"/>
              </a:lnSpc>
              <a:buNone/>
            </a:pPr>
            <a:r>
              <a:rPr lang="en-US" sz="800" b="1" spc="95" kern="0" dirty="0">
                <a:solidFill>
                  <a:srgbClr val="B0321B"/>
                </a:solidFill>
                <a:latin typeface="Carlito" pitchFamily="34" charset="0"/>
                <a:ea typeface="Carlito" pitchFamily="34" charset="-122"/>
                <a:cs typeface="Carlito" pitchFamily="34" charset="-120"/>
              </a:rPr>
              <a:t>STATSDOC PILOT (OBSERVED)</a:t>
            </a:r>
            <a:endParaRPr lang="en-US" sz="800" dirty="0"/>
          </a:p>
        </p:txBody>
      </p:sp>
      <p:sp>
        <p:nvSpPr>
          <p:cNvPr id="9" name="Text 7"/>
          <p:cNvSpPr/>
          <p:nvPr/>
        </p:nvSpPr>
        <p:spPr>
          <a:xfrm>
            <a:off x="5579269" y="1221581"/>
            <a:ext cx="3100388" cy="314325"/>
          </a:xfrm>
          <a:prstGeom prst="rect">
            <a:avLst/>
          </a:prstGeom>
          <a:noFill/>
          <a:ln/>
        </p:spPr>
        <p:txBody>
          <a:bodyPr wrap="none" lIns="128588" tIns="0" rIns="128588" bIns="0" rtlCol="0" anchor="t"/>
          <a:lstStyle/>
          <a:p>
            <a:pPr algn="l" indent="0" marL="0">
              <a:lnSpc>
                <a:spcPts val="1013"/>
              </a:lnSpc>
              <a:buNone/>
            </a:pPr>
            <a:r>
              <a:rPr lang="en-US" sz="800" b="1" spc="95" kern="0" dirty="0">
                <a:solidFill>
                  <a:srgbClr val="2F7A4F"/>
                </a:solidFill>
                <a:latin typeface="Carlito" pitchFamily="34" charset="0"/>
                <a:ea typeface="Carlito" pitchFamily="34" charset="-122"/>
                <a:cs typeface="Carlito" pitchFamily="34" charset="-120"/>
              </a:rPr>
              <a:t>VIDHI GUARDIAN (MEASURED)</a:t>
            </a:r>
            <a:endParaRPr lang="en-US" sz="800" dirty="0"/>
          </a:p>
        </p:txBody>
      </p:sp>
      <p:sp>
        <p:nvSpPr>
          <p:cNvPr id="10" name="Text 8"/>
          <p:cNvSpPr/>
          <p:nvPr/>
        </p:nvSpPr>
        <p:spPr>
          <a:xfrm>
            <a:off x="464344" y="1535906"/>
            <a:ext cx="2000250" cy="600075"/>
          </a:xfrm>
          <a:prstGeom prst="rect">
            <a:avLst/>
          </a:prstGeom>
          <a:solidFill>
            <a:srgbClr val="FCFBF9"/>
          </a:solidFill>
          <a:ln/>
        </p:spPr>
        <p:txBody>
          <a:bodyPr wrap="square" rtlCol="0" anchor="ctr"/>
          <a:lstStyle/>
          <a:p>
            <a:pPr indent="0" marL="0">
              <a:buNone/>
            </a:pPr>
            <a:endParaRPr lang="en-US" dirty="0"/>
          </a:p>
        </p:txBody>
      </p:sp>
      <p:sp>
        <p:nvSpPr>
          <p:cNvPr id="11" name="Shape 9"/>
          <p:cNvSpPr/>
          <p:nvPr/>
        </p:nvSpPr>
        <p:spPr>
          <a:xfrm>
            <a:off x="464344" y="1539478"/>
            <a:ext cx="2000250" cy="0"/>
          </a:xfrm>
          <a:prstGeom prst="line">
            <a:avLst/>
          </a:prstGeom>
          <a:noFill/>
          <a:ln w="7144">
            <a:solidFill>
              <a:srgbClr val="D8D2CB"/>
            </a:solidFill>
            <a:prstDash val="solid"/>
          </a:ln>
        </p:spPr>
      </p:sp>
      <p:sp>
        <p:nvSpPr>
          <p:cNvPr id="12" name="Text 10"/>
          <p:cNvSpPr/>
          <p:nvPr/>
        </p:nvSpPr>
        <p:spPr>
          <a:xfrm>
            <a:off x="592931" y="1764506"/>
            <a:ext cx="1743075" cy="164592"/>
          </a:xfrm>
          <a:prstGeom prst="rect">
            <a:avLst/>
          </a:prstGeom>
          <a:noFill/>
          <a:ln/>
        </p:spPr>
        <p:txBody>
          <a:bodyPr wrap="none" lIns="0" tIns="0" rIns="0" bIns="0" rtlCol="0" anchor="t"/>
          <a:lstStyle/>
          <a:p>
            <a:pPr algn="l" indent="0" marL="0">
              <a:lnSpc>
                <a:spcPts val="1181"/>
              </a:lnSpc>
              <a:buNone/>
            </a:pPr>
            <a:r>
              <a:rPr lang="en-US" sz="800" dirty="0">
                <a:solidFill>
                  <a:srgbClr val="0F4C5C"/>
                </a:solidFill>
                <a:latin typeface="Carlito" pitchFamily="34" charset="0"/>
                <a:ea typeface="Carlito" pitchFamily="34" charset="-122"/>
                <a:cs typeface="Carlito" pitchFamily="34" charset="-120"/>
              </a:rPr>
              <a:t>MPCE definition</a:t>
            </a:r>
            <a:endParaRPr lang="en-US" sz="800" dirty="0"/>
          </a:p>
        </p:txBody>
      </p:sp>
      <p:sp>
        <p:nvSpPr>
          <p:cNvPr id="13" name="Shape 11"/>
          <p:cNvSpPr/>
          <p:nvPr/>
        </p:nvSpPr>
        <p:spPr>
          <a:xfrm>
            <a:off x="2464594" y="1539478"/>
            <a:ext cx="3114675" cy="0"/>
          </a:xfrm>
          <a:prstGeom prst="line">
            <a:avLst/>
          </a:prstGeom>
          <a:noFill/>
          <a:ln w="7144">
            <a:solidFill>
              <a:srgbClr val="D8D2CB"/>
            </a:solidFill>
            <a:prstDash val="solid"/>
          </a:ln>
        </p:spPr>
      </p:sp>
      <p:sp>
        <p:nvSpPr>
          <p:cNvPr id="14" name="Text 12"/>
          <p:cNvSpPr/>
          <p:nvPr/>
        </p:nvSpPr>
        <p:spPr>
          <a:xfrm>
            <a:off x="2593181" y="1782366"/>
            <a:ext cx="114300" cy="114300"/>
          </a:xfrm>
          <a:prstGeom prst="rect">
            <a:avLst/>
          </a:prstGeom>
          <a:noFill/>
          <a:ln/>
        </p:spPr>
        <p:txBody>
          <a:bodyPr wrap="none" lIns="0" tIns="0" rIns="0" bIns="0" rtlCol="0" anchor="ctr"/>
          <a:lstStyle/>
          <a:p>
            <a:pPr algn="ctr" indent="0" marL="0">
              <a:buNone/>
            </a:pPr>
            <a:r>
              <a:rPr lang="en-US" sz="1125" dirty="0">
                <a:solidFill>
                  <a:srgbClr val="B0321B"/>
                </a:solidFill>
                <a:latin typeface="Segoe UI Symbol" pitchFamily="34" charset="0"/>
                <a:ea typeface="Segoe UI Symbol" pitchFamily="34" charset="-122"/>
                <a:cs typeface="Segoe UI Symbol" pitchFamily="34" charset="-120"/>
              </a:rPr>
              <a:t>✕</a:t>
            </a:r>
            <a:endParaRPr lang="en-US" sz="1125" dirty="0"/>
          </a:p>
        </p:txBody>
      </p:sp>
      <p:sp>
        <p:nvSpPr>
          <p:cNvPr id="15" name="Text 13"/>
          <p:cNvSpPr/>
          <p:nvPr/>
        </p:nvSpPr>
        <p:spPr>
          <a:xfrm>
            <a:off x="2764631" y="1714500"/>
            <a:ext cx="2686050" cy="307238"/>
          </a:xfrm>
          <a:prstGeom prst="rect">
            <a:avLst/>
          </a:prstGeom>
          <a:noFill/>
          <a:ln/>
        </p:spPr>
        <p:txBody>
          <a:bodyPr wrap="square" lIns="0" tIns="0" rIns="0" bIns="0" rtlCol="0" anchor="t"/>
          <a:lstStyle/>
          <a:p>
            <a:pPr algn="l" indent="0" marL="0">
              <a:lnSpc>
                <a:spcPts val="984"/>
              </a:lnSpc>
              <a:buNone/>
            </a:pPr>
            <a:r>
              <a:rPr lang="en-US" sz="800" dirty="0">
                <a:solidFill>
                  <a:srgbClr val="1A1A1A"/>
                </a:solidFill>
                <a:latin typeface="Carlito" pitchFamily="34" charset="0"/>
                <a:ea typeface="Carlito" pitchFamily="34" charset="-122"/>
                <a:cs typeface="Carlito" pitchFamily="34" charset="-120"/>
              </a:rPr>
              <a:t>Expands “Mean Per Capita Expenditure” — wrong expansion of the statutory acronym.</a:t>
            </a:r>
            <a:endParaRPr lang="en-US" sz="800" dirty="0"/>
          </a:p>
        </p:txBody>
      </p:sp>
      <p:sp>
        <p:nvSpPr>
          <p:cNvPr id="16" name="Shape 14"/>
          <p:cNvSpPr/>
          <p:nvPr/>
        </p:nvSpPr>
        <p:spPr>
          <a:xfrm>
            <a:off x="5579269" y="1539478"/>
            <a:ext cx="3114675" cy="0"/>
          </a:xfrm>
          <a:prstGeom prst="line">
            <a:avLst/>
          </a:prstGeom>
          <a:noFill/>
          <a:ln w="7144">
            <a:solidFill>
              <a:srgbClr val="D8D2CB"/>
            </a:solidFill>
            <a:prstDash val="solid"/>
          </a:ln>
        </p:spPr>
      </p:sp>
      <p:sp>
        <p:nvSpPr>
          <p:cNvPr id="17" name="Text 15"/>
          <p:cNvSpPr/>
          <p:nvPr/>
        </p:nvSpPr>
        <p:spPr>
          <a:xfrm>
            <a:off x="5707856" y="1782366"/>
            <a:ext cx="114300" cy="114300"/>
          </a:xfrm>
          <a:prstGeom prst="rect">
            <a:avLst/>
          </a:prstGeom>
          <a:noFill/>
          <a:ln/>
        </p:spPr>
        <p:txBody>
          <a:bodyPr wrap="none" lIns="0" tIns="0" rIns="0" bIns="0" rtlCol="0" anchor="ctr"/>
          <a:lstStyle/>
          <a:p>
            <a:pPr algn="ctr" indent="0" marL="0">
              <a:buNone/>
            </a:pPr>
            <a:r>
              <a:rPr lang="en-US" sz="1125" dirty="0">
                <a:solidFill>
                  <a:srgbClr val="2F7A4F"/>
                </a:solidFill>
                <a:latin typeface="Segoe UI Symbol" pitchFamily="34" charset="0"/>
                <a:ea typeface="Segoe UI Symbol" pitchFamily="34" charset="-122"/>
                <a:cs typeface="Segoe UI Symbol" pitchFamily="34" charset="-120"/>
              </a:rPr>
              <a:t>✓</a:t>
            </a:r>
            <a:endParaRPr lang="en-US" sz="1125" dirty="0"/>
          </a:p>
        </p:txBody>
      </p:sp>
      <p:sp>
        <p:nvSpPr>
          <p:cNvPr id="18" name="Text 16"/>
          <p:cNvSpPr/>
          <p:nvPr/>
        </p:nvSpPr>
        <p:spPr>
          <a:xfrm>
            <a:off x="5879306" y="1714500"/>
            <a:ext cx="2686050" cy="307238"/>
          </a:xfrm>
          <a:prstGeom prst="rect">
            <a:avLst/>
          </a:prstGeom>
          <a:noFill/>
          <a:ln/>
        </p:spPr>
        <p:txBody>
          <a:bodyPr wrap="square" lIns="0" tIns="0" rIns="0" bIns="0" rtlCol="0" anchor="t"/>
          <a:lstStyle/>
          <a:p>
            <a:pPr algn="l" indent="0" marL="0">
              <a:lnSpc>
                <a:spcPts val="984"/>
              </a:lnSpc>
              <a:buNone/>
            </a:pPr>
            <a:r>
              <a:rPr lang="en-US" sz="800" dirty="0">
                <a:solidFill>
                  <a:srgbClr val="1A1A1A"/>
                </a:solidFill>
                <a:latin typeface="Carlito" pitchFamily="34" charset="0"/>
                <a:ea typeface="Carlito" pitchFamily="34" charset="-122"/>
                <a:cs typeface="Carlito" pitchFamily="34" charset="-120"/>
              </a:rPr>
              <a:t>Enforces statutory “Monthly Per Capita Consumption Expenditure”; cites ₹4,122 from HCES 2022-23.</a:t>
            </a:r>
            <a:endParaRPr lang="en-US" sz="800" dirty="0"/>
          </a:p>
        </p:txBody>
      </p:sp>
      <p:sp>
        <p:nvSpPr>
          <p:cNvPr id="19" name="Text 17"/>
          <p:cNvSpPr/>
          <p:nvPr/>
        </p:nvSpPr>
        <p:spPr>
          <a:xfrm>
            <a:off x="464344" y="2135981"/>
            <a:ext cx="2000250" cy="600075"/>
          </a:xfrm>
          <a:prstGeom prst="rect">
            <a:avLst/>
          </a:prstGeom>
          <a:solidFill>
            <a:srgbClr val="FCFBF9"/>
          </a:solidFill>
          <a:ln/>
        </p:spPr>
        <p:txBody>
          <a:bodyPr wrap="square" rtlCol="0" anchor="ctr"/>
          <a:lstStyle/>
          <a:p>
            <a:pPr indent="0" marL="0">
              <a:buNone/>
            </a:pPr>
            <a:endParaRPr lang="en-US" dirty="0"/>
          </a:p>
        </p:txBody>
      </p:sp>
      <p:sp>
        <p:nvSpPr>
          <p:cNvPr id="20" name="Shape 18"/>
          <p:cNvSpPr/>
          <p:nvPr/>
        </p:nvSpPr>
        <p:spPr>
          <a:xfrm>
            <a:off x="464344" y="2139553"/>
            <a:ext cx="2000250" cy="0"/>
          </a:xfrm>
          <a:prstGeom prst="line">
            <a:avLst/>
          </a:prstGeom>
          <a:noFill/>
          <a:ln w="7144">
            <a:solidFill>
              <a:srgbClr val="D8D2CB"/>
            </a:solidFill>
            <a:prstDash val="solid"/>
          </a:ln>
        </p:spPr>
      </p:sp>
      <p:sp>
        <p:nvSpPr>
          <p:cNvPr id="21" name="Text 19"/>
          <p:cNvSpPr/>
          <p:nvPr/>
        </p:nvSpPr>
        <p:spPr>
          <a:xfrm>
            <a:off x="592931" y="2364581"/>
            <a:ext cx="1743075" cy="164592"/>
          </a:xfrm>
          <a:prstGeom prst="rect">
            <a:avLst/>
          </a:prstGeom>
          <a:noFill/>
          <a:ln/>
        </p:spPr>
        <p:txBody>
          <a:bodyPr wrap="none" lIns="0" tIns="0" rIns="0" bIns="0" rtlCol="0" anchor="t"/>
          <a:lstStyle/>
          <a:p>
            <a:pPr algn="l" indent="0" marL="0">
              <a:lnSpc>
                <a:spcPts val="1181"/>
              </a:lnSpc>
              <a:buNone/>
            </a:pPr>
            <a:r>
              <a:rPr lang="en-US" sz="800" dirty="0">
                <a:solidFill>
                  <a:srgbClr val="0F4C5C"/>
                </a:solidFill>
                <a:latin typeface="Liberation Sans Narrow" pitchFamily="34" charset="0"/>
                <a:ea typeface="Liberation Sans Narrow" pitchFamily="34" charset="-122"/>
                <a:cs typeface="Liberation Sans Narrow" pitchFamily="34" charset="-120"/>
              </a:rPr>
              <a:t>2011-12 vs 2023-24</a:t>
            </a:r>
            <a:endParaRPr lang="en-US" sz="800" dirty="0"/>
          </a:p>
        </p:txBody>
      </p:sp>
      <p:sp>
        <p:nvSpPr>
          <p:cNvPr id="22" name="Shape 20"/>
          <p:cNvSpPr/>
          <p:nvPr/>
        </p:nvSpPr>
        <p:spPr>
          <a:xfrm>
            <a:off x="2464594" y="2139553"/>
            <a:ext cx="3114675" cy="0"/>
          </a:xfrm>
          <a:prstGeom prst="line">
            <a:avLst/>
          </a:prstGeom>
          <a:noFill/>
          <a:ln w="7144">
            <a:solidFill>
              <a:srgbClr val="D8D2CB"/>
            </a:solidFill>
            <a:prstDash val="solid"/>
          </a:ln>
        </p:spPr>
      </p:sp>
      <p:sp>
        <p:nvSpPr>
          <p:cNvPr id="23" name="Text 21"/>
          <p:cNvSpPr/>
          <p:nvPr/>
        </p:nvSpPr>
        <p:spPr>
          <a:xfrm>
            <a:off x="2593181" y="2382441"/>
            <a:ext cx="114300" cy="114300"/>
          </a:xfrm>
          <a:prstGeom prst="rect">
            <a:avLst/>
          </a:prstGeom>
          <a:noFill/>
          <a:ln/>
        </p:spPr>
        <p:txBody>
          <a:bodyPr wrap="none" lIns="0" tIns="0" rIns="0" bIns="0" rtlCol="0" anchor="ctr"/>
          <a:lstStyle/>
          <a:p>
            <a:pPr algn="ctr" indent="0" marL="0">
              <a:buNone/>
            </a:pPr>
            <a:r>
              <a:rPr lang="en-US" sz="1125" dirty="0">
                <a:solidFill>
                  <a:srgbClr val="B0321B"/>
                </a:solidFill>
                <a:latin typeface="Segoe UI Symbol" pitchFamily="34" charset="0"/>
                <a:ea typeface="Segoe UI Symbol" pitchFamily="34" charset="-122"/>
                <a:cs typeface="Segoe UI Symbol" pitchFamily="34" charset="-120"/>
              </a:rPr>
              <a:t>✕</a:t>
            </a:r>
            <a:endParaRPr lang="en-US" sz="1125" dirty="0"/>
          </a:p>
        </p:txBody>
      </p:sp>
      <p:sp>
        <p:nvSpPr>
          <p:cNvPr id="24" name="Text 22"/>
          <p:cNvSpPr/>
          <p:nvPr/>
        </p:nvSpPr>
        <p:spPr>
          <a:xfrm>
            <a:off x="2764631" y="2377083"/>
            <a:ext cx="2686050" cy="153619"/>
          </a:xfrm>
          <a:prstGeom prst="rect">
            <a:avLst/>
          </a:prstGeom>
          <a:noFill/>
          <a:ln/>
        </p:spPr>
        <p:txBody>
          <a:bodyPr wrap="square" lIns="0" tIns="0" rIns="0" bIns="0" rtlCol="0" anchor="t"/>
          <a:lstStyle/>
          <a:p>
            <a:pPr algn="l" indent="0" marL="0">
              <a:lnSpc>
                <a:spcPts val="984"/>
              </a:lnSpc>
              <a:buNone/>
            </a:pPr>
            <a:r>
              <a:rPr lang="en-US" sz="800" dirty="0">
                <a:solidFill>
                  <a:srgbClr val="1A1A1A"/>
                </a:solidFill>
                <a:latin typeface="Carlito" pitchFamily="34" charset="0"/>
                <a:ea typeface="Carlito" pitchFamily="34" charset="-122"/>
                <a:cs typeface="Carlito" pitchFamily="34" charset="-120"/>
              </a:rPr>
              <a:t>Quotes ~40% growth with no methodology warning.</a:t>
            </a:r>
            <a:endParaRPr lang="en-US" sz="800" dirty="0"/>
          </a:p>
        </p:txBody>
      </p:sp>
      <p:sp>
        <p:nvSpPr>
          <p:cNvPr id="25" name="Shape 23"/>
          <p:cNvSpPr/>
          <p:nvPr/>
        </p:nvSpPr>
        <p:spPr>
          <a:xfrm>
            <a:off x="5579269" y="2139553"/>
            <a:ext cx="3114675" cy="0"/>
          </a:xfrm>
          <a:prstGeom prst="line">
            <a:avLst/>
          </a:prstGeom>
          <a:noFill/>
          <a:ln w="7144">
            <a:solidFill>
              <a:srgbClr val="D8D2CB"/>
            </a:solidFill>
            <a:prstDash val="solid"/>
          </a:ln>
        </p:spPr>
      </p:sp>
      <p:sp>
        <p:nvSpPr>
          <p:cNvPr id="26" name="Text 24"/>
          <p:cNvSpPr/>
          <p:nvPr/>
        </p:nvSpPr>
        <p:spPr>
          <a:xfrm>
            <a:off x="5707856" y="2382441"/>
            <a:ext cx="114300" cy="114300"/>
          </a:xfrm>
          <a:prstGeom prst="rect">
            <a:avLst/>
          </a:prstGeom>
          <a:noFill/>
          <a:ln/>
        </p:spPr>
        <p:txBody>
          <a:bodyPr wrap="none" lIns="0" tIns="0" rIns="0" bIns="0" rtlCol="0" anchor="ctr"/>
          <a:lstStyle/>
          <a:p>
            <a:pPr algn="ctr" indent="0" marL="0">
              <a:buNone/>
            </a:pPr>
            <a:r>
              <a:rPr lang="en-US" sz="1125" dirty="0">
                <a:solidFill>
                  <a:srgbClr val="2F7A4F"/>
                </a:solidFill>
                <a:latin typeface="Segoe UI Symbol" pitchFamily="34" charset="0"/>
                <a:ea typeface="Segoe UI Symbol" pitchFamily="34" charset="-122"/>
                <a:cs typeface="Segoe UI Symbol" pitchFamily="34" charset="-120"/>
              </a:rPr>
              <a:t>✓</a:t>
            </a:r>
            <a:endParaRPr lang="en-US" sz="1125" dirty="0"/>
          </a:p>
        </p:txBody>
      </p:sp>
      <p:sp>
        <p:nvSpPr>
          <p:cNvPr id="27" name="Text 25"/>
          <p:cNvSpPr/>
          <p:nvPr/>
        </p:nvSpPr>
        <p:spPr>
          <a:xfrm>
            <a:off x="5879306" y="2314575"/>
            <a:ext cx="2686050" cy="307238"/>
          </a:xfrm>
          <a:prstGeom prst="rect">
            <a:avLst/>
          </a:prstGeom>
          <a:noFill/>
          <a:ln/>
        </p:spPr>
        <p:txBody>
          <a:bodyPr wrap="square" lIns="0" tIns="0" rIns="0" bIns="0" rtlCol="0" anchor="t"/>
          <a:lstStyle/>
          <a:p>
            <a:pPr algn="l" indent="0" marL="0">
              <a:lnSpc>
                <a:spcPts val="984"/>
              </a:lnSpc>
              <a:buNone/>
            </a:pPr>
            <a:r>
              <a:rPr lang="en-US" sz="800" dirty="0">
                <a:solidFill>
                  <a:srgbClr val="1A1A1A"/>
                </a:solidFill>
                <a:latin typeface="Carlito" pitchFamily="34" charset="0"/>
                <a:ea typeface="Carlito" pitchFamily="34" charset="-122"/>
                <a:cs typeface="Carlito" pitchFamily="34" charset="-120"/>
              </a:rPr>
              <a:t>Halts with reason code R_COMPARABILITY_HCES_METHOD (CAPI/method break).</a:t>
            </a:r>
            <a:endParaRPr lang="en-US" sz="800" dirty="0"/>
          </a:p>
        </p:txBody>
      </p:sp>
      <p:sp>
        <p:nvSpPr>
          <p:cNvPr id="28" name="Text 26"/>
          <p:cNvSpPr/>
          <p:nvPr/>
        </p:nvSpPr>
        <p:spPr>
          <a:xfrm>
            <a:off x="464344" y="2736056"/>
            <a:ext cx="2000250" cy="600075"/>
          </a:xfrm>
          <a:prstGeom prst="rect">
            <a:avLst/>
          </a:prstGeom>
          <a:solidFill>
            <a:srgbClr val="FCFBF9"/>
          </a:solidFill>
          <a:ln/>
        </p:spPr>
        <p:txBody>
          <a:bodyPr wrap="square" rtlCol="0" anchor="ctr"/>
          <a:lstStyle/>
          <a:p>
            <a:pPr indent="0" marL="0">
              <a:buNone/>
            </a:pPr>
            <a:endParaRPr lang="en-US" dirty="0"/>
          </a:p>
        </p:txBody>
      </p:sp>
      <p:sp>
        <p:nvSpPr>
          <p:cNvPr id="29" name="Shape 27"/>
          <p:cNvSpPr/>
          <p:nvPr/>
        </p:nvSpPr>
        <p:spPr>
          <a:xfrm>
            <a:off x="464344" y="2739628"/>
            <a:ext cx="2000250" cy="0"/>
          </a:xfrm>
          <a:prstGeom prst="line">
            <a:avLst/>
          </a:prstGeom>
          <a:noFill/>
          <a:ln w="7144">
            <a:solidFill>
              <a:srgbClr val="D8D2CB"/>
            </a:solidFill>
            <a:prstDash val="solid"/>
          </a:ln>
        </p:spPr>
      </p:sp>
      <p:sp>
        <p:nvSpPr>
          <p:cNvPr id="30" name="Text 28"/>
          <p:cNvSpPr/>
          <p:nvPr/>
        </p:nvSpPr>
        <p:spPr>
          <a:xfrm>
            <a:off x="592931" y="2964656"/>
            <a:ext cx="1743075" cy="164592"/>
          </a:xfrm>
          <a:prstGeom prst="rect">
            <a:avLst/>
          </a:prstGeom>
          <a:noFill/>
          <a:ln/>
        </p:spPr>
        <p:txBody>
          <a:bodyPr wrap="none" lIns="0" tIns="0" rIns="0" bIns="0" rtlCol="0" anchor="t"/>
          <a:lstStyle/>
          <a:p>
            <a:pPr algn="l" indent="0" marL="0">
              <a:lnSpc>
                <a:spcPts val="1181"/>
              </a:lnSpc>
              <a:buNone/>
            </a:pPr>
            <a:r>
              <a:rPr lang="en-US" sz="800" dirty="0">
                <a:solidFill>
                  <a:srgbClr val="0F4C5C"/>
                </a:solidFill>
                <a:latin typeface="Carlito" pitchFamily="34" charset="0"/>
                <a:ea typeface="Carlito" pitchFamily="34" charset="-122"/>
                <a:cs typeface="Carlito" pitchFamily="34" charset="-120"/>
              </a:rPr>
              <a:t>Multi-period math</a:t>
            </a:r>
            <a:endParaRPr lang="en-US" sz="800" dirty="0"/>
          </a:p>
        </p:txBody>
      </p:sp>
      <p:sp>
        <p:nvSpPr>
          <p:cNvPr id="31" name="Shape 29"/>
          <p:cNvSpPr/>
          <p:nvPr/>
        </p:nvSpPr>
        <p:spPr>
          <a:xfrm>
            <a:off x="2464594" y="2739628"/>
            <a:ext cx="3114675" cy="0"/>
          </a:xfrm>
          <a:prstGeom prst="line">
            <a:avLst/>
          </a:prstGeom>
          <a:noFill/>
          <a:ln w="7144">
            <a:solidFill>
              <a:srgbClr val="D8D2CB"/>
            </a:solidFill>
            <a:prstDash val="solid"/>
          </a:ln>
        </p:spPr>
      </p:sp>
      <p:sp>
        <p:nvSpPr>
          <p:cNvPr id="32" name="Text 30"/>
          <p:cNvSpPr/>
          <p:nvPr/>
        </p:nvSpPr>
        <p:spPr>
          <a:xfrm>
            <a:off x="2593181" y="2982516"/>
            <a:ext cx="114300" cy="114300"/>
          </a:xfrm>
          <a:prstGeom prst="rect">
            <a:avLst/>
          </a:prstGeom>
          <a:noFill/>
          <a:ln/>
        </p:spPr>
        <p:txBody>
          <a:bodyPr wrap="none" lIns="0" tIns="0" rIns="0" bIns="0" rtlCol="0" anchor="ctr"/>
          <a:lstStyle/>
          <a:p>
            <a:pPr algn="ctr" indent="0" marL="0">
              <a:buNone/>
            </a:pPr>
            <a:r>
              <a:rPr lang="en-US" sz="1125" dirty="0">
                <a:solidFill>
                  <a:srgbClr val="B0321B"/>
                </a:solidFill>
                <a:latin typeface="Segoe UI Symbol" pitchFamily="34" charset="0"/>
                <a:ea typeface="Segoe UI Symbol" pitchFamily="34" charset="-122"/>
                <a:cs typeface="Segoe UI Symbol" pitchFamily="34" charset="-120"/>
              </a:rPr>
              <a:t>✕</a:t>
            </a:r>
            <a:endParaRPr lang="en-US" sz="1125" dirty="0"/>
          </a:p>
        </p:txBody>
      </p:sp>
      <p:sp>
        <p:nvSpPr>
          <p:cNvPr id="33" name="Text 31"/>
          <p:cNvSpPr/>
          <p:nvPr/>
        </p:nvSpPr>
        <p:spPr>
          <a:xfrm>
            <a:off x="2764631" y="2977158"/>
            <a:ext cx="2686050" cy="153619"/>
          </a:xfrm>
          <a:prstGeom prst="rect">
            <a:avLst/>
          </a:prstGeom>
          <a:noFill/>
          <a:ln/>
        </p:spPr>
        <p:txBody>
          <a:bodyPr wrap="square" lIns="0" tIns="0" rIns="0" bIns="0" rtlCol="0" anchor="t"/>
          <a:lstStyle/>
          <a:p>
            <a:pPr algn="l" indent="0" marL="0">
              <a:lnSpc>
                <a:spcPts val="984"/>
              </a:lnSpc>
              <a:buNone/>
            </a:pPr>
            <a:r>
              <a:rPr lang="en-US" sz="703" dirty="0">
                <a:solidFill>
                  <a:srgbClr val="1A1A1A"/>
                </a:solidFill>
                <a:latin typeface="Carlito" pitchFamily="34" charset="0"/>
                <a:ea typeface="Carlito" pitchFamily="34" charset="-122"/>
                <a:cs typeface="Carlito" pitchFamily="34" charset="-120"/>
              </a:rPr>
              <a:t>40% then 4%, chained unsoundly across non-comparable rounds.</a:t>
            </a:r>
            <a:endParaRPr lang="en-US" sz="703" dirty="0"/>
          </a:p>
        </p:txBody>
      </p:sp>
      <p:sp>
        <p:nvSpPr>
          <p:cNvPr id="34" name="Shape 32"/>
          <p:cNvSpPr/>
          <p:nvPr/>
        </p:nvSpPr>
        <p:spPr>
          <a:xfrm>
            <a:off x="5579269" y="2739628"/>
            <a:ext cx="3114675" cy="0"/>
          </a:xfrm>
          <a:prstGeom prst="line">
            <a:avLst/>
          </a:prstGeom>
          <a:noFill/>
          <a:ln w="7144">
            <a:solidFill>
              <a:srgbClr val="D8D2CB"/>
            </a:solidFill>
            <a:prstDash val="solid"/>
          </a:ln>
        </p:spPr>
      </p:sp>
      <p:sp>
        <p:nvSpPr>
          <p:cNvPr id="35" name="Text 33"/>
          <p:cNvSpPr/>
          <p:nvPr/>
        </p:nvSpPr>
        <p:spPr>
          <a:xfrm>
            <a:off x="5707856" y="2982516"/>
            <a:ext cx="114300" cy="114300"/>
          </a:xfrm>
          <a:prstGeom prst="rect">
            <a:avLst/>
          </a:prstGeom>
          <a:noFill/>
          <a:ln/>
        </p:spPr>
        <p:txBody>
          <a:bodyPr wrap="none" lIns="0" tIns="0" rIns="0" bIns="0" rtlCol="0" anchor="ctr"/>
          <a:lstStyle/>
          <a:p>
            <a:pPr algn="ctr" indent="0" marL="0">
              <a:buNone/>
            </a:pPr>
            <a:r>
              <a:rPr lang="en-US" sz="1125" dirty="0">
                <a:solidFill>
                  <a:srgbClr val="2F7A4F"/>
                </a:solidFill>
                <a:latin typeface="Segoe UI Symbol" pitchFamily="34" charset="0"/>
                <a:ea typeface="Segoe UI Symbol" pitchFamily="34" charset="-122"/>
                <a:cs typeface="Segoe UI Symbol" pitchFamily="34" charset="-120"/>
              </a:rPr>
              <a:t>✓</a:t>
            </a:r>
            <a:endParaRPr lang="en-US" sz="1125" dirty="0"/>
          </a:p>
        </p:txBody>
      </p:sp>
      <p:sp>
        <p:nvSpPr>
          <p:cNvPr id="36" name="Text 34"/>
          <p:cNvSpPr/>
          <p:nvPr/>
        </p:nvSpPr>
        <p:spPr>
          <a:xfrm>
            <a:off x="5879306" y="2914650"/>
            <a:ext cx="2686050" cy="307238"/>
          </a:xfrm>
          <a:prstGeom prst="rect">
            <a:avLst/>
          </a:prstGeom>
          <a:noFill/>
          <a:ln/>
        </p:spPr>
        <p:txBody>
          <a:bodyPr wrap="square" lIns="0" tIns="0" rIns="0" bIns="0" rtlCol="0" anchor="t"/>
          <a:lstStyle/>
          <a:p>
            <a:pPr algn="l" indent="0" marL="0">
              <a:lnSpc>
                <a:spcPts val="984"/>
              </a:lnSpc>
              <a:buNone/>
            </a:pPr>
            <a:r>
              <a:rPr lang="en-US" sz="800" dirty="0">
                <a:solidFill>
                  <a:srgbClr val="1A1A1A"/>
                </a:solidFill>
                <a:latin typeface="Carlito" pitchFamily="34" charset="0"/>
                <a:ea typeface="Carlito" pitchFamily="34" charset="-122"/>
                <a:cs typeface="Carlito" pitchFamily="34" charset="-120"/>
              </a:rPr>
              <a:t>Refuses unsound synthesis; returns no number, only a coverage note.</a:t>
            </a:r>
            <a:endParaRPr lang="en-US" sz="800" dirty="0"/>
          </a:p>
        </p:txBody>
      </p:sp>
      <p:sp>
        <p:nvSpPr>
          <p:cNvPr id="37" name="Text 35"/>
          <p:cNvSpPr/>
          <p:nvPr/>
        </p:nvSpPr>
        <p:spPr>
          <a:xfrm>
            <a:off x="464344" y="3336131"/>
            <a:ext cx="2000250" cy="600075"/>
          </a:xfrm>
          <a:prstGeom prst="rect">
            <a:avLst/>
          </a:prstGeom>
          <a:solidFill>
            <a:srgbClr val="FCFBF9"/>
          </a:solidFill>
          <a:ln/>
        </p:spPr>
        <p:txBody>
          <a:bodyPr wrap="square" rtlCol="0" anchor="ctr"/>
          <a:lstStyle/>
          <a:p>
            <a:pPr indent="0" marL="0">
              <a:buNone/>
            </a:pPr>
            <a:endParaRPr lang="en-US" dirty="0"/>
          </a:p>
        </p:txBody>
      </p:sp>
      <p:sp>
        <p:nvSpPr>
          <p:cNvPr id="38" name="Shape 36"/>
          <p:cNvSpPr/>
          <p:nvPr/>
        </p:nvSpPr>
        <p:spPr>
          <a:xfrm>
            <a:off x="464344" y="3339703"/>
            <a:ext cx="2000250" cy="0"/>
          </a:xfrm>
          <a:prstGeom prst="line">
            <a:avLst/>
          </a:prstGeom>
          <a:noFill/>
          <a:ln w="7144">
            <a:solidFill>
              <a:srgbClr val="D8D2CB"/>
            </a:solidFill>
            <a:prstDash val="solid"/>
          </a:ln>
        </p:spPr>
      </p:sp>
      <p:sp>
        <p:nvSpPr>
          <p:cNvPr id="39" name="Text 37"/>
          <p:cNvSpPr/>
          <p:nvPr/>
        </p:nvSpPr>
        <p:spPr>
          <a:xfrm>
            <a:off x="592931" y="3564731"/>
            <a:ext cx="1743075" cy="164592"/>
          </a:xfrm>
          <a:prstGeom prst="rect">
            <a:avLst/>
          </a:prstGeom>
          <a:noFill/>
          <a:ln/>
        </p:spPr>
        <p:txBody>
          <a:bodyPr wrap="none" lIns="0" tIns="0" rIns="0" bIns="0" rtlCol="0" anchor="t"/>
          <a:lstStyle/>
          <a:p>
            <a:pPr algn="l" indent="0" marL="0">
              <a:lnSpc>
                <a:spcPts val="1181"/>
              </a:lnSpc>
              <a:buNone/>
            </a:pPr>
            <a:r>
              <a:rPr lang="en-US" sz="800" dirty="0">
                <a:solidFill>
                  <a:srgbClr val="0F4C5C"/>
                </a:solidFill>
                <a:latin typeface="Carlito" pitchFamily="34" charset="0"/>
                <a:ea typeface="Carlito" pitchFamily="34" charset="-122"/>
                <a:cs typeface="Carlito" pitchFamily="34" charset="-120"/>
              </a:rPr>
              <a:t>Poisoned context</a:t>
            </a:r>
            <a:endParaRPr lang="en-US" sz="800" dirty="0"/>
          </a:p>
        </p:txBody>
      </p:sp>
      <p:sp>
        <p:nvSpPr>
          <p:cNvPr id="40" name="Shape 38"/>
          <p:cNvSpPr/>
          <p:nvPr/>
        </p:nvSpPr>
        <p:spPr>
          <a:xfrm>
            <a:off x="2464594" y="3339703"/>
            <a:ext cx="3114675" cy="0"/>
          </a:xfrm>
          <a:prstGeom prst="line">
            <a:avLst/>
          </a:prstGeom>
          <a:noFill/>
          <a:ln w="7144">
            <a:solidFill>
              <a:srgbClr val="D8D2CB"/>
            </a:solidFill>
            <a:prstDash val="solid"/>
          </a:ln>
        </p:spPr>
      </p:sp>
      <p:sp>
        <p:nvSpPr>
          <p:cNvPr id="41" name="Text 39"/>
          <p:cNvSpPr/>
          <p:nvPr/>
        </p:nvSpPr>
        <p:spPr>
          <a:xfrm>
            <a:off x="2593181" y="3582591"/>
            <a:ext cx="114300" cy="114300"/>
          </a:xfrm>
          <a:prstGeom prst="rect">
            <a:avLst/>
          </a:prstGeom>
          <a:noFill/>
          <a:ln/>
        </p:spPr>
        <p:txBody>
          <a:bodyPr wrap="none" lIns="0" tIns="0" rIns="0" bIns="0" rtlCol="0" anchor="ctr"/>
          <a:lstStyle/>
          <a:p>
            <a:pPr algn="ctr" indent="0" marL="0">
              <a:buNone/>
            </a:pPr>
            <a:r>
              <a:rPr lang="en-US" sz="1125" dirty="0">
                <a:solidFill>
                  <a:srgbClr val="B0321B"/>
                </a:solidFill>
                <a:latin typeface="Segoe UI Symbol" pitchFamily="34" charset="0"/>
                <a:ea typeface="Segoe UI Symbol" pitchFamily="34" charset="-122"/>
                <a:cs typeface="Segoe UI Symbol" pitchFamily="34" charset="-120"/>
              </a:rPr>
              <a:t>✕</a:t>
            </a:r>
            <a:endParaRPr lang="en-US" sz="1125" dirty="0"/>
          </a:p>
        </p:txBody>
      </p:sp>
      <p:sp>
        <p:nvSpPr>
          <p:cNvPr id="42" name="Text 40"/>
          <p:cNvSpPr/>
          <p:nvPr/>
        </p:nvSpPr>
        <p:spPr>
          <a:xfrm>
            <a:off x="2764631" y="3577233"/>
            <a:ext cx="2686050" cy="153619"/>
          </a:xfrm>
          <a:prstGeom prst="rect">
            <a:avLst/>
          </a:prstGeom>
          <a:noFill/>
          <a:ln/>
        </p:spPr>
        <p:txBody>
          <a:bodyPr wrap="square" lIns="0" tIns="0" rIns="0" bIns="0" rtlCol="0" anchor="t"/>
          <a:lstStyle/>
          <a:p>
            <a:pPr algn="l" indent="0" marL="0">
              <a:lnSpc>
                <a:spcPts val="984"/>
              </a:lnSpc>
              <a:buNone/>
            </a:pPr>
            <a:r>
              <a:rPr lang="en-US" sz="703" dirty="0">
                <a:solidFill>
                  <a:srgbClr val="1A1A1A"/>
                </a:solidFill>
                <a:latin typeface="Carlito" pitchFamily="34" charset="0"/>
                <a:ea typeface="Carlito" pitchFamily="34" charset="-122"/>
                <a:cs typeface="Carlito" pitchFamily="34" charset="-120"/>
              </a:rPr>
              <a:t>Retrieved text overrides guardrails; verdict changes with corpus.</a:t>
            </a:r>
            <a:endParaRPr lang="en-US" sz="703" dirty="0"/>
          </a:p>
        </p:txBody>
      </p:sp>
      <p:sp>
        <p:nvSpPr>
          <p:cNvPr id="43" name="Shape 41"/>
          <p:cNvSpPr/>
          <p:nvPr/>
        </p:nvSpPr>
        <p:spPr>
          <a:xfrm>
            <a:off x="5579269" y="3339703"/>
            <a:ext cx="3114675" cy="0"/>
          </a:xfrm>
          <a:prstGeom prst="line">
            <a:avLst/>
          </a:prstGeom>
          <a:noFill/>
          <a:ln w="7144">
            <a:solidFill>
              <a:srgbClr val="D8D2CB"/>
            </a:solidFill>
            <a:prstDash val="solid"/>
          </a:ln>
        </p:spPr>
      </p:sp>
      <p:sp>
        <p:nvSpPr>
          <p:cNvPr id="44" name="Text 42"/>
          <p:cNvSpPr/>
          <p:nvPr/>
        </p:nvSpPr>
        <p:spPr>
          <a:xfrm>
            <a:off x="5707856" y="3582591"/>
            <a:ext cx="114300" cy="114300"/>
          </a:xfrm>
          <a:prstGeom prst="rect">
            <a:avLst/>
          </a:prstGeom>
          <a:noFill/>
          <a:ln/>
        </p:spPr>
        <p:txBody>
          <a:bodyPr wrap="none" lIns="0" tIns="0" rIns="0" bIns="0" rtlCol="0" anchor="ctr"/>
          <a:lstStyle/>
          <a:p>
            <a:pPr algn="ctr" indent="0" marL="0">
              <a:buNone/>
            </a:pPr>
            <a:r>
              <a:rPr lang="en-US" sz="1125" dirty="0">
                <a:solidFill>
                  <a:srgbClr val="2F7A4F"/>
                </a:solidFill>
                <a:latin typeface="Segoe UI Symbol" pitchFamily="34" charset="0"/>
                <a:ea typeface="Segoe UI Symbol" pitchFamily="34" charset="-122"/>
                <a:cs typeface="Segoe UI Symbol" pitchFamily="34" charset="-120"/>
              </a:rPr>
              <a:t>✓</a:t>
            </a:r>
            <a:endParaRPr lang="en-US" sz="1125" dirty="0"/>
          </a:p>
        </p:txBody>
      </p:sp>
      <p:sp>
        <p:nvSpPr>
          <p:cNvPr id="45" name="Text 43"/>
          <p:cNvSpPr/>
          <p:nvPr/>
        </p:nvSpPr>
        <p:spPr>
          <a:xfrm>
            <a:off x="5879306" y="3577233"/>
            <a:ext cx="2686050" cy="153619"/>
          </a:xfrm>
          <a:prstGeom prst="rect">
            <a:avLst/>
          </a:prstGeom>
          <a:noFill/>
          <a:ln/>
        </p:spPr>
        <p:txBody>
          <a:bodyPr wrap="square" lIns="0" tIns="0" rIns="0" bIns="0" rtlCol="0" anchor="t"/>
          <a:lstStyle/>
          <a:p>
            <a:pPr algn="l" indent="0" marL="0">
              <a:lnSpc>
                <a:spcPts val="984"/>
              </a:lnSpc>
              <a:buNone/>
            </a:pPr>
            <a:r>
              <a:rPr lang="en-US" sz="703" dirty="0">
                <a:solidFill>
                  <a:srgbClr val="1A1A1A"/>
                </a:solidFill>
                <a:latin typeface="Carlito" pitchFamily="34" charset="0"/>
                <a:ea typeface="Carlito" pitchFamily="34" charset="-122"/>
                <a:cs typeface="Carlito" pitchFamily="34" charset="-120"/>
              </a:rPr>
              <a:t>Verdict frozen pre-retrieval; SHA-256 hash identical under injection.</a:t>
            </a:r>
            <a:endParaRPr lang="en-US" sz="703" dirty="0"/>
          </a:p>
        </p:txBody>
      </p:sp>
      <p:sp>
        <p:nvSpPr>
          <p:cNvPr id="46" name="Text 44"/>
          <p:cNvSpPr/>
          <p:nvPr/>
        </p:nvSpPr>
        <p:spPr>
          <a:xfrm>
            <a:off x="464344" y="3936206"/>
            <a:ext cx="2000250" cy="600075"/>
          </a:xfrm>
          <a:prstGeom prst="rect">
            <a:avLst/>
          </a:prstGeom>
          <a:solidFill>
            <a:srgbClr val="FBE3D2"/>
          </a:solidFill>
          <a:ln/>
        </p:spPr>
        <p:txBody>
          <a:bodyPr wrap="square" rtlCol="0" anchor="ctr"/>
          <a:lstStyle/>
          <a:p>
            <a:pPr indent="0" marL="0">
              <a:buNone/>
            </a:pPr>
            <a:endParaRPr lang="en-US" dirty="0"/>
          </a:p>
        </p:txBody>
      </p:sp>
      <p:sp>
        <p:nvSpPr>
          <p:cNvPr id="47" name="Shape 45"/>
          <p:cNvSpPr/>
          <p:nvPr/>
        </p:nvSpPr>
        <p:spPr>
          <a:xfrm>
            <a:off x="464344" y="3939778"/>
            <a:ext cx="2000250" cy="0"/>
          </a:xfrm>
          <a:prstGeom prst="line">
            <a:avLst/>
          </a:prstGeom>
          <a:noFill/>
          <a:ln w="7144">
            <a:solidFill>
              <a:srgbClr val="D8D2CB"/>
            </a:solidFill>
            <a:prstDash val="solid"/>
          </a:ln>
        </p:spPr>
      </p:sp>
      <p:sp>
        <p:nvSpPr>
          <p:cNvPr id="48" name="Text 46"/>
          <p:cNvSpPr/>
          <p:nvPr/>
        </p:nvSpPr>
        <p:spPr>
          <a:xfrm>
            <a:off x="592931" y="4164806"/>
            <a:ext cx="1743075" cy="164592"/>
          </a:xfrm>
          <a:prstGeom prst="rect">
            <a:avLst/>
          </a:prstGeom>
          <a:noFill/>
          <a:ln/>
        </p:spPr>
        <p:txBody>
          <a:bodyPr wrap="none" lIns="0" tIns="0" rIns="0" bIns="0" rtlCol="0" anchor="t"/>
          <a:lstStyle/>
          <a:p>
            <a:pPr algn="l" indent="0" marL="0">
              <a:lnSpc>
                <a:spcPts val="1181"/>
              </a:lnSpc>
              <a:buNone/>
            </a:pPr>
            <a:r>
              <a:rPr lang="en-US" sz="800" dirty="0">
                <a:solidFill>
                  <a:srgbClr val="0F4C5C"/>
                </a:solidFill>
                <a:latin typeface="Carlito" pitchFamily="34" charset="0"/>
                <a:ea typeface="Carlito" pitchFamily="34" charset="-122"/>
                <a:cs typeface="Carlito" pitchFamily="34" charset="-120"/>
              </a:rPr>
              <a:t>Cost / latency</a:t>
            </a:r>
            <a:endParaRPr lang="en-US" sz="800" dirty="0"/>
          </a:p>
        </p:txBody>
      </p:sp>
      <p:sp>
        <p:nvSpPr>
          <p:cNvPr id="49" name="Text 47"/>
          <p:cNvSpPr/>
          <p:nvPr/>
        </p:nvSpPr>
        <p:spPr>
          <a:xfrm>
            <a:off x="2464594" y="3936206"/>
            <a:ext cx="3114675" cy="600075"/>
          </a:xfrm>
          <a:prstGeom prst="rect">
            <a:avLst/>
          </a:prstGeom>
          <a:solidFill>
            <a:srgbClr val="FBE3D2"/>
          </a:solidFill>
          <a:ln/>
        </p:spPr>
        <p:txBody>
          <a:bodyPr wrap="square" rtlCol="0" anchor="ctr"/>
          <a:lstStyle/>
          <a:p>
            <a:pPr indent="0" marL="0">
              <a:buNone/>
            </a:pPr>
            <a:endParaRPr lang="en-US" dirty="0"/>
          </a:p>
        </p:txBody>
      </p:sp>
      <p:sp>
        <p:nvSpPr>
          <p:cNvPr id="50" name="Shape 48"/>
          <p:cNvSpPr/>
          <p:nvPr/>
        </p:nvSpPr>
        <p:spPr>
          <a:xfrm>
            <a:off x="2464594" y="3939778"/>
            <a:ext cx="3114675" cy="0"/>
          </a:xfrm>
          <a:prstGeom prst="line">
            <a:avLst/>
          </a:prstGeom>
          <a:noFill/>
          <a:ln w="7144">
            <a:solidFill>
              <a:srgbClr val="D8D2CB"/>
            </a:solidFill>
            <a:prstDash val="solid"/>
          </a:ln>
        </p:spPr>
      </p:sp>
      <p:sp>
        <p:nvSpPr>
          <p:cNvPr id="51" name="Text 49"/>
          <p:cNvSpPr/>
          <p:nvPr/>
        </p:nvSpPr>
        <p:spPr>
          <a:xfrm>
            <a:off x="2593181" y="4182666"/>
            <a:ext cx="114300" cy="114300"/>
          </a:xfrm>
          <a:prstGeom prst="rect">
            <a:avLst/>
          </a:prstGeom>
          <a:noFill/>
          <a:ln/>
        </p:spPr>
        <p:txBody>
          <a:bodyPr wrap="none" lIns="0" tIns="0" rIns="0" bIns="0" rtlCol="0" anchor="ctr"/>
          <a:lstStyle/>
          <a:p>
            <a:pPr algn="ctr" indent="0" marL="0">
              <a:buNone/>
            </a:pPr>
            <a:r>
              <a:rPr lang="en-US" sz="1125" dirty="0">
                <a:solidFill>
                  <a:srgbClr val="B0321B"/>
                </a:solidFill>
                <a:latin typeface="Segoe UI Symbol" pitchFamily="34" charset="0"/>
                <a:ea typeface="Segoe UI Symbol" pitchFamily="34" charset="-122"/>
                <a:cs typeface="Segoe UI Symbol" pitchFamily="34" charset="-120"/>
              </a:rPr>
              <a:t>✕</a:t>
            </a:r>
            <a:endParaRPr lang="en-US" sz="1125" dirty="0"/>
          </a:p>
        </p:txBody>
      </p:sp>
      <p:sp>
        <p:nvSpPr>
          <p:cNvPr id="52" name="Text 50"/>
          <p:cNvSpPr/>
          <p:nvPr/>
        </p:nvSpPr>
        <p:spPr>
          <a:xfrm>
            <a:off x="2764631" y="4177308"/>
            <a:ext cx="2686050" cy="153619"/>
          </a:xfrm>
          <a:prstGeom prst="rect">
            <a:avLst/>
          </a:prstGeom>
          <a:noFill/>
          <a:ln/>
        </p:spPr>
        <p:txBody>
          <a:bodyPr wrap="square" lIns="0" tIns="0" rIns="0" bIns="0" rtlCol="0" anchor="t"/>
          <a:lstStyle/>
          <a:p>
            <a:pPr algn="l" indent="0" marL="0">
              <a:lnSpc>
                <a:spcPts val="984"/>
              </a:lnSpc>
              <a:buNone/>
            </a:pPr>
            <a:r>
              <a:rPr lang="en-US" sz="800" dirty="0">
                <a:solidFill>
                  <a:srgbClr val="1A1A1A"/>
                </a:solidFill>
                <a:latin typeface="Carlito" pitchFamily="34" charset="0"/>
                <a:ea typeface="Carlito" pitchFamily="34" charset="-122"/>
                <a:cs typeface="Carlito" pitchFamily="34" charset="-120"/>
              </a:rPr>
              <a:t>~$0.02–0.05 per query · 3.5–8 s end-to-end.</a:t>
            </a:r>
            <a:endParaRPr lang="en-US" sz="800" dirty="0"/>
          </a:p>
        </p:txBody>
      </p:sp>
      <p:sp>
        <p:nvSpPr>
          <p:cNvPr id="53" name="Text 51"/>
          <p:cNvSpPr/>
          <p:nvPr/>
        </p:nvSpPr>
        <p:spPr>
          <a:xfrm>
            <a:off x="5579269" y="3936206"/>
            <a:ext cx="3114675" cy="600075"/>
          </a:xfrm>
          <a:prstGeom prst="rect">
            <a:avLst/>
          </a:prstGeom>
          <a:solidFill>
            <a:srgbClr val="FBE3D2"/>
          </a:solidFill>
          <a:ln/>
        </p:spPr>
        <p:txBody>
          <a:bodyPr wrap="square" rtlCol="0" anchor="ctr"/>
          <a:lstStyle/>
          <a:p>
            <a:pPr indent="0" marL="0">
              <a:buNone/>
            </a:pPr>
            <a:endParaRPr lang="en-US" dirty="0"/>
          </a:p>
        </p:txBody>
      </p:sp>
      <p:sp>
        <p:nvSpPr>
          <p:cNvPr id="54" name="Shape 52"/>
          <p:cNvSpPr/>
          <p:nvPr/>
        </p:nvSpPr>
        <p:spPr>
          <a:xfrm>
            <a:off x="5579269" y="3939778"/>
            <a:ext cx="3114675" cy="0"/>
          </a:xfrm>
          <a:prstGeom prst="line">
            <a:avLst/>
          </a:prstGeom>
          <a:noFill/>
          <a:ln w="7144">
            <a:solidFill>
              <a:srgbClr val="D8D2CB"/>
            </a:solidFill>
            <a:prstDash val="solid"/>
          </a:ln>
        </p:spPr>
      </p:sp>
      <p:sp>
        <p:nvSpPr>
          <p:cNvPr id="55" name="Text 53"/>
          <p:cNvSpPr/>
          <p:nvPr/>
        </p:nvSpPr>
        <p:spPr>
          <a:xfrm>
            <a:off x="5707856" y="4182666"/>
            <a:ext cx="114300" cy="114300"/>
          </a:xfrm>
          <a:prstGeom prst="rect">
            <a:avLst/>
          </a:prstGeom>
          <a:noFill/>
          <a:ln/>
        </p:spPr>
        <p:txBody>
          <a:bodyPr wrap="none" lIns="0" tIns="0" rIns="0" bIns="0" rtlCol="0" anchor="ctr"/>
          <a:lstStyle/>
          <a:p>
            <a:pPr algn="ctr" indent="0" marL="0">
              <a:buNone/>
            </a:pPr>
            <a:r>
              <a:rPr lang="en-US" sz="1125" dirty="0">
                <a:solidFill>
                  <a:srgbClr val="2F7A4F"/>
                </a:solidFill>
                <a:latin typeface="Segoe UI Symbol" pitchFamily="34" charset="0"/>
                <a:ea typeface="Segoe UI Symbol" pitchFamily="34" charset="-122"/>
                <a:cs typeface="Segoe UI Symbol" pitchFamily="34" charset="-120"/>
              </a:rPr>
              <a:t>✓</a:t>
            </a:r>
            <a:endParaRPr lang="en-US" sz="1125" dirty="0"/>
          </a:p>
        </p:txBody>
      </p:sp>
      <p:sp>
        <p:nvSpPr>
          <p:cNvPr id="56" name="Text 54"/>
          <p:cNvSpPr/>
          <p:nvPr/>
        </p:nvSpPr>
        <p:spPr>
          <a:xfrm>
            <a:off x="5879306" y="4177308"/>
            <a:ext cx="2686050" cy="153619"/>
          </a:xfrm>
          <a:prstGeom prst="rect">
            <a:avLst/>
          </a:prstGeom>
          <a:noFill/>
          <a:ln/>
        </p:spPr>
        <p:txBody>
          <a:bodyPr wrap="square" lIns="0" tIns="0" rIns="0" bIns="0" rtlCol="0" anchor="t"/>
          <a:lstStyle/>
          <a:p>
            <a:pPr algn="l" indent="0" marL="0">
              <a:lnSpc>
                <a:spcPts val="984"/>
              </a:lnSpc>
              <a:buNone/>
            </a:pPr>
            <a:r>
              <a:rPr lang="en-US" sz="800" dirty="0">
                <a:solidFill>
                  <a:srgbClr val="1A1A1A"/>
                </a:solidFill>
                <a:latin typeface="Carlito" pitchFamily="34" charset="0"/>
                <a:ea typeface="Carlito" pitchFamily="34" charset="-122"/>
                <a:cs typeface="Carlito" pitchFamily="34" charset="-120"/>
              </a:rPr>
              <a:t>$0.00 marginal · p50 ≈120 ms warm, CPU-only.</a:t>
            </a:r>
            <a:endParaRPr lang="en-US" sz="800" dirty="0"/>
          </a:p>
        </p:txBody>
      </p:sp>
      <p:sp>
        <p:nvSpPr>
          <p:cNvPr id="57" name="Text 55"/>
          <p:cNvSpPr/>
          <p:nvPr/>
        </p:nvSpPr>
        <p:spPr>
          <a:xfrm>
            <a:off x="0" y="4943475"/>
            <a:ext cx="9144000" cy="200025"/>
          </a:xfrm>
          <a:prstGeom prst="rect">
            <a:avLst/>
          </a:prstGeom>
          <a:solidFill>
            <a:srgbClr val="FFFFFF"/>
          </a:solidFill>
          <a:ln/>
        </p:spPr>
        <p:txBody>
          <a:bodyPr wrap="square" rtlCol="0" anchor="ctr"/>
          <a:lstStyle/>
          <a:p>
            <a:pPr indent="0" marL="0">
              <a:buNone/>
            </a:pPr>
            <a:endParaRPr lang="en-US" dirty="0"/>
          </a:p>
        </p:txBody>
      </p:sp>
      <p:sp>
        <p:nvSpPr>
          <p:cNvPr id="58" name="Shape 56"/>
          <p:cNvSpPr/>
          <p:nvPr/>
        </p:nvSpPr>
        <p:spPr>
          <a:xfrm>
            <a:off x="0" y="4947047"/>
            <a:ext cx="9144000" cy="0"/>
          </a:xfrm>
          <a:prstGeom prst="line">
            <a:avLst/>
          </a:prstGeom>
          <a:noFill/>
          <a:ln w="7144">
            <a:solidFill>
              <a:srgbClr val="D8D2CB"/>
            </a:solidFill>
            <a:prstDash val="solid"/>
          </a:ln>
        </p:spPr>
      </p:sp>
      <p:sp>
        <p:nvSpPr>
          <p:cNvPr id="59" name="Text 57"/>
          <p:cNvSpPr/>
          <p:nvPr/>
        </p:nvSpPr>
        <p:spPr>
          <a:xfrm>
            <a:off x="342900" y="4990802"/>
            <a:ext cx="6154675" cy="152698"/>
          </a:xfrm>
          <a:prstGeom prst="rect">
            <a:avLst/>
          </a:prstGeom>
          <a:noFill/>
          <a:ln/>
        </p:spPr>
        <p:txBody>
          <a:bodyPr wrap="none" lIns="0" tIns="0" rIns="0" bIns="0" rtlCol="0" anchor="t"/>
          <a:lstStyle/>
          <a:p>
            <a:pPr algn="l" indent="0" marL="0">
              <a:lnSpc>
                <a:spcPts val="886"/>
              </a:lnSpc>
              <a:buNone/>
            </a:pPr>
            <a:r>
              <a:rPr lang="en-US" sz="800" spc="24" kern="0" dirty="0">
                <a:solidFill>
                  <a:srgbClr val="0F4C5C"/>
                </a:solidFill>
                <a:latin typeface="Carlito" pitchFamily="34" charset="0"/>
                <a:ea typeface="Carlito" pitchFamily="34" charset="-122"/>
                <a:cs typeface="Carlito" pitchFamily="34" charset="-120"/>
              </a:rPr>
              <a:t>Vidhi Guardian | Ajay Choudhary (MSAI @ Plaksha)</a:t>
            </a:r>
            <a:endParaRPr lang="en-US" sz="800" dirty="0"/>
          </a:p>
        </p:txBody>
      </p:sp>
      <p:sp>
        <p:nvSpPr>
          <p:cNvPr id="60" name="Text 58"/>
          <p:cNvSpPr/>
          <p:nvPr/>
        </p:nvSpPr>
        <p:spPr>
          <a:xfrm>
            <a:off x="6511863" y="4990802"/>
            <a:ext cx="2289237" cy="152698"/>
          </a:xfrm>
          <a:prstGeom prst="rect">
            <a:avLst/>
          </a:prstGeom>
          <a:noFill/>
          <a:ln/>
        </p:spPr>
        <p:txBody>
          <a:bodyPr wrap="square" lIns="0" tIns="0" rIns="0" bIns="0" rtlCol="0" anchor="t"/>
          <a:lstStyle/>
          <a:p>
            <a:pPr algn="l" indent="0" marL="0">
              <a:lnSpc>
                <a:spcPts val="886"/>
              </a:lnSpc>
              <a:buNone/>
            </a:pPr>
            <a:r>
              <a:rPr lang="en-US" sz="600" spc="24" kern="0" dirty="0">
                <a:solidFill>
                  <a:srgbClr val="0F4C5C"/>
                </a:solidFill>
                <a:latin typeface="Courier New" pitchFamily="34" charset="0"/>
                <a:ea typeface="Courier New" pitchFamily="34" charset="-122"/>
                <a:cs typeface="Courier New" pitchFamily="34" charset="-120"/>
              </a:rPr>
              <a:t>ConfAI 2026 · Track 06 Responsible &amp; Ethical AI | 2 / 7</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7175"/>
            <a:ext cx="3193543" cy="164592"/>
          </a:xfrm>
          <a:prstGeom prst="rect">
            <a:avLst/>
          </a:prstGeom>
          <a:noFill/>
          <a:ln/>
        </p:spPr>
        <p:txBody>
          <a:bodyPr wrap="square" lIns="0" tIns="0" rIns="0" bIns="0" rtlCol="0" anchor="t"/>
          <a:lstStyle/>
          <a:p>
            <a:pPr algn="l" indent="0" marL="0">
              <a:lnSpc>
                <a:spcPts val="886"/>
              </a:lnSpc>
              <a:buNone/>
            </a:pPr>
            <a:r>
              <a:rPr lang="en-US" sz="600" b="1" spc="106" kern="0" dirty="0">
                <a:solidFill>
                  <a:srgbClr val="E36414"/>
                </a:solidFill>
                <a:latin typeface="Carlito" pitchFamily="34" charset="0"/>
                <a:ea typeface="Carlito" pitchFamily="34" charset="-122"/>
                <a:cs typeface="Carlito" pitchFamily="34" charset="-120"/>
              </a:rPr>
              <a:t>SOLUTION · MODELS TRANSLATE, VERSIONED RULES JUDGE</a:t>
            </a:r>
            <a:endParaRPr lang="en-US" sz="600" dirty="0"/>
          </a:p>
        </p:txBody>
      </p:sp>
      <p:sp>
        <p:nvSpPr>
          <p:cNvPr id="3" name="Text 1"/>
          <p:cNvSpPr/>
          <p:nvPr/>
        </p:nvSpPr>
        <p:spPr>
          <a:xfrm>
            <a:off x="457200" y="442913"/>
            <a:ext cx="4369240" cy="248335"/>
          </a:xfrm>
          <a:prstGeom prst="rect">
            <a:avLst/>
          </a:prstGeom>
          <a:noFill/>
          <a:ln/>
        </p:spPr>
        <p:txBody>
          <a:bodyPr wrap="square" lIns="0" tIns="0" rIns="0" bIns="0" rtlCol="0" anchor="t"/>
          <a:lstStyle/>
          <a:p>
            <a:pPr algn="l" indent="0" marL="0">
              <a:lnSpc>
                <a:spcPts val="1811"/>
              </a:lnSpc>
              <a:buNone/>
            </a:pPr>
            <a:r>
              <a:rPr lang="en-US" sz="1575" b="1" dirty="0">
                <a:solidFill>
                  <a:srgbClr val="0F4C5C"/>
                </a:solidFill>
                <a:latin typeface="Tinos" pitchFamily="34" charset="0"/>
                <a:ea typeface="Tinos" pitchFamily="34" charset="-122"/>
                <a:cs typeface="Tinos" pitchFamily="34" charset="-120"/>
              </a:rPr>
              <a:t>Five stages. Fixed order. First rule to fire wins.</a:t>
            </a:r>
            <a:endParaRPr lang="en-US" sz="1575" dirty="0"/>
          </a:p>
        </p:txBody>
      </p:sp>
      <p:sp>
        <p:nvSpPr>
          <p:cNvPr id="4" name="Text 2"/>
          <p:cNvSpPr/>
          <p:nvPr/>
        </p:nvSpPr>
        <p:spPr>
          <a:xfrm>
            <a:off x="457200" y="758723"/>
            <a:ext cx="771525" cy="282778"/>
          </a:xfrm>
          <a:prstGeom prst="roundRect">
            <a:avLst>
              <a:gd name="adj" fmla="val 60631"/>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5" name="Text 3"/>
          <p:cNvSpPr/>
          <p:nvPr/>
        </p:nvSpPr>
        <p:spPr>
          <a:xfrm>
            <a:off x="457200" y="771525"/>
            <a:ext cx="771525" cy="257175"/>
          </a:xfrm>
          <a:prstGeom prst="rect">
            <a:avLst/>
          </a:prstGeom>
          <a:noFill/>
          <a:ln/>
        </p:spPr>
        <p:txBody>
          <a:bodyPr wrap="none" lIns="0" tIns="0" rIns="0" bIns="0" rtlCol="0" anchor="ctr"/>
          <a:lstStyle/>
          <a:p>
            <a:pPr algn="ctr" indent="0" marL="0">
              <a:lnSpc>
                <a:spcPts val="681"/>
              </a:lnSpc>
              <a:buNone/>
            </a:pPr>
            <a:r>
              <a:rPr lang="en-US" sz="800" dirty="0">
                <a:solidFill>
                  <a:srgbClr val="0F4C5C"/>
                </a:solidFill>
                <a:latin typeface="Carlito" pitchFamily="34" charset="0"/>
                <a:ea typeface="Carlito" pitchFamily="34" charset="-122"/>
                <a:cs typeface="Carlito" pitchFamily="34" charset="-120"/>
              </a:rPr>
              <a:t>Question</a:t>
            </a:r>
            <a:endParaRPr lang="en-US" sz="800" dirty="0"/>
          </a:p>
        </p:txBody>
      </p:sp>
      <p:sp>
        <p:nvSpPr>
          <p:cNvPr id="6" name="Text 4"/>
          <p:cNvSpPr/>
          <p:nvPr/>
        </p:nvSpPr>
        <p:spPr>
          <a:xfrm>
            <a:off x="1228725" y="814388"/>
            <a:ext cx="128588" cy="171450"/>
          </a:xfrm>
          <a:prstGeom prst="rect">
            <a:avLst/>
          </a:prstGeom>
          <a:noFill/>
          <a:ln/>
        </p:spPr>
        <p:txBody>
          <a:bodyPr wrap="none" lIns="0" tIns="0" rIns="0" bIns="0" rtlCol="0" anchor="ctr"/>
          <a:lstStyle/>
          <a:p>
            <a:pPr algn="ctr" indent="0" marL="0">
              <a:buNone/>
            </a:pPr>
            <a:r>
              <a:rPr lang="en-US" sz="900" b="1" dirty="0">
                <a:solidFill>
                  <a:srgbClr val="0F4C5C"/>
                </a:solidFill>
                <a:latin typeface="Segoe UI Symbol" pitchFamily="34" charset="0"/>
                <a:ea typeface="Segoe UI Symbol" pitchFamily="34" charset="-122"/>
                <a:cs typeface="Segoe UI Symbol" pitchFamily="34" charset="-120"/>
              </a:rPr>
              <a:t>→</a:t>
            </a:r>
            <a:endParaRPr lang="en-US" sz="900" dirty="0"/>
          </a:p>
        </p:txBody>
      </p:sp>
      <p:sp>
        <p:nvSpPr>
          <p:cNvPr id="7" name="Text 5"/>
          <p:cNvSpPr/>
          <p:nvPr/>
        </p:nvSpPr>
        <p:spPr>
          <a:xfrm>
            <a:off x="1357313" y="758723"/>
            <a:ext cx="771525" cy="282778"/>
          </a:xfrm>
          <a:prstGeom prst="roundRect">
            <a:avLst>
              <a:gd name="adj" fmla="val 60631"/>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8" name="Text 6"/>
          <p:cNvSpPr/>
          <p:nvPr/>
        </p:nvSpPr>
        <p:spPr>
          <a:xfrm>
            <a:off x="1357313" y="771525"/>
            <a:ext cx="771525" cy="257175"/>
          </a:xfrm>
          <a:prstGeom prst="rect">
            <a:avLst/>
          </a:prstGeom>
          <a:noFill/>
          <a:ln/>
        </p:spPr>
        <p:txBody>
          <a:bodyPr wrap="none" lIns="0" tIns="0" rIns="0" bIns="0" rtlCol="0" anchor="ctr"/>
          <a:lstStyle/>
          <a:p>
            <a:pPr algn="ctr" indent="0" marL="0">
              <a:lnSpc>
                <a:spcPts val="681"/>
              </a:lnSpc>
              <a:buNone/>
            </a:pPr>
            <a:r>
              <a:rPr lang="en-US" sz="800" dirty="0">
                <a:solidFill>
                  <a:srgbClr val="0F4C5C"/>
                </a:solidFill>
                <a:latin typeface="Carlito" pitchFamily="34" charset="0"/>
                <a:ea typeface="Carlito" pitchFamily="34" charset="-122"/>
                <a:cs typeface="Carlito" pitchFamily="34" charset="-120"/>
              </a:rPr>
              <a:t>Exact cache</a:t>
            </a:r>
            <a:endParaRPr lang="en-US" sz="800" dirty="0"/>
          </a:p>
        </p:txBody>
      </p:sp>
      <p:sp>
        <p:nvSpPr>
          <p:cNvPr id="9" name="Text 7"/>
          <p:cNvSpPr/>
          <p:nvPr/>
        </p:nvSpPr>
        <p:spPr>
          <a:xfrm>
            <a:off x="2128838" y="814388"/>
            <a:ext cx="128588" cy="171450"/>
          </a:xfrm>
          <a:prstGeom prst="rect">
            <a:avLst/>
          </a:prstGeom>
          <a:noFill/>
          <a:ln/>
        </p:spPr>
        <p:txBody>
          <a:bodyPr wrap="none" lIns="0" tIns="0" rIns="0" bIns="0" rtlCol="0" anchor="ctr"/>
          <a:lstStyle/>
          <a:p>
            <a:pPr algn="ctr" indent="0" marL="0">
              <a:buNone/>
            </a:pPr>
            <a:r>
              <a:rPr lang="en-US" sz="900" b="1" dirty="0">
                <a:solidFill>
                  <a:srgbClr val="0F4C5C"/>
                </a:solidFill>
                <a:latin typeface="Segoe UI Symbol" pitchFamily="34" charset="0"/>
                <a:ea typeface="Segoe UI Symbol" pitchFamily="34" charset="-122"/>
                <a:cs typeface="Segoe UI Symbol" pitchFamily="34" charset="-120"/>
              </a:rPr>
              <a:t>→</a:t>
            </a:r>
            <a:endParaRPr lang="en-US" sz="900" dirty="0"/>
          </a:p>
        </p:txBody>
      </p:sp>
      <p:sp>
        <p:nvSpPr>
          <p:cNvPr id="10" name="Text 8"/>
          <p:cNvSpPr/>
          <p:nvPr/>
        </p:nvSpPr>
        <p:spPr>
          <a:xfrm>
            <a:off x="2257425" y="758723"/>
            <a:ext cx="771525" cy="282778"/>
          </a:xfrm>
          <a:prstGeom prst="roundRect">
            <a:avLst>
              <a:gd name="adj" fmla="val 60631"/>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11" name="Text 9"/>
          <p:cNvSpPr/>
          <p:nvPr/>
        </p:nvSpPr>
        <p:spPr>
          <a:xfrm>
            <a:off x="2257425" y="771525"/>
            <a:ext cx="771525" cy="257175"/>
          </a:xfrm>
          <a:prstGeom prst="rect">
            <a:avLst/>
          </a:prstGeom>
          <a:noFill/>
          <a:ln/>
        </p:spPr>
        <p:txBody>
          <a:bodyPr wrap="none" lIns="0" tIns="0" rIns="0" bIns="0" rtlCol="0" anchor="ctr"/>
          <a:lstStyle/>
          <a:p>
            <a:pPr algn="ctr" indent="0" marL="0">
              <a:lnSpc>
                <a:spcPts val="681"/>
              </a:lnSpc>
              <a:buNone/>
            </a:pPr>
            <a:r>
              <a:rPr lang="en-US" sz="800" dirty="0">
                <a:solidFill>
                  <a:srgbClr val="0F4C5C"/>
                </a:solidFill>
                <a:latin typeface="Carlito" pitchFamily="34" charset="0"/>
                <a:ea typeface="Carlito" pitchFamily="34" charset="-122"/>
                <a:cs typeface="Carlito" pitchFamily="34" charset="-120"/>
              </a:rPr>
              <a:t>Claim extraction</a:t>
            </a:r>
            <a:endParaRPr lang="en-US" sz="800" dirty="0"/>
          </a:p>
        </p:txBody>
      </p:sp>
      <p:sp>
        <p:nvSpPr>
          <p:cNvPr id="12" name="Text 10"/>
          <p:cNvSpPr/>
          <p:nvPr/>
        </p:nvSpPr>
        <p:spPr>
          <a:xfrm>
            <a:off x="3028950" y="814388"/>
            <a:ext cx="128588" cy="171450"/>
          </a:xfrm>
          <a:prstGeom prst="rect">
            <a:avLst/>
          </a:prstGeom>
          <a:noFill/>
          <a:ln/>
        </p:spPr>
        <p:txBody>
          <a:bodyPr wrap="none" lIns="0" tIns="0" rIns="0" bIns="0" rtlCol="0" anchor="ctr"/>
          <a:lstStyle/>
          <a:p>
            <a:pPr algn="ctr" indent="0" marL="0">
              <a:buNone/>
            </a:pPr>
            <a:r>
              <a:rPr lang="en-US" sz="900" b="1" dirty="0">
                <a:solidFill>
                  <a:srgbClr val="0F4C5C"/>
                </a:solidFill>
                <a:latin typeface="Segoe UI Symbol" pitchFamily="34" charset="0"/>
                <a:ea typeface="Segoe UI Symbol" pitchFamily="34" charset="-122"/>
                <a:cs typeface="Segoe UI Symbol" pitchFamily="34" charset="-120"/>
              </a:rPr>
              <a:t>→</a:t>
            </a:r>
            <a:endParaRPr lang="en-US" sz="900" dirty="0"/>
          </a:p>
        </p:txBody>
      </p:sp>
      <p:sp>
        <p:nvSpPr>
          <p:cNvPr id="13" name="Text 11"/>
          <p:cNvSpPr/>
          <p:nvPr/>
        </p:nvSpPr>
        <p:spPr>
          <a:xfrm>
            <a:off x="3157538" y="758723"/>
            <a:ext cx="771525" cy="282778"/>
          </a:xfrm>
          <a:prstGeom prst="roundRect">
            <a:avLst>
              <a:gd name="adj" fmla="val 60631"/>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14" name="Text 12"/>
          <p:cNvSpPr/>
          <p:nvPr/>
        </p:nvSpPr>
        <p:spPr>
          <a:xfrm>
            <a:off x="3157538" y="771525"/>
            <a:ext cx="771525" cy="257175"/>
          </a:xfrm>
          <a:prstGeom prst="rect">
            <a:avLst/>
          </a:prstGeom>
          <a:noFill/>
          <a:ln/>
        </p:spPr>
        <p:txBody>
          <a:bodyPr wrap="none" lIns="0" tIns="0" rIns="0" bIns="0" rtlCol="0" anchor="ctr"/>
          <a:lstStyle/>
          <a:p>
            <a:pPr algn="ctr" indent="0" marL="0">
              <a:lnSpc>
                <a:spcPts val="681"/>
              </a:lnSpc>
              <a:buNone/>
            </a:pPr>
            <a:r>
              <a:rPr lang="en-US" sz="800" dirty="0">
                <a:solidFill>
                  <a:srgbClr val="0F4C5C"/>
                </a:solidFill>
                <a:latin typeface="Carlito" pitchFamily="34" charset="0"/>
                <a:ea typeface="Carlito" pitchFamily="34" charset="-122"/>
                <a:cs typeface="Carlito" pitchFamily="34" charset="-120"/>
              </a:rPr>
              <a:t>Field-guard cache</a:t>
            </a:r>
            <a:endParaRPr lang="en-US" sz="800" dirty="0"/>
          </a:p>
        </p:txBody>
      </p:sp>
      <p:sp>
        <p:nvSpPr>
          <p:cNvPr id="15" name="Text 13"/>
          <p:cNvSpPr/>
          <p:nvPr/>
        </p:nvSpPr>
        <p:spPr>
          <a:xfrm>
            <a:off x="3929063" y="814388"/>
            <a:ext cx="128588" cy="171450"/>
          </a:xfrm>
          <a:prstGeom prst="rect">
            <a:avLst/>
          </a:prstGeom>
          <a:noFill/>
          <a:ln/>
        </p:spPr>
        <p:txBody>
          <a:bodyPr wrap="none" lIns="0" tIns="0" rIns="0" bIns="0" rtlCol="0" anchor="ctr"/>
          <a:lstStyle/>
          <a:p>
            <a:pPr algn="ctr" indent="0" marL="0">
              <a:buNone/>
            </a:pPr>
            <a:r>
              <a:rPr lang="en-US" sz="900" b="1" dirty="0">
                <a:solidFill>
                  <a:srgbClr val="0F4C5C"/>
                </a:solidFill>
                <a:latin typeface="Segoe UI Symbol" pitchFamily="34" charset="0"/>
                <a:ea typeface="Segoe UI Symbol" pitchFamily="34" charset="-122"/>
                <a:cs typeface="Segoe UI Symbol" pitchFamily="34" charset="-120"/>
              </a:rPr>
              <a:t>→</a:t>
            </a:r>
            <a:endParaRPr lang="en-US" sz="900" dirty="0"/>
          </a:p>
        </p:txBody>
      </p:sp>
      <p:sp>
        <p:nvSpPr>
          <p:cNvPr id="16" name="Text 14"/>
          <p:cNvSpPr/>
          <p:nvPr/>
        </p:nvSpPr>
        <p:spPr>
          <a:xfrm>
            <a:off x="4057650" y="758723"/>
            <a:ext cx="771525" cy="282778"/>
          </a:xfrm>
          <a:prstGeom prst="roundRect">
            <a:avLst>
              <a:gd name="adj" fmla="val 60631"/>
            </a:avLst>
          </a:prstGeom>
          <a:solidFill>
            <a:srgbClr val="0F4C5C"/>
          </a:solidFill>
          <a:ln w="7144">
            <a:solidFill>
              <a:srgbClr val="E36414"/>
            </a:solidFill>
            <a:prstDash val="solid"/>
          </a:ln>
        </p:spPr>
        <p:txBody>
          <a:bodyPr wrap="square" rtlCol="0" anchor="ctr"/>
          <a:lstStyle/>
          <a:p>
            <a:pPr indent="0" marL="0">
              <a:buNone/>
            </a:pPr>
            <a:endParaRPr lang="en-US" dirty="0"/>
          </a:p>
        </p:txBody>
      </p:sp>
      <p:sp>
        <p:nvSpPr>
          <p:cNvPr id="17" name="Text 15"/>
          <p:cNvSpPr/>
          <p:nvPr/>
        </p:nvSpPr>
        <p:spPr>
          <a:xfrm>
            <a:off x="4057650" y="771525"/>
            <a:ext cx="771525" cy="257175"/>
          </a:xfrm>
          <a:prstGeom prst="rect">
            <a:avLst/>
          </a:prstGeom>
          <a:noFill/>
          <a:ln/>
        </p:spPr>
        <p:txBody>
          <a:bodyPr wrap="none" lIns="0" tIns="0" rIns="0" bIns="0" rtlCol="0" anchor="ctr"/>
          <a:lstStyle/>
          <a:p>
            <a:pPr algn="ctr" indent="0" marL="0">
              <a:lnSpc>
                <a:spcPts val="681"/>
              </a:lnSpc>
              <a:buNone/>
            </a:pPr>
            <a:r>
              <a:rPr lang="en-US" sz="800" dirty="0">
                <a:solidFill>
                  <a:srgbClr val="FFFFFF"/>
                </a:solidFill>
                <a:latin typeface="Carlito" pitchFamily="34" charset="0"/>
                <a:ea typeface="Carlito" pitchFamily="34" charset="-122"/>
                <a:cs typeface="Carlito" pitchFamily="34" charset="-120"/>
              </a:rPr>
              <a:t>Firewall</a:t>
            </a:r>
            <a:endParaRPr lang="en-US" sz="800" dirty="0"/>
          </a:p>
        </p:txBody>
      </p:sp>
      <p:sp>
        <p:nvSpPr>
          <p:cNvPr id="18" name="Text 16"/>
          <p:cNvSpPr/>
          <p:nvPr/>
        </p:nvSpPr>
        <p:spPr>
          <a:xfrm>
            <a:off x="4829175" y="814388"/>
            <a:ext cx="128588" cy="171450"/>
          </a:xfrm>
          <a:prstGeom prst="rect">
            <a:avLst/>
          </a:prstGeom>
          <a:noFill/>
          <a:ln/>
        </p:spPr>
        <p:txBody>
          <a:bodyPr wrap="none" lIns="0" tIns="0" rIns="0" bIns="0" rtlCol="0" anchor="ctr"/>
          <a:lstStyle/>
          <a:p>
            <a:pPr algn="ctr" indent="0" marL="0">
              <a:buNone/>
            </a:pPr>
            <a:r>
              <a:rPr lang="en-US" sz="900" b="1" dirty="0">
                <a:solidFill>
                  <a:srgbClr val="0F4C5C"/>
                </a:solidFill>
                <a:latin typeface="Segoe UI Symbol" pitchFamily="34" charset="0"/>
                <a:ea typeface="Segoe UI Symbol" pitchFamily="34" charset="-122"/>
                <a:cs typeface="Segoe UI Symbol" pitchFamily="34" charset="-120"/>
              </a:rPr>
              <a:t>→</a:t>
            </a:r>
            <a:endParaRPr lang="en-US" sz="900" dirty="0"/>
          </a:p>
        </p:txBody>
      </p:sp>
      <p:sp>
        <p:nvSpPr>
          <p:cNvPr id="19" name="Text 17"/>
          <p:cNvSpPr/>
          <p:nvPr/>
        </p:nvSpPr>
        <p:spPr>
          <a:xfrm>
            <a:off x="4957763" y="758723"/>
            <a:ext cx="771525" cy="282778"/>
          </a:xfrm>
          <a:prstGeom prst="roundRect">
            <a:avLst>
              <a:gd name="adj" fmla="val 60631"/>
            </a:avLst>
          </a:prstGeom>
          <a:solidFill>
            <a:srgbClr val="FFFFFF"/>
          </a:solidFill>
          <a:ln/>
        </p:spPr>
        <p:txBody>
          <a:bodyPr wrap="square" rtlCol="0" anchor="ctr"/>
          <a:lstStyle/>
          <a:p>
            <a:pPr indent="0" marL="0">
              <a:buNone/>
            </a:pPr>
            <a:endParaRPr lang="en-US" dirty="0"/>
          </a:p>
        </p:txBody>
      </p:sp>
      <p:sp>
        <p:nvSpPr>
          <p:cNvPr id="20" name="Shape 18"/>
          <p:cNvSpPr/>
          <p:nvPr/>
        </p:nvSpPr>
        <p:spPr>
          <a:xfrm>
            <a:off x="4957763" y="775097"/>
            <a:ext cx="771525" cy="0"/>
          </a:xfrm>
          <a:prstGeom prst="line">
            <a:avLst/>
          </a:prstGeom>
          <a:noFill/>
          <a:ln w="7144">
            <a:solidFill>
              <a:srgbClr val="D8D2CB"/>
            </a:solidFill>
            <a:prstDash val="solid"/>
          </a:ln>
        </p:spPr>
      </p:sp>
      <p:sp>
        <p:nvSpPr>
          <p:cNvPr id="21" name="Shape 19"/>
          <p:cNvSpPr/>
          <p:nvPr/>
        </p:nvSpPr>
        <p:spPr>
          <a:xfrm>
            <a:off x="5725716" y="771525"/>
            <a:ext cx="0" cy="257175"/>
          </a:xfrm>
          <a:prstGeom prst="line">
            <a:avLst/>
          </a:prstGeom>
          <a:noFill/>
          <a:ln w="7144">
            <a:solidFill>
              <a:srgbClr val="D8D2CB"/>
            </a:solidFill>
            <a:prstDash val="solid"/>
          </a:ln>
        </p:spPr>
      </p:sp>
      <p:sp>
        <p:nvSpPr>
          <p:cNvPr id="22" name="Shape 20"/>
          <p:cNvSpPr/>
          <p:nvPr/>
        </p:nvSpPr>
        <p:spPr>
          <a:xfrm>
            <a:off x="4957763" y="1025128"/>
            <a:ext cx="771525" cy="0"/>
          </a:xfrm>
          <a:prstGeom prst="line">
            <a:avLst/>
          </a:prstGeom>
          <a:noFill/>
          <a:ln w="7144">
            <a:solidFill>
              <a:srgbClr val="D8D2CB"/>
            </a:solidFill>
            <a:prstDash val="solid"/>
          </a:ln>
        </p:spPr>
      </p:sp>
      <p:sp>
        <p:nvSpPr>
          <p:cNvPr id="23" name="Shape 21"/>
          <p:cNvSpPr/>
          <p:nvPr/>
        </p:nvSpPr>
        <p:spPr>
          <a:xfrm>
            <a:off x="4972050" y="771525"/>
            <a:ext cx="0" cy="257175"/>
          </a:xfrm>
          <a:prstGeom prst="line">
            <a:avLst/>
          </a:prstGeom>
          <a:noFill/>
          <a:ln w="28575">
            <a:solidFill>
              <a:srgbClr val="E36414"/>
            </a:solidFill>
            <a:prstDash val="solid"/>
          </a:ln>
        </p:spPr>
      </p:sp>
      <p:sp>
        <p:nvSpPr>
          <p:cNvPr id="24" name="Text 22"/>
          <p:cNvSpPr/>
          <p:nvPr/>
        </p:nvSpPr>
        <p:spPr>
          <a:xfrm>
            <a:off x="4957763" y="771525"/>
            <a:ext cx="771525" cy="257175"/>
          </a:xfrm>
          <a:prstGeom prst="rect">
            <a:avLst/>
          </a:prstGeom>
          <a:noFill/>
          <a:ln/>
        </p:spPr>
        <p:txBody>
          <a:bodyPr wrap="none" lIns="0" tIns="0" rIns="0" bIns="0" rtlCol="0" anchor="ctr"/>
          <a:lstStyle/>
          <a:p>
            <a:pPr algn="ctr" indent="0" marL="0">
              <a:lnSpc>
                <a:spcPts val="681"/>
              </a:lnSpc>
              <a:buNone/>
            </a:pPr>
            <a:r>
              <a:rPr lang="en-US" sz="800" dirty="0">
                <a:solidFill>
                  <a:srgbClr val="0F4C5C"/>
                </a:solidFill>
                <a:latin typeface="Liberation Sans Narrow" pitchFamily="34" charset="0"/>
                <a:ea typeface="Liberation Sans Narrow" pitchFamily="34" charset="-122"/>
                <a:cs typeface="Liberation Sans Narrow" pitchFamily="34" charset="-120"/>
              </a:rPr>
              <a:t>SHA-256 freeze</a:t>
            </a:r>
            <a:endParaRPr lang="en-US" sz="800" dirty="0"/>
          </a:p>
        </p:txBody>
      </p:sp>
      <p:sp>
        <p:nvSpPr>
          <p:cNvPr id="25" name="Text 23"/>
          <p:cNvSpPr/>
          <p:nvPr/>
        </p:nvSpPr>
        <p:spPr>
          <a:xfrm>
            <a:off x="5729288" y="814388"/>
            <a:ext cx="128588" cy="171450"/>
          </a:xfrm>
          <a:prstGeom prst="rect">
            <a:avLst/>
          </a:prstGeom>
          <a:noFill/>
          <a:ln/>
        </p:spPr>
        <p:txBody>
          <a:bodyPr wrap="none" lIns="0" tIns="0" rIns="0" bIns="0" rtlCol="0" anchor="ctr"/>
          <a:lstStyle/>
          <a:p>
            <a:pPr algn="ctr" indent="0" marL="0">
              <a:buNone/>
            </a:pPr>
            <a:r>
              <a:rPr lang="en-US" sz="900" b="1" dirty="0">
                <a:solidFill>
                  <a:srgbClr val="0F4C5C"/>
                </a:solidFill>
                <a:latin typeface="Segoe UI Symbol" pitchFamily="34" charset="0"/>
                <a:ea typeface="Segoe UI Symbol" pitchFamily="34" charset="-122"/>
                <a:cs typeface="Segoe UI Symbol" pitchFamily="34" charset="-120"/>
              </a:rPr>
              <a:t>→</a:t>
            </a:r>
            <a:endParaRPr lang="en-US" sz="900" dirty="0"/>
          </a:p>
        </p:txBody>
      </p:sp>
      <p:sp>
        <p:nvSpPr>
          <p:cNvPr id="26" name="Text 24"/>
          <p:cNvSpPr/>
          <p:nvPr/>
        </p:nvSpPr>
        <p:spPr>
          <a:xfrm>
            <a:off x="5857875" y="758723"/>
            <a:ext cx="771525" cy="282778"/>
          </a:xfrm>
          <a:prstGeom prst="roundRect">
            <a:avLst>
              <a:gd name="adj" fmla="val 60631"/>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27" name="Text 25"/>
          <p:cNvSpPr/>
          <p:nvPr/>
        </p:nvSpPr>
        <p:spPr>
          <a:xfrm>
            <a:off x="5857875" y="771525"/>
            <a:ext cx="771525" cy="257175"/>
          </a:xfrm>
          <a:prstGeom prst="rect">
            <a:avLst/>
          </a:prstGeom>
          <a:noFill/>
          <a:ln/>
        </p:spPr>
        <p:txBody>
          <a:bodyPr wrap="none" lIns="0" tIns="0" rIns="0" bIns="0" rtlCol="0" anchor="ctr"/>
          <a:lstStyle/>
          <a:p>
            <a:pPr algn="ctr" indent="0" marL="0">
              <a:lnSpc>
                <a:spcPts val="681"/>
              </a:lnSpc>
              <a:buNone/>
            </a:pPr>
            <a:r>
              <a:rPr lang="en-US" sz="800" dirty="0">
                <a:solidFill>
                  <a:srgbClr val="0F4C5C"/>
                </a:solidFill>
                <a:latin typeface="Carlito" pitchFamily="34" charset="0"/>
                <a:ea typeface="Carlito" pitchFamily="34" charset="-122"/>
                <a:cs typeface="Carlito" pitchFamily="34" charset="-120"/>
              </a:rPr>
              <a:t>Untrusted retrieval</a:t>
            </a:r>
            <a:endParaRPr lang="en-US" sz="800" dirty="0"/>
          </a:p>
        </p:txBody>
      </p:sp>
      <p:sp>
        <p:nvSpPr>
          <p:cNvPr id="28" name="Text 26"/>
          <p:cNvSpPr/>
          <p:nvPr/>
        </p:nvSpPr>
        <p:spPr>
          <a:xfrm>
            <a:off x="6629400" y="814388"/>
            <a:ext cx="128588" cy="171450"/>
          </a:xfrm>
          <a:prstGeom prst="rect">
            <a:avLst/>
          </a:prstGeom>
          <a:noFill/>
          <a:ln/>
        </p:spPr>
        <p:txBody>
          <a:bodyPr wrap="none" lIns="0" tIns="0" rIns="0" bIns="0" rtlCol="0" anchor="ctr"/>
          <a:lstStyle/>
          <a:p>
            <a:pPr algn="ctr" indent="0" marL="0">
              <a:buNone/>
            </a:pPr>
            <a:r>
              <a:rPr lang="en-US" sz="900" b="1" dirty="0">
                <a:solidFill>
                  <a:srgbClr val="0F4C5C"/>
                </a:solidFill>
                <a:latin typeface="Segoe UI Symbol" pitchFamily="34" charset="0"/>
                <a:ea typeface="Segoe UI Symbol" pitchFamily="34" charset="-122"/>
                <a:cs typeface="Segoe UI Symbol" pitchFamily="34" charset="-120"/>
              </a:rPr>
              <a:t>→</a:t>
            </a:r>
            <a:endParaRPr lang="en-US" sz="900" dirty="0"/>
          </a:p>
        </p:txBody>
      </p:sp>
      <p:sp>
        <p:nvSpPr>
          <p:cNvPr id="29" name="Text 27"/>
          <p:cNvSpPr/>
          <p:nvPr/>
        </p:nvSpPr>
        <p:spPr>
          <a:xfrm>
            <a:off x="6757988" y="758723"/>
            <a:ext cx="771525" cy="282778"/>
          </a:xfrm>
          <a:prstGeom prst="roundRect">
            <a:avLst>
              <a:gd name="adj" fmla="val 60631"/>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30" name="Text 28"/>
          <p:cNvSpPr/>
          <p:nvPr/>
        </p:nvSpPr>
        <p:spPr>
          <a:xfrm>
            <a:off x="6757988" y="771525"/>
            <a:ext cx="771525" cy="257175"/>
          </a:xfrm>
          <a:prstGeom prst="rect">
            <a:avLst/>
          </a:prstGeom>
          <a:noFill/>
          <a:ln/>
        </p:spPr>
        <p:txBody>
          <a:bodyPr wrap="none" lIns="0" tIns="0" rIns="0" bIns="0" rtlCol="0" anchor="ctr"/>
          <a:lstStyle/>
          <a:p>
            <a:pPr algn="ctr" indent="0" marL="0">
              <a:lnSpc>
                <a:spcPts val="681"/>
              </a:lnSpc>
              <a:buNone/>
            </a:pPr>
            <a:r>
              <a:rPr lang="en-US" sz="800" dirty="0">
                <a:solidFill>
                  <a:srgbClr val="0F4C5C"/>
                </a:solidFill>
                <a:latin typeface="Carlito" pitchFamily="34" charset="0"/>
                <a:ea typeface="Carlito" pitchFamily="34" charset="-122"/>
                <a:cs typeface="Carlito" pitchFamily="34" charset="-120"/>
              </a:rPr>
              <a:t>Templated prose</a:t>
            </a:r>
            <a:endParaRPr lang="en-US" sz="800" dirty="0"/>
          </a:p>
        </p:txBody>
      </p:sp>
      <p:sp>
        <p:nvSpPr>
          <p:cNvPr id="31" name="Text 29"/>
          <p:cNvSpPr/>
          <p:nvPr/>
        </p:nvSpPr>
        <p:spPr>
          <a:xfrm>
            <a:off x="7529513" y="814388"/>
            <a:ext cx="128588" cy="171450"/>
          </a:xfrm>
          <a:prstGeom prst="rect">
            <a:avLst/>
          </a:prstGeom>
          <a:noFill/>
          <a:ln/>
        </p:spPr>
        <p:txBody>
          <a:bodyPr wrap="none" lIns="0" tIns="0" rIns="0" bIns="0" rtlCol="0" anchor="ctr"/>
          <a:lstStyle/>
          <a:p>
            <a:pPr algn="ctr" indent="0" marL="0">
              <a:buNone/>
            </a:pPr>
            <a:r>
              <a:rPr lang="en-US" sz="900" b="1" dirty="0">
                <a:solidFill>
                  <a:srgbClr val="0F4C5C"/>
                </a:solidFill>
                <a:latin typeface="Segoe UI Symbol" pitchFamily="34" charset="0"/>
                <a:ea typeface="Segoe UI Symbol" pitchFamily="34" charset="-122"/>
                <a:cs typeface="Segoe UI Symbol" pitchFamily="34" charset="-120"/>
              </a:rPr>
              <a:t>→</a:t>
            </a:r>
            <a:endParaRPr lang="en-US" sz="900" dirty="0"/>
          </a:p>
        </p:txBody>
      </p:sp>
      <p:sp>
        <p:nvSpPr>
          <p:cNvPr id="32" name="Text 30"/>
          <p:cNvSpPr/>
          <p:nvPr/>
        </p:nvSpPr>
        <p:spPr>
          <a:xfrm>
            <a:off x="7658100" y="758723"/>
            <a:ext cx="771525" cy="282778"/>
          </a:xfrm>
          <a:prstGeom prst="roundRect">
            <a:avLst>
              <a:gd name="adj" fmla="val 60631"/>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33" name="Text 31"/>
          <p:cNvSpPr/>
          <p:nvPr/>
        </p:nvSpPr>
        <p:spPr>
          <a:xfrm>
            <a:off x="7658100" y="771525"/>
            <a:ext cx="771525" cy="257175"/>
          </a:xfrm>
          <a:prstGeom prst="rect">
            <a:avLst/>
          </a:prstGeom>
          <a:noFill/>
          <a:ln/>
        </p:spPr>
        <p:txBody>
          <a:bodyPr wrap="none" lIns="0" tIns="0" rIns="0" bIns="0" rtlCol="0" anchor="ctr"/>
          <a:lstStyle/>
          <a:p>
            <a:pPr algn="ctr" indent="0" marL="0">
              <a:lnSpc>
                <a:spcPts val="681"/>
              </a:lnSpc>
              <a:buNone/>
            </a:pPr>
            <a:r>
              <a:rPr lang="en-US" sz="800" dirty="0">
                <a:solidFill>
                  <a:srgbClr val="0F4C5C"/>
                </a:solidFill>
                <a:latin typeface="Carlito" pitchFamily="34" charset="0"/>
                <a:ea typeface="Carlito" pitchFamily="34" charset="-122"/>
                <a:cs typeface="Carlito" pitchFamily="34" charset="-120"/>
              </a:rPr>
              <a:t>Citation check</a:t>
            </a:r>
            <a:endParaRPr lang="en-US" sz="800" dirty="0"/>
          </a:p>
        </p:txBody>
      </p:sp>
      <p:sp>
        <p:nvSpPr>
          <p:cNvPr id="34" name="Shape 32"/>
          <p:cNvSpPr/>
          <p:nvPr/>
        </p:nvSpPr>
        <p:spPr>
          <a:xfrm>
            <a:off x="457200" y="1460897"/>
            <a:ext cx="1119894" cy="0"/>
          </a:xfrm>
          <a:prstGeom prst="line">
            <a:avLst/>
          </a:prstGeom>
          <a:noFill/>
          <a:ln w="14288">
            <a:solidFill>
              <a:srgbClr val="E36414"/>
            </a:solidFill>
            <a:prstDash val="solid"/>
          </a:ln>
        </p:spPr>
      </p:sp>
      <p:sp>
        <p:nvSpPr>
          <p:cNvPr id="35" name="Text 33"/>
          <p:cNvSpPr/>
          <p:nvPr/>
        </p:nvSpPr>
        <p:spPr>
          <a:xfrm>
            <a:off x="457200" y="1293019"/>
            <a:ext cx="1451103" cy="219027"/>
          </a:xfrm>
          <a:prstGeom prst="rect">
            <a:avLst/>
          </a:prstGeom>
          <a:noFill/>
          <a:ln/>
        </p:spPr>
        <p:txBody>
          <a:bodyPr wrap="none" lIns="0" tIns="0" rIns="0" bIns="42863" rtlCol="0" anchor="t">
            <a:normAutofit/>
          </a:bodyPr>
          <a:lstStyle/>
          <a:p>
            <a:pPr algn="l" indent="0" marL="0">
              <a:lnSpc>
                <a:spcPts val="928"/>
              </a:lnSpc>
              <a:buNone/>
            </a:pPr>
            <a:r>
              <a:rPr lang="en-US" sz="800" b="1" spc="99" kern="0" dirty="0">
                <a:solidFill>
                  <a:srgbClr val="7A7A7A"/>
                </a:solidFill>
                <a:latin typeface="Carlito" pitchFamily="34" charset="0"/>
                <a:ea typeface="Carlito" pitchFamily="34" charset="-122"/>
                <a:cs typeface="Carlito" pitchFamily="34" charset="-120"/>
              </a:rPr>
              <a:t>FIVE-STAGE RULE STACK</a:t>
            </a:r>
            <a:endParaRPr lang="en-US" sz="800" dirty="0"/>
          </a:p>
        </p:txBody>
      </p:sp>
      <p:sp>
        <p:nvSpPr>
          <p:cNvPr id="36" name="Text 34"/>
          <p:cNvSpPr/>
          <p:nvPr/>
        </p:nvSpPr>
        <p:spPr>
          <a:xfrm>
            <a:off x="460772" y="1543050"/>
            <a:ext cx="4421981" cy="564356"/>
          </a:xfrm>
          <a:prstGeom prst="roundRect">
            <a:avLst>
              <a:gd name="adj" fmla="val 10127"/>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37" name="Text 35"/>
          <p:cNvSpPr/>
          <p:nvPr/>
        </p:nvSpPr>
        <p:spPr>
          <a:xfrm>
            <a:off x="521494" y="1710928"/>
            <a:ext cx="371475" cy="246888"/>
          </a:xfrm>
          <a:prstGeom prst="rect">
            <a:avLst/>
          </a:prstGeom>
          <a:noFill/>
          <a:ln/>
        </p:spPr>
        <p:txBody>
          <a:bodyPr wrap="none" lIns="0" tIns="0" rIns="0" bIns="0" rtlCol="0" anchor="t"/>
          <a:lstStyle/>
          <a:p>
            <a:pPr algn="ctr" indent="0" marL="0">
              <a:lnSpc>
                <a:spcPts val="1800"/>
              </a:lnSpc>
              <a:buNone/>
            </a:pPr>
            <a:r>
              <a:rPr lang="en-US" sz="1800" b="1" dirty="0">
                <a:solidFill>
                  <a:srgbClr val="0F4C5C"/>
                </a:solidFill>
                <a:latin typeface="Liberation Sans Narrow" pitchFamily="34" charset="0"/>
                <a:ea typeface="Liberation Sans Narrow" pitchFamily="34" charset="-122"/>
                <a:cs typeface="Liberation Sans Narrow" pitchFamily="34" charset="-120"/>
              </a:rPr>
              <a:t>1</a:t>
            </a:r>
            <a:endParaRPr lang="en-US" sz="1800" dirty="0"/>
          </a:p>
        </p:txBody>
      </p:sp>
      <p:sp>
        <p:nvSpPr>
          <p:cNvPr id="38" name="Text 36"/>
          <p:cNvSpPr/>
          <p:nvPr/>
        </p:nvSpPr>
        <p:spPr>
          <a:xfrm>
            <a:off x="807244" y="1672754"/>
            <a:ext cx="3957638" cy="161877"/>
          </a:xfrm>
          <a:prstGeom prst="rect">
            <a:avLst/>
          </a:prstGeom>
          <a:noFill/>
          <a:ln/>
        </p:spPr>
        <p:txBody>
          <a:bodyPr wrap="none" lIns="0" tIns="0" rIns="0" bIns="0" rtlCol="0" anchor="t">
            <a:normAutofit/>
          </a:bodyPr>
          <a:lstStyle/>
          <a:p>
            <a:pPr algn="l" indent="0" marL="0">
              <a:lnSpc>
                <a:spcPts val="1266"/>
              </a:lnSpc>
              <a:buNone/>
            </a:pPr>
            <a:r>
              <a:rPr lang="en-US" sz="844" b="1" dirty="0">
                <a:solidFill>
                  <a:srgbClr val="0F4C5C"/>
                </a:solidFill>
                <a:latin typeface="Carlito" pitchFamily="34" charset="0"/>
                <a:ea typeface="Carlito" pitchFamily="34" charset="-122"/>
                <a:cs typeface="Carlito" pitchFamily="34" charset="-120"/>
              </a:rPr>
              <a:t>Scope</a:t>
            </a:r>
            <a:endParaRPr lang="en-US" sz="844" dirty="0"/>
          </a:p>
        </p:txBody>
      </p:sp>
      <p:sp>
        <p:nvSpPr>
          <p:cNvPr id="39" name="Text 37"/>
          <p:cNvSpPr/>
          <p:nvPr/>
        </p:nvSpPr>
        <p:spPr>
          <a:xfrm>
            <a:off x="807244" y="1862063"/>
            <a:ext cx="3116961" cy="148019"/>
          </a:xfrm>
          <a:prstGeom prst="rect">
            <a:avLst/>
          </a:prstGeom>
          <a:noFill/>
          <a:ln/>
        </p:spPr>
        <p:txBody>
          <a:bodyPr wrap="square" lIns="0" tIns="0" rIns="0" bIns="0" rtlCol="0" anchor="t"/>
          <a:lstStyle/>
          <a:p>
            <a:pPr algn="l" indent="0" marL="0">
              <a:lnSpc>
                <a:spcPts val="911"/>
              </a:lnSpc>
              <a:buNone/>
            </a:pPr>
            <a:r>
              <a:rPr lang="en-US" sz="800" dirty="0">
                <a:solidFill>
                  <a:srgbClr val="4A4A4A"/>
                </a:solidFill>
                <a:latin typeface="Carlito" pitchFamily="34" charset="0"/>
                <a:ea typeface="Carlito" pitchFamily="34" charset="-122"/>
                <a:cs typeface="Carlito" pitchFamily="34" charset="-120"/>
              </a:rPr>
              <a:t>Refuse forecasts, politics, causality claims.</a:t>
            </a:r>
            <a:endParaRPr lang="en-US" sz="800" dirty="0"/>
          </a:p>
        </p:txBody>
      </p:sp>
      <p:sp>
        <p:nvSpPr>
          <p:cNvPr id="40" name="Text 38"/>
          <p:cNvSpPr/>
          <p:nvPr/>
        </p:nvSpPr>
        <p:spPr>
          <a:xfrm>
            <a:off x="4302163" y="1727216"/>
            <a:ext cx="480515" cy="196025"/>
          </a:xfrm>
          <a:prstGeom prst="roundRect">
            <a:avLst>
              <a:gd name="adj" fmla="val 4854215"/>
            </a:avLst>
          </a:prstGeom>
          <a:solidFill>
            <a:srgbClr val="F8E2DD"/>
          </a:solidFill>
          <a:ln/>
        </p:spPr>
        <p:txBody>
          <a:bodyPr wrap="square" rtlCol="0" anchor="ctr"/>
          <a:lstStyle/>
          <a:p>
            <a:pPr indent="0" marL="0">
              <a:buNone/>
            </a:pPr>
            <a:endParaRPr lang="en-US" dirty="0"/>
          </a:p>
        </p:txBody>
      </p:sp>
      <p:sp>
        <p:nvSpPr>
          <p:cNvPr id="41" name="Text 39"/>
          <p:cNvSpPr/>
          <p:nvPr/>
        </p:nvSpPr>
        <p:spPr>
          <a:xfrm>
            <a:off x="4301649" y="1737717"/>
            <a:ext cx="481543" cy="175022"/>
          </a:xfrm>
          <a:prstGeom prst="rect">
            <a:avLst/>
          </a:prstGeom>
          <a:noFill/>
          <a:ln/>
        </p:spPr>
        <p:txBody>
          <a:bodyPr wrap="none" lIns="0" tIns="0" rIns="0" bIns="0" rtlCol="0" anchor="ctr"/>
          <a:lstStyle/>
          <a:p>
            <a:pPr algn="ctr" indent="0" marL="0">
              <a:lnSpc>
                <a:spcPts val="928"/>
              </a:lnSpc>
              <a:buNone/>
            </a:pPr>
            <a:r>
              <a:rPr lang="en-US" sz="800" b="1" spc="50" kern="0" dirty="0">
                <a:solidFill>
                  <a:srgbClr val="B0321B"/>
                </a:solidFill>
                <a:latin typeface="Courier New" pitchFamily="34" charset="0"/>
                <a:ea typeface="Courier New" pitchFamily="34" charset="-122"/>
                <a:cs typeface="Courier New" pitchFamily="34" charset="-120"/>
              </a:rPr>
              <a:t>REFUSE</a:t>
            </a:r>
            <a:endParaRPr lang="en-US" sz="800" dirty="0"/>
          </a:p>
        </p:txBody>
      </p:sp>
      <p:sp>
        <p:nvSpPr>
          <p:cNvPr id="42" name="Text 40"/>
          <p:cNvSpPr/>
          <p:nvPr/>
        </p:nvSpPr>
        <p:spPr>
          <a:xfrm>
            <a:off x="460772" y="2171700"/>
            <a:ext cx="4421981" cy="564356"/>
          </a:xfrm>
          <a:prstGeom prst="roundRect">
            <a:avLst>
              <a:gd name="adj" fmla="val 10127"/>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43" name="Text 41"/>
          <p:cNvSpPr/>
          <p:nvPr/>
        </p:nvSpPr>
        <p:spPr>
          <a:xfrm>
            <a:off x="521494" y="2339578"/>
            <a:ext cx="371475" cy="246888"/>
          </a:xfrm>
          <a:prstGeom prst="rect">
            <a:avLst/>
          </a:prstGeom>
          <a:noFill/>
          <a:ln/>
        </p:spPr>
        <p:txBody>
          <a:bodyPr wrap="none" lIns="0" tIns="0" rIns="0" bIns="0" rtlCol="0" anchor="t"/>
          <a:lstStyle/>
          <a:p>
            <a:pPr algn="ctr" indent="0" marL="0">
              <a:lnSpc>
                <a:spcPts val="1800"/>
              </a:lnSpc>
              <a:buNone/>
            </a:pPr>
            <a:r>
              <a:rPr lang="en-US" sz="1800" b="1" dirty="0">
                <a:solidFill>
                  <a:srgbClr val="0F4C5C"/>
                </a:solidFill>
                <a:latin typeface="Liberation Sans Narrow" pitchFamily="34" charset="0"/>
                <a:ea typeface="Liberation Sans Narrow" pitchFamily="34" charset="-122"/>
                <a:cs typeface="Liberation Sans Narrow" pitchFamily="34" charset="-120"/>
              </a:rPr>
              <a:t>2</a:t>
            </a:r>
            <a:endParaRPr lang="en-US" sz="1800" dirty="0"/>
          </a:p>
        </p:txBody>
      </p:sp>
      <p:sp>
        <p:nvSpPr>
          <p:cNvPr id="44" name="Text 42"/>
          <p:cNvSpPr/>
          <p:nvPr/>
        </p:nvSpPr>
        <p:spPr>
          <a:xfrm>
            <a:off x="807244" y="2301404"/>
            <a:ext cx="3694176" cy="161877"/>
          </a:xfrm>
          <a:prstGeom prst="rect">
            <a:avLst/>
          </a:prstGeom>
          <a:noFill/>
          <a:ln/>
        </p:spPr>
        <p:txBody>
          <a:bodyPr wrap="none" lIns="0" tIns="0" rIns="0" bIns="0" rtlCol="0" anchor="t">
            <a:normAutofit/>
          </a:bodyPr>
          <a:lstStyle/>
          <a:p>
            <a:pPr algn="l" indent="0" marL="0">
              <a:lnSpc>
                <a:spcPts val="1266"/>
              </a:lnSpc>
              <a:buNone/>
            </a:pPr>
            <a:r>
              <a:rPr lang="en-US" sz="844" b="1" dirty="0">
                <a:solidFill>
                  <a:srgbClr val="0F4C5C"/>
                </a:solidFill>
                <a:latin typeface="Carlito" pitchFamily="34" charset="0"/>
                <a:ea typeface="Carlito" pitchFamily="34" charset="-122"/>
                <a:cs typeface="Carlito" pitchFamily="34" charset="-120"/>
              </a:rPr>
              <a:t>Safety</a:t>
            </a:r>
            <a:endParaRPr lang="en-US" sz="844" dirty="0"/>
          </a:p>
        </p:txBody>
      </p:sp>
      <p:sp>
        <p:nvSpPr>
          <p:cNvPr id="45" name="Text 43"/>
          <p:cNvSpPr/>
          <p:nvPr/>
        </p:nvSpPr>
        <p:spPr>
          <a:xfrm>
            <a:off x="807244" y="2490713"/>
            <a:ext cx="3116961" cy="148019"/>
          </a:xfrm>
          <a:prstGeom prst="rect">
            <a:avLst/>
          </a:prstGeom>
          <a:noFill/>
          <a:ln/>
        </p:spPr>
        <p:txBody>
          <a:bodyPr wrap="square" lIns="0" tIns="0" rIns="0" bIns="0" rtlCol="0" anchor="t"/>
          <a:lstStyle/>
          <a:p>
            <a:pPr algn="l" indent="0" marL="0">
              <a:lnSpc>
                <a:spcPts val="911"/>
              </a:lnSpc>
              <a:buNone/>
            </a:pPr>
            <a:r>
              <a:rPr lang="en-US" sz="800" dirty="0">
                <a:solidFill>
                  <a:srgbClr val="4A4A4A"/>
                </a:solidFill>
                <a:latin typeface="Carlito" pitchFamily="34" charset="0"/>
                <a:ea typeface="Carlito" pitchFamily="34" charset="-122"/>
                <a:cs typeface="Carlito" pitchFamily="34" charset="-120"/>
              </a:rPr>
              <a:t>Refuse prompt injections &amp; jailbreak attempts.</a:t>
            </a:r>
            <a:endParaRPr lang="en-US" sz="800" dirty="0"/>
          </a:p>
        </p:txBody>
      </p:sp>
      <p:sp>
        <p:nvSpPr>
          <p:cNvPr id="46" name="Text 44"/>
          <p:cNvSpPr/>
          <p:nvPr/>
        </p:nvSpPr>
        <p:spPr>
          <a:xfrm>
            <a:off x="4302163" y="2355866"/>
            <a:ext cx="480515" cy="196025"/>
          </a:xfrm>
          <a:prstGeom prst="roundRect">
            <a:avLst>
              <a:gd name="adj" fmla="val 4854215"/>
            </a:avLst>
          </a:prstGeom>
          <a:solidFill>
            <a:srgbClr val="F8E2DD"/>
          </a:solidFill>
          <a:ln/>
        </p:spPr>
        <p:txBody>
          <a:bodyPr wrap="square" rtlCol="0" anchor="ctr"/>
          <a:lstStyle/>
          <a:p>
            <a:pPr indent="0" marL="0">
              <a:buNone/>
            </a:pPr>
            <a:endParaRPr lang="en-US" dirty="0"/>
          </a:p>
        </p:txBody>
      </p:sp>
      <p:sp>
        <p:nvSpPr>
          <p:cNvPr id="47" name="Text 45"/>
          <p:cNvSpPr/>
          <p:nvPr/>
        </p:nvSpPr>
        <p:spPr>
          <a:xfrm>
            <a:off x="4301649" y="2366367"/>
            <a:ext cx="481543" cy="175022"/>
          </a:xfrm>
          <a:prstGeom prst="rect">
            <a:avLst/>
          </a:prstGeom>
          <a:noFill/>
          <a:ln/>
        </p:spPr>
        <p:txBody>
          <a:bodyPr wrap="none" lIns="0" tIns="0" rIns="0" bIns="0" rtlCol="0" anchor="ctr"/>
          <a:lstStyle/>
          <a:p>
            <a:pPr algn="ctr" indent="0" marL="0">
              <a:lnSpc>
                <a:spcPts val="928"/>
              </a:lnSpc>
              <a:buNone/>
            </a:pPr>
            <a:r>
              <a:rPr lang="en-US" sz="800" b="1" spc="50" kern="0" dirty="0">
                <a:solidFill>
                  <a:srgbClr val="B0321B"/>
                </a:solidFill>
                <a:latin typeface="Courier New" pitchFamily="34" charset="0"/>
                <a:ea typeface="Courier New" pitchFamily="34" charset="-122"/>
                <a:cs typeface="Courier New" pitchFamily="34" charset="-120"/>
              </a:rPr>
              <a:t>REFUSE</a:t>
            </a:r>
            <a:endParaRPr lang="en-US" sz="800" dirty="0"/>
          </a:p>
        </p:txBody>
      </p:sp>
      <p:sp>
        <p:nvSpPr>
          <p:cNvPr id="48" name="Text 46"/>
          <p:cNvSpPr/>
          <p:nvPr/>
        </p:nvSpPr>
        <p:spPr>
          <a:xfrm>
            <a:off x="460772" y="2800350"/>
            <a:ext cx="4421981" cy="564356"/>
          </a:xfrm>
          <a:prstGeom prst="roundRect">
            <a:avLst>
              <a:gd name="adj" fmla="val 10127"/>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49" name="Text 47"/>
          <p:cNvSpPr/>
          <p:nvPr/>
        </p:nvSpPr>
        <p:spPr>
          <a:xfrm>
            <a:off x="521494" y="2968228"/>
            <a:ext cx="371475" cy="246888"/>
          </a:xfrm>
          <a:prstGeom prst="rect">
            <a:avLst/>
          </a:prstGeom>
          <a:noFill/>
          <a:ln/>
        </p:spPr>
        <p:txBody>
          <a:bodyPr wrap="none" lIns="0" tIns="0" rIns="0" bIns="0" rtlCol="0" anchor="t"/>
          <a:lstStyle/>
          <a:p>
            <a:pPr algn="ctr" indent="0" marL="0">
              <a:lnSpc>
                <a:spcPts val="1800"/>
              </a:lnSpc>
              <a:buNone/>
            </a:pPr>
            <a:r>
              <a:rPr lang="en-US" sz="1800" b="1" dirty="0">
                <a:solidFill>
                  <a:srgbClr val="0F4C5C"/>
                </a:solidFill>
                <a:latin typeface="Liberation Sans Narrow" pitchFamily="34" charset="0"/>
                <a:ea typeface="Liberation Sans Narrow" pitchFamily="34" charset="-122"/>
                <a:cs typeface="Liberation Sans Narrow" pitchFamily="34" charset="-120"/>
              </a:rPr>
              <a:t>3</a:t>
            </a:r>
            <a:endParaRPr lang="en-US" sz="1800" dirty="0"/>
          </a:p>
        </p:txBody>
      </p:sp>
      <p:sp>
        <p:nvSpPr>
          <p:cNvPr id="50" name="Text 48"/>
          <p:cNvSpPr/>
          <p:nvPr/>
        </p:nvSpPr>
        <p:spPr>
          <a:xfrm>
            <a:off x="807244" y="2930054"/>
            <a:ext cx="3382480" cy="161877"/>
          </a:xfrm>
          <a:prstGeom prst="rect">
            <a:avLst/>
          </a:prstGeom>
          <a:noFill/>
          <a:ln/>
        </p:spPr>
        <p:txBody>
          <a:bodyPr wrap="none" lIns="0" tIns="0" rIns="0" bIns="0" rtlCol="0" anchor="t">
            <a:normAutofit/>
          </a:bodyPr>
          <a:lstStyle/>
          <a:p>
            <a:pPr algn="l" indent="0" marL="0">
              <a:lnSpc>
                <a:spcPts val="1266"/>
              </a:lnSpc>
              <a:buNone/>
            </a:pPr>
            <a:r>
              <a:rPr lang="en-US" sz="844" b="1" dirty="0">
                <a:solidFill>
                  <a:srgbClr val="0F4C5C"/>
                </a:solidFill>
                <a:latin typeface="Carlito" pitchFamily="34" charset="0"/>
                <a:ea typeface="Carlito" pitchFamily="34" charset="-122"/>
                <a:cs typeface="Carlito" pitchFamily="34" charset="-120"/>
              </a:rPr>
              <a:t>Comparability</a:t>
            </a:r>
            <a:endParaRPr lang="en-US" sz="844" dirty="0"/>
          </a:p>
        </p:txBody>
      </p:sp>
      <p:sp>
        <p:nvSpPr>
          <p:cNvPr id="51" name="Text 49"/>
          <p:cNvSpPr/>
          <p:nvPr/>
        </p:nvSpPr>
        <p:spPr>
          <a:xfrm>
            <a:off x="807244" y="3119363"/>
            <a:ext cx="3116961" cy="148019"/>
          </a:xfrm>
          <a:prstGeom prst="rect">
            <a:avLst/>
          </a:prstGeom>
          <a:noFill/>
          <a:ln/>
        </p:spPr>
        <p:txBody>
          <a:bodyPr wrap="square" lIns="0" tIns="0" rIns="0" bIns="0" rtlCol="0" anchor="t"/>
          <a:lstStyle/>
          <a:p>
            <a:pPr algn="l" indent="0" marL="0">
              <a:lnSpc>
                <a:spcPts val="911"/>
              </a:lnSpc>
              <a:buNone/>
            </a:pPr>
            <a:r>
              <a:rPr lang="en-US" sz="800" dirty="0">
                <a:solidFill>
                  <a:srgbClr val="4A4A4A"/>
                </a:solidFill>
                <a:latin typeface="Carlito" pitchFamily="34" charset="0"/>
                <a:ea typeface="Carlito" pitchFamily="34" charset="-122"/>
                <a:cs typeface="Carlito" pitchFamily="34" charset="-120"/>
              </a:rPr>
              <a:t>Warn on HCES-CAPI / PLFS-revamp method breaks.</a:t>
            </a:r>
            <a:endParaRPr lang="en-US" sz="800" dirty="0"/>
          </a:p>
        </p:txBody>
      </p:sp>
      <p:sp>
        <p:nvSpPr>
          <p:cNvPr id="52" name="Text 50"/>
          <p:cNvSpPr/>
          <p:nvPr/>
        </p:nvSpPr>
        <p:spPr>
          <a:xfrm>
            <a:off x="4396889" y="2984516"/>
            <a:ext cx="382146" cy="196025"/>
          </a:xfrm>
          <a:prstGeom prst="roundRect">
            <a:avLst>
              <a:gd name="adj" fmla="val 4854215"/>
            </a:avLst>
          </a:prstGeom>
          <a:solidFill>
            <a:srgbClr val="FBF1D9"/>
          </a:solidFill>
          <a:ln/>
        </p:spPr>
        <p:txBody>
          <a:bodyPr wrap="square" rtlCol="0" anchor="ctr"/>
          <a:lstStyle/>
          <a:p>
            <a:pPr indent="0" marL="0">
              <a:buNone/>
            </a:pPr>
            <a:endParaRPr lang="en-US" dirty="0"/>
          </a:p>
        </p:txBody>
      </p:sp>
      <p:sp>
        <p:nvSpPr>
          <p:cNvPr id="53" name="Text 51"/>
          <p:cNvSpPr/>
          <p:nvPr/>
        </p:nvSpPr>
        <p:spPr>
          <a:xfrm>
            <a:off x="4411042" y="2995017"/>
            <a:ext cx="353839" cy="175022"/>
          </a:xfrm>
          <a:prstGeom prst="rect">
            <a:avLst/>
          </a:prstGeom>
          <a:noFill/>
          <a:ln/>
        </p:spPr>
        <p:txBody>
          <a:bodyPr wrap="none" lIns="0" tIns="0" rIns="0" bIns="0" rtlCol="0" anchor="ctr"/>
          <a:lstStyle/>
          <a:p>
            <a:pPr algn="ctr" indent="0" marL="0">
              <a:lnSpc>
                <a:spcPts val="928"/>
              </a:lnSpc>
              <a:buNone/>
            </a:pPr>
            <a:r>
              <a:rPr lang="en-US" sz="800" b="1" spc="50" kern="0" dirty="0">
                <a:solidFill>
                  <a:srgbClr val="C28A00"/>
                </a:solidFill>
                <a:latin typeface="Courier New" pitchFamily="34" charset="0"/>
                <a:ea typeface="Courier New" pitchFamily="34" charset="-122"/>
                <a:cs typeface="Courier New" pitchFamily="34" charset="-120"/>
              </a:rPr>
              <a:t>WARN</a:t>
            </a:r>
            <a:endParaRPr lang="en-US" sz="800" dirty="0"/>
          </a:p>
        </p:txBody>
      </p:sp>
      <p:sp>
        <p:nvSpPr>
          <p:cNvPr id="54" name="Text 52"/>
          <p:cNvSpPr/>
          <p:nvPr/>
        </p:nvSpPr>
        <p:spPr>
          <a:xfrm>
            <a:off x="460772" y="3429000"/>
            <a:ext cx="4421981" cy="564356"/>
          </a:xfrm>
          <a:prstGeom prst="roundRect">
            <a:avLst>
              <a:gd name="adj" fmla="val 10127"/>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55" name="Text 53"/>
          <p:cNvSpPr/>
          <p:nvPr/>
        </p:nvSpPr>
        <p:spPr>
          <a:xfrm>
            <a:off x="521494" y="3596878"/>
            <a:ext cx="371475" cy="246888"/>
          </a:xfrm>
          <a:prstGeom prst="rect">
            <a:avLst/>
          </a:prstGeom>
          <a:noFill/>
          <a:ln/>
        </p:spPr>
        <p:txBody>
          <a:bodyPr wrap="none" lIns="0" tIns="0" rIns="0" bIns="0" rtlCol="0" anchor="t"/>
          <a:lstStyle/>
          <a:p>
            <a:pPr algn="ctr" indent="0" marL="0">
              <a:lnSpc>
                <a:spcPts val="1800"/>
              </a:lnSpc>
              <a:buNone/>
            </a:pPr>
            <a:r>
              <a:rPr lang="en-US" sz="1800" b="1" dirty="0">
                <a:solidFill>
                  <a:srgbClr val="0F4C5C"/>
                </a:solidFill>
                <a:latin typeface="Liberation Sans Narrow" pitchFamily="34" charset="0"/>
                <a:ea typeface="Liberation Sans Narrow" pitchFamily="34" charset="-122"/>
                <a:cs typeface="Liberation Sans Narrow" pitchFamily="34" charset="-120"/>
              </a:rPr>
              <a:t>4</a:t>
            </a:r>
            <a:endParaRPr lang="en-US" sz="1800" dirty="0"/>
          </a:p>
        </p:txBody>
      </p:sp>
      <p:sp>
        <p:nvSpPr>
          <p:cNvPr id="56" name="Text 54"/>
          <p:cNvSpPr/>
          <p:nvPr/>
        </p:nvSpPr>
        <p:spPr>
          <a:xfrm>
            <a:off x="807244" y="3558704"/>
            <a:ext cx="3694176" cy="161877"/>
          </a:xfrm>
          <a:prstGeom prst="rect">
            <a:avLst/>
          </a:prstGeom>
          <a:noFill/>
          <a:ln/>
        </p:spPr>
        <p:txBody>
          <a:bodyPr wrap="none" lIns="0" tIns="0" rIns="0" bIns="0" rtlCol="0" anchor="t">
            <a:normAutofit/>
          </a:bodyPr>
          <a:lstStyle/>
          <a:p>
            <a:pPr algn="l" indent="0" marL="0">
              <a:lnSpc>
                <a:spcPts val="1266"/>
              </a:lnSpc>
              <a:buNone/>
            </a:pPr>
            <a:r>
              <a:rPr lang="en-US" sz="844" b="1" dirty="0">
                <a:solidFill>
                  <a:srgbClr val="0F4C5C"/>
                </a:solidFill>
                <a:latin typeface="Carlito" pitchFamily="34" charset="0"/>
                <a:ea typeface="Carlito" pitchFamily="34" charset="-122"/>
                <a:cs typeface="Carlito" pitchFamily="34" charset="-120"/>
              </a:rPr>
              <a:t>Metadata</a:t>
            </a:r>
            <a:endParaRPr lang="en-US" sz="844" dirty="0"/>
          </a:p>
        </p:txBody>
      </p:sp>
      <p:sp>
        <p:nvSpPr>
          <p:cNvPr id="57" name="Text 55"/>
          <p:cNvSpPr/>
          <p:nvPr/>
        </p:nvSpPr>
        <p:spPr>
          <a:xfrm>
            <a:off x="807244" y="3748013"/>
            <a:ext cx="3116961" cy="148019"/>
          </a:xfrm>
          <a:prstGeom prst="rect">
            <a:avLst/>
          </a:prstGeom>
          <a:noFill/>
          <a:ln/>
        </p:spPr>
        <p:txBody>
          <a:bodyPr wrap="square" lIns="0" tIns="0" rIns="0" bIns="0" rtlCol="0" anchor="t"/>
          <a:lstStyle/>
          <a:p>
            <a:pPr algn="l" indent="0" marL="0">
              <a:lnSpc>
                <a:spcPts val="911"/>
              </a:lnSpc>
              <a:buNone/>
            </a:pPr>
            <a:r>
              <a:rPr lang="en-US" sz="800" dirty="0">
                <a:solidFill>
                  <a:srgbClr val="4A4A4A"/>
                </a:solidFill>
                <a:latin typeface="Carlito" pitchFamily="34" charset="0"/>
                <a:ea typeface="Carlito" pitchFamily="34" charset="-122"/>
                <a:cs typeface="Carlito" pitchFamily="34" charset="-120"/>
              </a:rPr>
              <a:t>Warn on unknown geography / sex / survey round.</a:t>
            </a:r>
            <a:endParaRPr lang="en-US" sz="800" dirty="0"/>
          </a:p>
        </p:txBody>
      </p:sp>
      <p:sp>
        <p:nvSpPr>
          <p:cNvPr id="58" name="Text 56"/>
          <p:cNvSpPr/>
          <p:nvPr/>
        </p:nvSpPr>
        <p:spPr>
          <a:xfrm>
            <a:off x="4396889" y="3613166"/>
            <a:ext cx="382146" cy="196025"/>
          </a:xfrm>
          <a:prstGeom prst="roundRect">
            <a:avLst>
              <a:gd name="adj" fmla="val 4854215"/>
            </a:avLst>
          </a:prstGeom>
          <a:solidFill>
            <a:srgbClr val="FBF1D9"/>
          </a:solidFill>
          <a:ln/>
        </p:spPr>
        <p:txBody>
          <a:bodyPr wrap="square" rtlCol="0" anchor="ctr"/>
          <a:lstStyle/>
          <a:p>
            <a:pPr indent="0" marL="0">
              <a:buNone/>
            </a:pPr>
            <a:endParaRPr lang="en-US" dirty="0"/>
          </a:p>
        </p:txBody>
      </p:sp>
      <p:sp>
        <p:nvSpPr>
          <p:cNvPr id="59" name="Text 57"/>
          <p:cNvSpPr/>
          <p:nvPr/>
        </p:nvSpPr>
        <p:spPr>
          <a:xfrm>
            <a:off x="4411042" y="3623667"/>
            <a:ext cx="353839" cy="175022"/>
          </a:xfrm>
          <a:prstGeom prst="rect">
            <a:avLst/>
          </a:prstGeom>
          <a:noFill/>
          <a:ln/>
        </p:spPr>
        <p:txBody>
          <a:bodyPr wrap="none" lIns="0" tIns="0" rIns="0" bIns="0" rtlCol="0" anchor="ctr"/>
          <a:lstStyle/>
          <a:p>
            <a:pPr algn="ctr" indent="0" marL="0">
              <a:lnSpc>
                <a:spcPts val="928"/>
              </a:lnSpc>
              <a:buNone/>
            </a:pPr>
            <a:r>
              <a:rPr lang="en-US" sz="800" b="1" spc="50" kern="0" dirty="0">
                <a:solidFill>
                  <a:srgbClr val="C28A00"/>
                </a:solidFill>
                <a:latin typeface="Courier New" pitchFamily="34" charset="0"/>
                <a:ea typeface="Courier New" pitchFamily="34" charset="-122"/>
                <a:cs typeface="Courier New" pitchFamily="34" charset="-120"/>
              </a:rPr>
              <a:t>WARN</a:t>
            </a:r>
            <a:endParaRPr lang="en-US" sz="800" dirty="0"/>
          </a:p>
        </p:txBody>
      </p:sp>
      <p:sp>
        <p:nvSpPr>
          <p:cNvPr id="60" name="Text 58"/>
          <p:cNvSpPr/>
          <p:nvPr/>
        </p:nvSpPr>
        <p:spPr>
          <a:xfrm>
            <a:off x="460772" y="4057650"/>
            <a:ext cx="4421981" cy="564356"/>
          </a:xfrm>
          <a:prstGeom prst="roundRect">
            <a:avLst>
              <a:gd name="adj" fmla="val 10127"/>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61" name="Text 59"/>
          <p:cNvSpPr/>
          <p:nvPr/>
        </p:nvSpPr>
        <p:spPr>
          <a:xfrm>
            <a:off x="521494" y="4225528"/>
            <a:ext cx="371475" cy="246888"/>
          </a:xfrm>
          <a:prstGeom prst="rect">
            <a:avLst/>
          </a:prstGeom>
          <a:noFill/>
          <a:ln/>
        </p:spPr>
        <p:txBody>
          <a:bodyPr wrap="none" lIns="0" tIns="0" rIns="0" bIns="0" rtlCol="0" anchor="t"/>
          <a:lstStyle/>
          <a:p>
            <a:pPr algn="ctr" indent="0" marL="0">
              <a:lnSpc>
                <a:spcPts val="1800"/>
              </a:lnSpc>
              <a:buNone/>
            </a:pPr>
            <a:r>
              <a:rPr lang="en-US" sz="1800" b="1" dirty="0">
                <a:solidFill>
                  <a:srgbClr val="0F4C5C"/>
                </a:solidFill>
                <a:latin typeface="Liberation Sans Narrow" pitchFamily="34" charset="0"/>
                <a:ea typeface="Liberation Sans Narrow" pitchFamily="34" charset="-122"/>
                <a:cs typeface="Liberation Sans Narrow" pitchFamily="34" charset="-120"/>
              </a:rPr>
              <a:t>5</a:t>
            </a:r>
            <a:endParaRPr lang="en-US" sz="1800" dirty="0"/>
          </a:p>
        </p:txBody>
      </p:sp>
      <p:sp>
        <p:nvSpPr>
          <p:cNvPr id="62" name="Text 60"/>
          <p:cNvSpPr/>
          <p:nvPr/>
        </p:nvSpPr>
        <p:spPr>
          <a:xfrm>
            <a:off x="807244" y="4187354"/>
            <a:ext cx="3694176" cy="161877"/>
          </a:xfrm>
          <a:prstGeom prst="rect">
            <a:avLst/>
          </a:prstGeom>
          <a:noFill/>
          <a:ln/>
        </p:spPr>
        <p:txBody>
          <a:bodyPr wrap="none" lIns="0" tIns="0" rIns="0" bIns="0" rtlCol="0" anchor="t">
            <a:normAutofit/>
          </a:bodyPr>
          <a:lstStyle/>
          <a:p>
            <a:pPr algn="l" indent="0" marL="0">
              <a:lnSpc>
                <a:spcPts val="1266"/>
              </a:lnSpc>
              <a:buNone/>
            </a:pPr>
            <a:r>
              <a:rPr lang="en-US" sz="844" b="1" dirty="0">
                <a:solidFill>
                  <a:srgbClr val="0F4C5C"/>
                </a:solidFill>
                <a:latin typeface="Carlito" pitchFamily="34" charset="0"/>
                <a:ea typeface="Carlito" pitchFamily="34" charset="-122"/>
                <a:cs typeface="Carlito" pitchFamily="34" charset="-120"/>
              </a:rPr>
              <a:t>Numeric</a:t>
            </a:r>
            <a:endParaRPr lang="en-US" sz="844" dirty="0"/>
          </a:p>
        </p:txBody>
      </p:sp>
      <p:sp>
        <p:nvSpPr>
          <p:cNvPr id="63" name="Text 61"/>
          <p:cNvSpPr/>
          <p:nvPr/>
        </p:nvSpPr>
        <p:spPr>
          <a:xfrm>
            <a:off x="807244" y="4376663"/>
            <a:ext cx="3116961" cy="148019"/>
          </a:xfrm>
          <a:prstGeom prst="rect">
            <a:avLst/>
          </a:prstGeom>
          <a:noFill/>
          <a:ln/>
        </p:spPr>
        <p:txBody>
          <a:bodyPr wrap="square" lIns="0" tIns="0" rIns="0" bIns="0" rtlCol="0" anchor="t"/>
          <a:lstStyle/>
          <a:p>
            <a:pPr algn="l" indent="0" marL="0">
              <a:lnSpc>
                <a:spcPts val="911"/>
              </a:lnSpc>
              <a:buNone/>
            </a:pPr>
            <a:r>
              <a:rPr lang="en-US" sz="800" dirty="0">
                <a:solidFill>
                  <a:srgbClr val="4A4A4A"/>
                </a:solidFill>
                <a:latin typeface="Carlito" pitchFamily="34" charset="0"/>
                <a:ea typeface="Carlito" pitchFamily="34" charset="-122"/>
                <a:cs typeface="Carlito" pitchFamily="34" charset="-120"/>
              </a:rPr>
              <a:t>Pass only on a verified ground-truth row match.</a:t>
            </a:r>
            <a:endParaRPr lang="en-US" sz="800" dirty="0"/>
          </a:p>
        </p:txBody>
      </p:sp>
      <p:sp>
        <p:nvSpPr>
          <p:cNvPr id="64" name="Text 62"/>
          <p:cNvSpPr/>
          <p:nvPr/>
        </p:nvSpPr>
        <p:spPr>
          <a:xfrm>
            <a:off x="4396889" y="4241816"/>
            <a:ext cx="382146" cy="196025"/>
          </a:xfrm>
          <a:prstGeom prst="roundRect">
            <a:avLst>
              <a:gd name="adj" fmla="val 4854215"/>
            </a:avLst>
          </a:prstGeom>
          <a:solidFill>
            <a:srgbClr val="E2F0E6"/>
          </a:solidFill>
          <a:ln/>
        </p:spPr>
        <p:txBody>
          <a:bodyPr wrap="square" rtlCol="0" anchor="ctr"/>
          <a:lstStyle/>
          <a:p>
            <a:pPr indent="0" marL="0">
              <a:buNone/>
            </a:pPr>
            <a:endParaRPr lang="en-US" dirty="0"/>
          </a:p>
        </p:txBody>
      </p:sp>
      <p:sp>
        <p:nvSpPr>
          <p:cNvPr id="65" name="Text 63"/>
          <p:cNvSpPr/>
          <p:nvPr/>
        </p:nvSpPr>
        <p:spPr>
          <a:xfrm>
            <a:off x="4411042" y="4252317"/>
            <a:ext cx="353839" cy="175022"/>
          </a:xfrm>
          <a:prstGeom prst="rect">
            <a:avLst/>
          </a:prstGeom>
          <a:noFill/>
          <a:ln/>
        </p:spPr>
        <p:txBody>
          <a:bodyPr wrap="none" lIns="0" tIns="0" rIns="0" bIns="0" rtlCol="0" anchor="ctr"/>
          <a:lstStyle/>
          <a:p>
            <a:pPr algn="ctr" indent="0" marL="0">
              <a:lnSpc>
                <a:spcPts val="928"/>
              </a:lnSpc>
              <a:buNone/>
            </a:pPr>
            <a:r>
              <a:rPr lang="en-US" sz="800" b="1" spc="50" kern="0" dirty="0">
                <a:solidFill>
                  <a:srgbClr val="2F7A4F"/>
                </a:solidFill>
                <a:latin typeface="Courier New" pitchFamily="34" charset="0"/>
                <a:ea typeface="Courier New" pitchFamily="34" charset="-122"/>
                <a:cs typeface="Courier New" pitchFamily="34" charset="-120"/>
              </a:rPr>
              <a:t>PASS</a:t>
            </a:r>
            <a:endParaRPr lang="en-US" sz="800" dirty="0"/>
          </a:p>
        </p:txBody>
      </p:sp>
      <p:sp>
        <p:nvSpPr>
          <p:cNvPr id="66" name="Shape 64"/>
          <p:cNvSpPr/>
          <p:nvPr/>
        </p:nvSpPr>
        <p:spPr>
          <a:xfrm>
            <a:off x="5000625" y="1460897"/>
            <a:ext cx="821420" cy="0"/>
          </a:xfrm>
          <a:prstGeom prst="line">
            <a:avLst/>
          </a:prstGeom>
          <a:noFill/>
          <a:ln w="14288">
            <a:solidFill>
              <a:srgbClr val="E36414"/>
            </a:solidFill>
            <a:prstDash val="solid"/>
          </a:ln>
        </p:spPr>
      </p:sp>
      <p:sp>
        <p:nvSpPr>
          <p:cNvPr id="67" name="Text 65"/>
          <p:cNvSpPr/>
          <p:nvPr/>
        </p:nvSpPr>
        <p:spPr>
          <a:xfrm>
            <a:off x="5000625" y="1293019"/>
            <a:ext cx="1064354" cy="219027"/>
          </a:xfrm>
          <a:prstGeom prst="rect">
            <a:avLst/>
          </a:prstGeom>
          <a:noFill/>
          <a:ln/>
        </p:spPr>
        <p:txBody>
          <a:bodyPr wrap="none" lIns="0" tIns="0" rIns="0" bIns="42863" rtlCol="0" anchor="t">
            <a:normAutofit/>
          </a:bodyPr>
          <a:lstStyle/>
          <a:p>
            <a:pPr algn="l" indent="0" marL="0">
              <a:lnSpc>
                <a:spcPts val="928"/>
              </a:lnSpc>
              <a:buNone/>
            </a:pPr>
            <a:r>
              <a:rPr lang="en-US" sz="800" b="1" spc="99" kern="0" dirty="0">
                <a:solidFill>
                  <a:srgbClr val="7A7A7A"/>
                </a:solidFill>
                <a:latin typeface="Carlito" pitchFamily="34" charset="0"/>
                <a:ea typeface="Carlito" pitchFamily="34" charset="-122"/>
                <a:cs typeface="Carlito" pitchFamily="34" charset="-120"/>
              </a:rPr>
              <a:t>TWO GUARANTEES</a:t>
            </a:r>
            <a:endParaRPr lang="en-US" sz="800" dirty="0"/>
          </a:p>
        </p:txBody>
      </p:sp>
      <p:sp>
        <p:nvSpPr>
          <p:cNvPr id="68" name="Text 66"/>
          <p:cNvSpPr/>
          <p:nvPr/>
        </p:nvSpPr>
        <p:spPr>
          <a:xfrm>
            <a:off x="5004197" y="1543050"/>
            <a:ext cx="3679031" cy="1493044"/>
          </a:xfrm>
          <a:prstGeom prst="roundRect">
            <a:avLst>
              <a:gd name="adj" fmla="val 3828"/>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69" name="Text 67"/>
          <p:cNvSpPr/>
          <p:nvPr/>
        </p:nvSpPr>
        <p:spPr>
          <a:xfrm>
            <a:off x="5136356" y="1660922"/>
            <a:ext cx="200025" cy="200025"/>
          </a:xfrm>
          <a:prstGeom prst="rect">
            <a:avLst/>
          </a:prstGeom>
          <a:noFill/>
          <a:ln/>
        </p:spPr>
        <p:txBody>
          <a:bodyPr wrap="none" lIns="0" tIns="0" rIns="0" bIns="0" rtlCol="0" anchor="ctr"/>
          <a:lstStyle/>
          <a:p>
            <a:pPr algn="ctr" indent="0" marL="0">
              <a:buNone/>
            </a:pPr>
            <a:r>
              <a:rPr lang="en-US" sz="1969" dirty="0">
                <a:solidFill>
                  <a:srgbClr val="E36414"/>
                </a:solidFill>
                <a:latin typeface="Segoe UI Symbol" pitchFamily="34" charset="0"/>
                <a:ea typeface="Segoe UI Symbol" pitchFamily="34" charset="-122"/>
                <a:cs typeface="Segoe UI Symbol" pitchFamily="34" charset="-120"/>
              </a:rPr>
              <a:t>⚿</a:t>
            </a:r>
            <a:endParaRPr lang="en-US" sz="1969" dirty="0"/>
          </a:p>
        </p:txBody>
      </p:sp>
      <p:sp>
        <p:nvSpPr>
          <p:cNvPr id="70" name="Text 68"/>
          <p:cNvSpPr/>
          <p:nvPr/>
        </p:nvSpPr>
        <p:spPr>
          <a:xfrm>
            <a:off x="5136356" y="1918097"/>
            <a:ext cx="3524440" cy="164592"/>
          </a:xfrm>
          <a:prstGeom prst="rect">
            <a:avLst/>
          </a:prstGeom>
          <a:noFill/>
          <a:ln/>
        </p:spPr>
        <p:txBody>
          <a:bodyPr wrap="square" lIns="0" tIns="0" rIns="0" bIns="0" rtlCol="0" anchor="t"/>
          <a:lstStyle/>
          <a:p>
            <a:pPr algn="l" indent="0" marL="0">
              <a:lnSpc>
                <a:spcPts val="1181"/>
              </a:lnSpc>
              <a:buNone/>
            </a:pPr>
            <a:r>
              <a:rPr lang="en-US" sz="800" b="1" dirty="0">
                <a:solidFill>
                  <a:srgbClr val="0F4C5C"/>
                </a:solidFill>
                <a:latin typeface="Carlito" pitchFamily="34" charset="0"/>
                <a:ea typeface="Carlito" pitchFamily="34" charset="-122"/>
                <a:cs typeface="Carlito" pitchFamily="34" charset="-120"/>
              </a:rPr>
              <a:t>Safety-B: hash before retrieval</a:t>
            </a:r>
            <a:endParaRPr lang="en-US" sz="800" dirty="0"/>
          </a:p>
        </p:txBody>
      </p:sp>
      <p:sp>
        <p:nvSpPr>
          <p:cNvPr id="71" name="Text 69"/>
          <p:cNvSpPr/>
          <p:nvPr/>
        </p:nvSpPr>
        <p:spPr>
          <a:xfrm>
            <a:off x="5136356" y="2125266"/>
            <a:ext cx="3414713" cy="493776"/>
          </a:xfrm>
          <a:prstGeom prst="rect">
            <a:avLst/>
          </a:prstGeom>
          <a:noFill/>
          <a:ln/>
        </p:spPr>
        <p:txBody>
          <a:bodyPr wrap="square" lIns="0" tIns="0" rIns="0" bIns="0" rtlCol="0" anchor="t"/>
          <a:lstStyle/>
          <a:p>
            <a:pPr algn="l" indent="0" marL="0">
              <a:lnSpc>
                <a:spcPts val="1055"/>
              </a:lnSpc>
              <a:buNone/>
            </a:pPr>
            <a:r>
              <a:rPr lang="en-US" sz="800" dirty="0">
                <a:solidFill>
                  <a:srgbClr val="1A1A1A"/>
                </a:solidFill>
                <a:latin typeface="Carlito" pitchFamily="34" charset="0"/>
                <a:ea typeface="Carlito" pitchFamily="34" charset="-122"/>
                <a:cs typeface="Carlito" pitchFamily="34" charset="-120"/>
              </a:rPr>
              <a:t>hash = SHA-256(claim + decision + reason + rule-version), computed before any document text is read. A planted “ignore the caveat” chunk changes nothing — the verdict is identical.</a:t>
            </a:r>
            <a:endParaRPr lang="en-US" sz="800" dirty="0"/>
          </a:p>
        </p:txBody>
      </p:sp>
      <p:sp>
        <p:nvSpPr>
          <p:cNvPr id="72" name="Text 70"/>
          <p:cNvSpPr/>
          <p:nvPr/>
        </p:nvSpPr>
        <p:spPr>
          <a:xfrm>
            <a:off x="5004197" y="3100388"/>
            <a:ext cx="3679031" cy="1493044"/>
          </a:xfrm>
          <a:prstGeom prst="roundRect">
            <a:avLst>
              <a:gd name="adj" fmla="val 3828"/>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73" name="Text 71"/>
          <p:cNvSpPr/>
          <p:nvPr/>
        </p:nvSpPr>
        <p:spPr>
          <a:xfrm>
            <a:off x="5136356" y="3218259"/>
            <a:ext cx="200025" cy="200025"/>
          </a:xfrm>
          <a:prstGeom prst="rect">
            <a:avLst/>
          </a:prstGeom>
          <a:noFill/>
          <a:ln/>
        </p:spPr>
        <p:txBody>
          <a:bodyPr wrap="none" lIns="0" tIns="0" rIns="0" bIns="0" rtlCol="0" anchor="ctr"/>
          <a:lstStyle/>
          <a:p>
            <a:pPr algn="ctr" indent="0" marL="0">
              <a:buNone/>
            </a:pPr>
            <a:r>
              <a:rPr lang="en-US" sz="1969" dirty="0">
                <a:solidFill>
                  <a:srgbClr val="E36414"/>
                </a:solidFill>
                <a:latin typeface="Segoe UI Symbol" pitchFamily="34" charset="0"/>
                <a:ea typeface="Segoe UI Symbol" pitchFamily="34" charset="-122"/>
                <a:cs typeface="Segoe UI Symbol" pitchFamily="34" charset="-120"/>
              </a:rPr>
              <a:t>⎙</a:t>
            </a:r>
            <a:endParaRPr lang="en-US" sz="1969" dirty="0"/>
          </a:p>
        </p:txBody>
      </p:sp>
      <p:sp>
        <p:nvSpPr>
          <p:cNvPr id="74" name="Text 72"/>
          <p:cNvSpPr/>
          <p:nvPr/>
        </p:nvSpPr>
        <p:spPr>
          <a:xfrm>
            <a:off x="5136356" y="3475434"/>
            <a:ext cx="3524440" cy="164592"/>
          </a:xfrm>
          <a:prstGeom prst="rect">
            <a:avLst/>
          </a:prstGeom>
          <a:noFill/>
          <a:ln/>
        </p:spPr>
        <p:txBody>
          <a:bodyPr wrap="square" lIns="0" tIns="0" rIns="0" bIns="0" rtlCol="0" anchor="t"/>
          <a:lstStyle/>
          <a:p>
            <a:pPr algn="l" indent="0" marL="0">
              <a:lnSpc>
                <a:spcPts val="1181"/>
              </a:lnSpc>
              <a:buNone/>
            </a:pPr>
            <a:r>
              <a:rPr lang="en-US" sz="800" b="1" dirty="0">
                <a:solidFill>
                  <a:srgbClr val="0F4C5C"/>
                </a:solidFill>
                <a:latin typeface="Carlito" pitchFamily="34" charset="0"/>
                <a:ea typeface="Carlito" pitchFamily="34" charset="-122"/>
                <a:cs typeface="Carlito" pitchFamily="34" charset="-120"/>
              </a:rPr>
              <a:t>Field-guard: exact match, not cosine</a:t>
            </a:r>
            <a:endParaRPr lang="en-US" sz="800" dirty="0"/>
          </a:p>
        </p:txBody>
      </p:sp>
      <p:sp>
        <p:nvSpPr>
          <p:cNvPr id="75" name="Text 73"/>
          <p:cNvSpPr/>
          <p:nvPr/>
        </p:nvSpPr>
        <p:spPr>
          <a:xfrm>
            <a:off x="5136356" y="3682603"/>
            <a:ext cx="3414713" cy="493776"/>
          </a:xfrm>
          <a:prstGeom prst="rect">
            <a:avLst/>
          </a:prstGeom>
          <a:noFill/>
          <a:ln/>
        </p:spPr>
        <p:txBody>
          <a:bodyPr wrap="square" lIns="0" tIns="0" rIns="0" bIns="0" rtlCol="0" anchor="t"/>
          <a:lstStyle/>
          <a:p>
            <a:pPr algn="l" indent="0" marL="0">
              <a:lnSpc>
                <a:spcPts val="1055"/>
              </a:lnSpc>
              <a:buNone/>
            </a:pPr>
            <a:r>
              <a:rPr lang="en-US" sz="800" dirty="0">
                <a:solidFill>
                  <a:srgbClr val="1A1A1A"/>
                </a:solidFill>
                <a:latin typeface="Carlito" pitchFamily="34" charset="0"/>
                <a:ea typeface="Carlito" pitchFamily="34" charset="-122"/>
                <a:cs typeface="Carlito" pitchFamily="34" charset="-120"/>
              </a:rPr>
              <a:t>No cosine threshold is safe on either embedder we tested, so the cache reuses an answer only on exact critical-field match. Zero collisions across 19 danger pairs (floor 0.83).</a:t>
            </a:r>
            <a:endParaRPr lang="en-US" sz="800" dirty="0"/>
          </a:p>
        </p:txBody>
      </p:sp>
      <p:sp>
        <p:nvSpPr>
          <p:cNvPr id="76" name="Text 74"/>
          <p:cNvSpPr/>
          <p:nvPr/>
        </p:nvSpPr>
        <p:spPr>
          <a:xfrm>
            <a:off x="0" y="4943475"/>
            <a:ext cx="9144000" cy="200025"/>
          </a:xfrm>
          <a:prstGeom prst="rect">
            <a:avLst/>
          </a:prstGeom>
          <a:solidFill>
            <a:srgbClr val="FFFFFF"/>
          </a:solidFill>
          <a:ln/>
        </p:spPr>
        <p:txBody>
          <a:bodyPr wrap="square" rtlCol="0" anchor="ctr"/>
          <a:lstStyle/>
          <a:p>
            <a:pPr indent="0" marL="0">
              <a:buNone/>
            </a:pPr>
            <a:endParaRPr lang="en-US" dirty="0"/>
          </a:p>
        </p:txBody>
      </p:sp>
      <p:sp>
        <p:nvSpPr>
          <p:cNvPr id="77" name="Shape 75"/>
          <p:cNvSpPr/>
          <p:nvPr/>
        </p:nvSpPr>
        <p:spPr>
          <a:xfrm>
            <a:off x="0" y="4947047"/>
            <a:ext cx="9144000" cy="0"/>
          </a:xfrm>
          <a:prstGeom prst="line">
            <a:avLst/>
          </a:prstGeom>
          <a:noFill/>
          <a:ln w="7144">
            <a:solidFill>
              <a:srgbClr val="D8D2CB"/>
            </a:solidFill>
            <a:prstDash val="solid"/>
          </a:ln>
        </p:spPr>
      </p:sp>
      <p:sp>
        <p:nvSpPr>
          <p:cNvPr id="78" name="Text 76"/>
          <p:cNvSpPr/>
          <p:nvPr/>
        </p:nvSpPr>
        <p:spPr>
          <a:xfrm>
            <a:off x="342900" y="4990802"/>
            <a:ext cx="6154675" cy="152698"/>
          </a:xfrm>
          <a:prstGeom prst="rect">
            <a:avLst/>
          </a:prstGeom>
          <a:noFill/>
          <a:ln/>
        </p:spPr>
        <p:txBody>
          <a:bodyPr wrap="none" lIns="0" tIns="0" rIns="0" bIns="0" rtlCol="0" anchor="t"/>
          <a:lstStyle/>
          <a:p>
            <a:pPr algn="l" indent="0" marL="0">
              <a:lnSpc>
                <a:spcPts val="886"/>
              </a:lnSpc>
              <a:buNone/>
            </a:pPr>
            <a:r>
              <a:rPr lang="en-US" sz="800" spc="24" kern="0" dirty="0">
                <a:solidFill>
                  <a:srgbClr val="0F4C5C"/>
                </a:solidFill>
                <a:latin typeface="Carlito" pitchFamily="34" charset="0"/>
                <a:ea typeface="Carlito" pitchFamily="34" charset="-122"/>
                <a:cs typeface="Carlito" pitchFamily="34" charset="-120"/>
              </a:rPr>
              <a:t>Vidhi Guardian | Ajay Choudhary (MSAI @ Plaksha)</a:t>
            </a:r>
            <a:endParaRPr lang="en-US" sz="800" dirty="0"/>
          </a:p>
        </p:txBody>
      </p:sp>
      <p:sp>
        <p:nvSpPr>
          <p:cNvPr id="79" name="Text 77"/>
          <p:cNvSpPr/>
          <p:nvPr/>
        </p:nvSpPr>
        <p:spPr>
          <a:xfrm>
            <a:off x="6511863" y="4990802"/>
            <a:ext cx="2289237" cy="152698"/>
          </a:xfrm>
          <a:prstGeom prst="rect">
            <a:avLst/>
          </a:prstGeom>
          <a:noFill/>
          <a:ln/>
        </p:spPr>
        <p:txBody>
          <a:bodyPr wrap="square" lIns="0" tIns="0" rIns="0" bIns="0" rtlCol="0" anchor="t"/>
          <a:lstStyle/>
          <a:p>
            <a:pPr algn="l" indent="0" marL="0">
              <a:lnSpc>
                <a:spcPts val="886"/>
              </a:lnSpc>
              <a:buNone/>
            </a:pPr>
            <a:r>
              <a:rPr lang="en-US" sz="600" spc="24" kern="0" dirty="0">
                <a:solidFill>
                  <a:srgbClr val="0F4C5C"/>
                </a:solidFill>
                <a:latin typeface="Courier New" pitchFamily="34" charset="0"/>
                <a:ea typeface="Courier New" pitchFamily="34" charset="-122"/>
                <a:cs typeface="Courier New" pitchFamily="34" charset="-120"/>
              </a:rPr>
              <a:t>ConfAI 2026 · Track 06 Responsible &amp; Ethical AI | 3 / 7</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7175"/>
            <a:ext cx="3164819" cy="164592"/>
          </a:xfrm>
          <a:prstGeom prst="rect">
            <a:avLst/>
          </a:prstGeom>
          <a:noFill/>
          <a:ln/>
        </p:spPr>
        <p:txBody>
          <a:bodyPr wrap="square" lIns="0" tIns="0" rIns="0" bIns="0" rtlCol="0" anchor="t"/>
          <a:lstStyle/>
          <a:p>
            <a:pPr algn="l" indent="0" marL="0">
              <a:lnSpc>
                <a:spcPts val="886"/>
              </a:lnSpc>
              <a:buNone/>
            </a:pPr>
            <a:r>
              <a:rPr lang="en-US" sz="800" b="1" spc="106" kern="0" dirty="0">
                <a:solidFill>
                  <a:srgbClr val="E36414"/>
                </a:solidFill>
                <a:latin typeface="Carlito" pitchFamily="34" charset="0"/>
                <a:ea typeface="Carlito" pitchFamily="34" charset="-122"/>
                <a:cs typeface="Carlito" pitchFamily="34" charset="-120"/>
              </a:rPr>
              <a:t>LIVE DEMO · SCREENSHOTS FROM LOCALHOST:8001/DEMO</a:t>
            </a:r>
            <a:endParaRPr lang="en-US" sz="800" dirty="0"/>
          </a:p>
        </p:txBody>
      </p:sp>
      <p:sp>
        <p:nvSpPr>
          <p:cNvPr id="3" name="Text 1"/>
          <p:cNvSpPr/>
          <p:nvPr/>
        </p:nvSpPr>
        <p:spPr>
          <a:xfrm>
            <a:off x="457200" y="428625"/>
            <a:ext cx="4168244" cy="248335"/>
          </a:xfrm>
          <a:prstGeom prst="rect">
            <a:avLst/>
          </a:prstGeom>
          <a:noFill/>
          <a:ln/>
        </p:spPr>
        <p:txBody>
          <a:bodyPr wrap="square" lIns="0" tIns="0" rIns="0" bIns="0" rtlCol="0" anchor="t"/>
          <a:lstStyle/>
          <a:p>
            <a:pPr algn="l" indent="0" marL="0">
              <a:lnSpc>
                <a:spcPts val="1811"/>
              </a:lnSpc>
              <a:buNone/>
            </a:pPr>
            <a:r>
              <a:rPr lang="en-US" sz="1575" b="1" dirty="0">
                <a:solidFill>
                  <a:srgbClr val="0F4C5C"/>
                </a:solidFill>
                <a:latin typeface="Tinos" pitchFamily="34" charset="0"/>
                <a:ea typeface="Tinos" pitchFamily="34" charset="-122"/>
                <a:cs typeface="Tinos" pitchFamily="34" charset="-120"/>
              </a:rPr>
              <a:t>Verified answers: a PASS and a 4-slice table.</a:t>
            </a:r>
            <a:endParaRPr lang="en-US" sz="1575" dirty="0"/>
          </a:p>
        </p:txBody>
      </p:sp>
      <p:sp>
        <p:nvSpPr>
          <p:cNvPr id="4" name="Text 2"/>
          <p:cNvSpPr/>
          <p:nvPr/>
        </p:nvSpPr>
        <p:spPr>
          <a:xfrm>
            <a:off x="457200" y="771525"/>
            <a:ext cx="2248942" cy="164592"/>
          </a:xfrm>
          <a:prstGeom prst="rect">
            <a:avLst/>
          </a:prstGeom>
          <a:noFill/>
          <a:ln/>
        </p:spPr>
        <p:txBody>
          <a:bodyPr wrap="square" lIns="0" tIns="0" rIns="0" bIns="0" rtlCol="0" anchor="t"/>
          <a:lstStyle/>
          <a:p>
            <a:pPr algn="l" indent="0" marL="0">
              <a:lnSpc>
                <a:spcPts val="1013"/>
              </a:lnSpc>
              <a:buNone/>
            </a:pPr>
            <a:r>
              <a:rPr lang="en-US" sz="675" i="1" dirty="0">
                <a:solidFill>
                  <a:srgbClr val="7A7A7A"/>
                </a:solidFill>
                <a:latin typeface="Carlito" pitchFamily="34" charset="0"/>
                <a:ea typeface="Carlito" pitchFamily="34" charset="-122"/>
                <a:cs typeface="Carlito" pitchFamily="34" charset="-120"/>
              </a:rPr>
              <a:t>Captured live from vidhi/demo.html while building this deck.</a:t>
            </a:r>
            <a:endParaRPr lang="en-US" sz="675" dirty="0"/>
          </a:p>
        </p:txBody>
      </p:sp>
      <p:sp>
        <p:nvSpPr>
          <p:cNvPr id="5" name="Text 3"/>
          <p:cNvSpPr/>
          <p:nvPr/>
        </p:nvSpPr>
        <p:spPr>
          <a:xfrm>
            <a:off x="460772" y="1075134"/>
            <a:ext cx="4050506" cy="3636169"/>
          </a:xfrm>
          <a:prstGeom prst="roundRect">
            <a:avLst>
              <a:gd name="adj" fmla="val 1572"/>
            </a:avLst>
          </a:prstGeom>
          <a:solidFill>
            <a:srgbClr val="FFFFFF"/>
          </a:solidFill>
          <a:ln w="7144">
            <a:solidFill>
              <a:srgbClr val="D8D2CB"/>
            </a:solidFill>
            <a:prstDash val="solid"/>
          </a:ln>
          <a:effectLst>
            <a:outerShdw sx="100000" sy="100000" kx="0" ky="0" algn="bl" rotWithShape="0" blurRad="19050" dist="9525" dir="5400000">
              <a:srgbClr val="0F4C5C">
                <a:alpha val="4000"/>
              </a:srgbClr>
            </a:outerShdw>
          </a:effectLst>
        </p:spPr>
        <p:txBody>
          <a:bodyPr wrap="square" rtlCol="0" anchor="ctr"/>
          <a:lstStyle/>
          <a:p>
            <a:pPr indent="0" marL="0">
              <a:buNone/>
            </a:pPr>
            <a:endParaRPr lang="en-US" dirty="0"/>
          </a:p>
        </p:txBody>
      </p:sp>
      <p:sp>
        <p:nvSpPr>
          <p:cNvPr id="6" name="Text 4"/>
          <p:cNvSpPr/>
          <p:nvPr/>
        </p:nvSpPr>
        <p:spPr>
          <a:xfrm>
            <a:off x="464344" y="1078706"/>
            <a:ext cx="4043363" cy="228600"/>
          </a:xfrm>
          <a:prstGeom prst="rect">
            <a:avLst/>
          </a:prstGeom>
          <a:solidFill>
            <a:srgbClr val="F6F4F1"/>
          </a:solidFill>
          <a:ln/>
        </p:spPr>
        <p:txBody>
          <a:bodyPr wrap="square" rtlCol="0" anchor="ctr"/>
          <a:lstStyle/>
          <a:p>
            <a:pPr indent="0" marL="0">
              <a:buNone/>
            </a:pPr>
            <a:endParaRPr lang="en-US" dirty="0"/>
          </a:p>
        </p:txBody>
      </p:sp>
      <p:sp>
        <p:nvSpPr>
          <p:cNvPr id="7" name="Shape 5"/>
          <p:cNvSpPr/>
          <p:nvPr/>
        </p:nvSpPr>
        <p:spPr>
          <a:xfrm>
            <a:off x="464344" y="1303734"/>
            <a:ext cx="4043363" cy="0"/>
          </a:xfrm>
          <a:prstGeom prst="line">
            <a:avLst/>
          </a:prstGeom>
          <a:noFill/>
          <a:ln w="7144">
            <a:solidFill>
              <a:srgbClr val="D8D2CB"/>
            </a:solidFill>
            <a:prstDash val="solid"/>
          </a:ln>
        </p:spPr>
      </p:sp>
      <p:sp>
        <p:nvSpPr>
          <p:cNvPr id="8" name="Text 6"/>
          <p:cNvSpPr/>
          <p:nvPr/>
        </p:nvSpPr>
        <p:spPr>
          <a:xfrm>
            <a:off x="550069" y="1153716"/>
            <a:ext cx="71438" cy="71438"/>
          </a:xfrm>
          <a:prstGeom prst="ellipse">
            <a:avLst/>
          </a:prstGeom>
          <a:solidFill>
            <a:srgbClr val="E36414"/>
          </a:solidFill>
          <a:ln/>
        </p:spPr>
        <p:txBody>
          <a:bodyPr wrap="square" rtlCol="0" anchor="ctr"/>
          <a:lstStyle/>
          <a:p>
            <a:pPr indent="0" marL="0">
              <a:buNone/>
            </a:pPr>
            <a:endParaRPr lang="en-US" dirty="0"/>
          </a:p>
        </p:txBody>
      </p:sp>
      <p:sp>
        <p:nvSpPr>
          <p:cNvPr id="9" name="Text 7"/>
          <p:cNvSpPr/>
          <p:nvPr/>
        </p:nvSpPr>
        <p:spPr>
          <a:xfrm>
            <a:off x="692944" y="1153716"/>
            <a:ext cx="71438" cy="71438"/>
          </a:xfrm>
          <a:prstGeom prst="ellipse">
            <a:avLst/>
          </a:prstGeom>
          <a:solidFill>
            <a:srgbClr val="C9DDE0"/>
          </a:solidFill>
          <a:ln/>
        </p:spPr>
        <p:txBody>
          <a:bodyPr wrap="square" rtlCol="0" anchor="ctr"/>
          <a:lstStyle/>
          <a:p>
            <a:pPr indent="0" marL="0">
              <a:buNone/>
            </a:pPr>
            <a:endParaRPr lang="en-US" dirty="0"/>
          </a:p>
        </p:txBody>
      </p:sp>
      <p:sp>
        <p:nvSpPr>
          <p:cNvPr id="10" name="Text 8"/>
          <p:cNvSpPr/>
          <p:nvPr/>
        </p:nvSpPr>
        <p:spPr>
          <a:xfrm>
            <a:off x="835819" y="1153716"/>
            <a:ext cx="71438" cy="71438"/>
          </a:xfrm>
          <a:prstGeom prst="ellipse">
            <a:avLst/>
          </a:prstGeom>
          <a:solidFill>
            <a:srgbClr val="2F7A4F"/>
          </a:solidFill>
          <a:ln/>
        </p:spPr>
        <p:txBody>
          <a:bodyPr wrap="square" rtlCol="0" anchor="ctr"/>
          <a:lstStyle/>
          <a:p>
            <a:pPr indent="0" marL="0">
              <a:buNone/>
            </a:pPr>
            <a:endParaRPr lang="en-US" dirty="0"/>
          </a:p>
        </p:txBody>
      </p:sp>
      <p:sp>
        <p:nvSpPr>
          <p:cNvPr id="11" name="Text 9"/>
          <p:cNvSpPr/>
          <p:nvPr/>
        </p:nvSpPr>
        <p:spPr>
          <a:xfrm>
            <a:off x="1055846" y="1105424"/>
            <a:ext cx="937349" cy="168021"/>
          </a:xfrm>
          <a:prstGeom prst="roundRect">
            <a:avLst>
              <a:gd name="adj" fmla="val 5663265"/>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12" name="Text 10"/>
          <p:cNvSpPr/>
          <p:nvPr/>
        </p:nvSpPr>
        <p:spPr>
          <a:xfrm>
            <a:off x="1078706" y="1114425"/>
            <a:ext cx="891629" cy="150019"/>
          </a:xfrm>
          <a:prstGeom prst="rect">
            <a:avLst/>
          </a:prstGeom>
          <a:noFill/>
          <a:ln/>
        </p:spPr>
        <p:txBody>
          <a:bodyPr wrap="square" lIns="0" tIns="0" rIns="0" bIns="0" rtlCol="0" anchor="ctr"/>
          <a:lstStyle/>
          <a:p>
            <a:pPr algn="ctr" indent="0" marL="0">
              <a:lnSpc>
                <a:spcPts val="844"/>
              </a:lnSpc>
              <a:buNone/>
            </a:pPr>
            <a:r>
              <a:rPr lang="en-US" sz="800" spc="11" kern="0" dirty="0">
                <a:solidFill>
                  <a:srgbClr val="7A7A7A"/>
                </a:solidFill>
                <a:latin typeface="Liberation Sans Narrow" pitchFamily="34" charset="0"/>
                <a:ea typeface="Liberation Sans Narrow" pitchFamily="34" charset="-122"/>
                <a:cs typeface="Liberation Sans Narrow" pitchFamily="34" charset="-120"/>
              </a:rPr>
              <a:t>localhost:8001/demo</a:t>
            </a:r>
            <a:endParaRPr lang="en-US" sz="800" dirty="0"/>
          </a:p>
        </p:txBody>
      </p:sp>
      <p:sp>
        <p:nvSpPr>
          <p:cNvPr id="13" name="Text 11"/>
          <p:cNvSpPr/>
          <p:nvPr/>
        </p:nvSpPr>
        <p:spPr>
          <a:xfrm>
            <a:off x="635794" y="1488579"/>
            <a:ext cx="2851696" cy="164592"/>
          </a:xfrm>
          <a:prstGeom prst="rect">
            <a:avLst/>
          </a:prstGeom>
          <a:noFill/>
          <a:ln/>
        </p:spPr>
        <p:txBody>
          <a:bodyPr wrap="none" lIns="0" tIns="0" rIns="0" bIns="0" rtlCol="0" anchor="t"/>
          <a:lstStyle/>
          <a:p>
            <a:pPr algn="l" indent="0" marL="0">
              <a:lnSpc>
                <a:spcPts val="886"/>
              </a:lnSpc>
              <a:buNone/>
            </a:pPr>
            <a:r>
              <a:rPr lang="en-US" sz="800" b="1" spc="106" kern="0" dirty="0">
                <a:solidFill>
                  <a:srgbClr val="7A7A7A"/>
                </a:solidFill>
                <a:latin typeface="Carlito" pitchFamily="34" charset="0"/>
                <a:ea typeface="Carlito" pitchFamily="34" charset="-122"/>
                <a:cs typeface="Carlito" pitchFamily="34" charset="-120"/>
              </a:rPr>
              <a:t>VERDICT</a:t>
            </a:r>
            <a:endParaRPr lang="en-US" sz="800" dirty="0"/>
          </a:p>
        </p:txBody>
      </p:sp>
      <p:sp>
        <p:nvSpPr>
          <p:cNvPr id="14" name="Text 12"/>
          <p:cNvSpPr/>
          <p:nvPr/>
        </p:nvSpPr>
        <p:spPr>
          <a:xfrm>
            <a:off x="3478917" y="1454825"/>
            <a:ext cx="880199" cy="180023"/>
          </a:xfrm>
          <a:prstGeom prst="roundRect">
            <a:avLst>
              <a:gd name="adj" fmla="val 5285700"/>
            </a:avLst>
          </a:prstGeom>
          <a:solidFill>
            <a:srgbClr val="E2F0E6"/>
          </a:solidFill>
          <a:ln/>
        </p:spPr>
        <p:txBody>
          <a:bodyPr wrap="square" rtlCol="0" anchor="ctr"/>
          <a:lstStyle/>
          <a:p>
            <a:pPr indent="0" marL="0">
              <a:buNone/>
            </a:pPr>
            <a:endParaRPr lang="en-US" dirty="0"/>
          </a:p>
        </p:txBody>
      </p:sp>
      <p:sp>
        <p:nvSpPr>
          <p:cNvPr id="15" name="Text 13"/>
          <p:cNvSpPr/>
          <p:nvPr/>
        </p:nvSpPr>
        <p:spPr>
          <a:xfrm>
            <a:off x="3501777" y="1464469"/>
            <a:ext cx="834479" cy="160734"/>
          </a:xfrm>
          <a:prstGeom prst="rect">
            <a:avLst/>
          </a:prstGeom>
          <a:noFill/>
          <a:ln/>
        </p:spPr>
        <p:txBody>
          <a:bodyPr wrap="square" lIns="0" tIns="0" rIns="0" bIns="0" rtlCol="0" anchor="ctr"/>
          <a:lstStyle/>
          <a:p>
            <a:pPr algn="ctr" indent="0" marL="0">
              <a:lnSpc>
                <a:spcPts val="928"/>
              </a:lnSpc>
              <a:buNone/>
            </a:pPr>
            <a:r>
              <a:rPr lang="en-US" sz="800" b="1" spc="31" kern="0" dirty="0">
                <a:solidFill>
                  <a:srgbClr val="2F7A4F"/>
                </a:solidFill>
                <a:latin typeface="Courier New" pitchFamily="34" charset="0"/>
                <a:ea typeface="Courier New" pitchFamily="34" charset="-122"/>
                <a:cs typeface="Courier New" pitchFamily="34" charset="-120"/>
              </a:rPr>
              <a:t>PASS_WITH_NUMBER</a:t>
            </a:r>
            <a:endParaRPr lang="en-US" sz="800" dirty="0"/>
          </a:p>
        </p:txBody>
      </p:sp>
      <p:sp>
        <p:nvSpPr>
          <p:cNvPr id="16" name="Text 14"/>
          <p:cNvSpPr/>
          <p:nvPr/>
        </p:nvSpPr>
        <p:spPr>
          <a:xfrm>
            <a:off x="635794" y="1768078"/>
            <a:ext cx="3871913" cy="420392"/>
          </a:xfrm>
          <a:prstGeom prst="rect">
            <a:avLst/>
          </a:prstGeom>
          <a:noFill/>
          <a:ln/>
        </p:spPr>
        <p:txBody>
          <a:bodyPr wrap="none" lIns="0" tIns="0" rIns="0" bIns="0" rtlCol="0" anchor="t">
            <a:normAutofit/>
          </a:bodyPr>
          <a:lstStyle/>
          <a:p>
            <a:pPr algn="l" indent="0" marL="0">
              <a:lnSpc>
                <a:spcPts val="3189"/>
              </a:lnSpc>
              <a:buNone/>
            </a:pPr>
            <a:r>
              <a:rPr lang="en-US" sz="3038" b="1" spc="-30" kern="0" dirty="0">
                <a:solidFill>
                  <a:srgbClr val="0F4C5C"/>
                </a:solidFill>
                <a:latin typeface="Liberation Sans Narrow" pitchFamily="34" charset="0"/>
                <a:ea typeface="Liberation Sans Narrow" pitchFamily="34" charset="-122"/>
                <a:cs typeface="Liberation Sans Narrow" pitchFamily="34" charset="-120"/>
              </a:rPr>
              <a:t>LFPR 59.3%</a:t>
            </a:r>
            <a:endParaRPr lang="en-US" sz="3038" dirty="0"/>
          </a:p>
        </p:txBody>
      </p:sp>
      <p:sp>
        <p:nvSpPr>
          <p:cNvPr id="17" name="Text 15"/>
          <p:cNvSpPr/>
          <p:nvPr/>
        </p:nvSpPr>
        <p:spPr>
          <a:xfrm>
            <a:off x="635794" y="2215902"/>
            <a:ext cx="3981641" cy="164592"/>
          </a:xfrm>
          <a:prstGeom prst="rect">
            <a:avLst/>
          </a:prstGeom>
          <a:noFill/>
          <a:ln/>
        </p:spPr>
        <p:txBody>
          <a:bodyPr wrap="square" lIns="0" tIns="0" rIns="0" bIns="0" rtlCol="0" anchor="t"/>
          <a:lstStyle/>
          <a:p>
            <a:pPr algn="l" indent="0" marL="0">
              <a:lnSpc>
                <a:spcPts val="1055"/>
              </a:lnSpc>
              <a:buNone/>
            </a:pPr>
            <a:r>
              <a:rPr lang="en-US" sz="800" dirty="0">
                <a:solidFill>
                  <a:srgbClr val="4A4A4A"/>
                </a:solidFill>
                <a:latin typeface="Carlito" pitchFamily="34" charset="0"/>
                <a:ea typeface="Carlito" pitchFamily="34" charset="-122"/>
                <a:cs typeface="Carlito" pitchFamily="34" charset="-120"/>
              </a:rPr>
              <a:t>all-India · age 15+ · usual status · PLFS 2025</a:t>
            </a:r>
            <a:endParaRPr lang="en-US" sz="800" dirty="0"/>
          </a:p>
        </p:txBody>
      </p:sp>
      <p:sp>
        <p:nvSpPr>
          <p:cNvPr id="18" name="Text 16"/>
          <p:cNvSpPr/>
          <p:nvPr/>
        </p:nvSpPr>
        <p:spPr>
          <a:xfrm>
            <a:off x="639366" y="2482007"/>
            <a:ext cx="3693319" cy="279499"/>
          </a:xfrm>
          <a:prstGeom prst="roundRect">
            <a:avLst>
              <a:gd name="adj" fmla="val 13632"/>
            </a:avLst>
          </a:prstGeom>
          <a:noFill/>
          <a:ln w="7144">
            <a:solidFill>
              <a:srgbClr val="D8D2CB"/>
            </a:solidFill>
            <a:prstDash val="solid"/>
          </a:ln>
        </p:spPr>
        <p:txBody>
          <a:bodyPr wrap="square" rtlCol="0" anchor="ctr"/>
          <a:lstStyle/>
          <a:p>
            <a:pPr indent="0" marL="0">
              <a:buNone/>
            </a:pPr>
            <a:endParaRPr lang="en-US" dirty="0"/>
          </a:p>
        </p:txBody>
      </p:sp>
      <p:sp>
        <p:nvSpPr>
          <p:cNvPr id="19" name="Text 17"/>
          <p:cNvSpPr/>
          <p:nvPr/>
        </p:nvSpPr>
        <p:spPr>
          <a:xfrm>
            <a:off x="635794" y="2478435"/>
            <a:ext cx="3700463" cy="352227"/>
          </a:xfrm>
          <a:prstGeom prst="rect">
            <a:avLst/>
          </a:prstGeom>
          <a:noFill/>
          <a:ln/>
        </p:spPr>
        <p:txBody>
          <a:bodyPr wrap="square" lIns="85725" tIns="71438" rIns="85725" bIns="71438" rtlCol="0" anchor="t"/>
          <a:lstStyle/>
          <a:p>
            <a:pPr algn="l" indent="0" marL="0">
              <a:lnSpc>
                <a:spcPts val="1020"/>
              </a:lnSpc>
              <a:buNone/>
            </a:pPr>
            <a:r>
              <a:rPr lang="en-US" sz="800" dirty="0">
                <a:solidFill>
                  <a:srgbClr val="7A7A7A"/>
                </a:solidFill>
                <a:latin typeface="Carlito" pitchFamily="34" charset="0"/>
                <a:ea typeface="Carlito" pitchFamily="34" charset="-122"/>
                <a:cs typeface="Carlito" pitchFamily="34" charset="-120"/>
              </a:rPr>
              <a:t>Q:</a:t>
            </a:r>
            <a:pPr algn="l" indent="0" marL="0">
              <a:lnSpc>
                <a:spcPts val="1020"/>
              </a:lnSpc>
              <a:buNone/>
            </a:pPr>
            <a:r>
              <a:rPr lang="en-US" sz="800" dirty="0">
                <a:solidFill>
                  <a:srgbClr val="1A1A1A"/>
                </a:solidFill>
                <a:latin typeface="Carlito" pitchFamily="34" charset="0"/>
                <a:ea typeface="Carlito" pitchFamily="34" charset="-122"/>
                <a:cs typeface="Carlito" pitchFamily="34" charset="-120"/>
              </a:rPr>
              <a:t>What was all-India LFPR for age 15+ in usual status in PLFS 2025?</a:t>
            </a:r>
            <a:endParaRPr lang="en-US" sz="800" dirty="0"/>
          </a:p>
        </p:txBody>
      </p:sp>
      <p:sp>
        <p:nvSpPr>
          <p:cNvPr id="20" name="Text 18"/>
          <p:cNvSpPr/>
          <p:nvPr/>
        </p:nvSpPr>
        <p:spPr>
          <a:xfrm>
            <a:off x="635794" y="2865090"/>
            <a:ext cx="3981641" cy="147590"/>
          </a:xfrm>
          <a:prstGeom prst="rect">
            <a:avLst/>
          </a:prstGeom>
          <a:noFill/>
          <a:ln/>
        </p:spPr>
        <p:txBody>
          <a:bodyPr wrap="square" lIns="0" tIns="0" rIns="0" bIns="0" rtlCol="0" anchor="t">
            <a:normAutofit/>
          </a:bodyPr>
          <a:lstStyle/>
          <a:p>
            <a:pPr algn="l" indent="0" marL="0">
              <a:lnSpc>
                <a:spcPts val="928"/>
              </a:lnSpc>
              <a:buNone/>
            </a:pPr>
            <a:r>
              <a:rPr lang="en-US" sz="800" dirty="0">
                <a:solidFill>
                  <a:srgbClr val="7A7A7A"/>
                </a:solidFill>
                <a:latin typeface="Courier New" pitchFamily="34" charset="0"/>
                <a:ea typeface="Courier New" pitchFamily="34" charset="-122"/>
                <a:cs typeface="Courier New" pitchFamily="34" charset="-120"/>
              </a:rPr>
              <a:t>hash 404272ed · rule-version v2026.10</a:t>
            </a:r>
            <a:endParaRPr lang="en-US" sz="800" dirty="0"/>
          </a:p>
        </p:txBody>
      </p:sp>
      <p:sp>
        <p:nvSpPr>
          <p:cNvPr id="21" name="Text 19"/>
          <p:cNvSpPr/>
          <p:nvPr/>
        </p:nvSpPr>
        <p:spPr>
          <a:xfrm>
            <a:off x="639366" y="3043684"/>
            <a:ext cx="3693319" cy="231391"/>
          </a:xfrm>
          <a:prstGeom prst="roundRect">
            <a:avLst>
              <a:gd name="adj" fmla="val 16466"/>
            </a:avLst>
          </a:prstGeom>
          <a:solidFill>
            <a:srgbClr val="F6F4F1"/>
          </a:solidFill>
          <a:ln w="7144">
            <a:solidFill>
              <a:srgbClr val="D8D2CB"/>
            </a:solidFill>
            <a:prstDash val="solid"/>
          </a:ln>
        </p:spPr>
        <p:txBody>
          <a:bodyPr wrap="square" rtlCol="0" anchor="ctr"/>
          <a:lstStyle/>
          <a:p>
            <a:pPr indent="0" marL="0">
              <a:buNone/>
            </a:pPr>
            <a:endParaRPr lang="en-US" dirty="0"/>
          </a:p>
        </p:txBody>
      </p:sp>
      <p:sp>
        <p:nvSpPr>
          <p:cNvPr id="22" name="Text 20"/>
          <p:cNvSpPr/>
          <p:nvPr/>
        </p:nvSpPr>
        <p:spPr>
          <a:xfrm>
            <a:off x="714375" y="3111550"/>
            <a:ext cx="100013" cy="100013"/>
          </a:xfrm>
          <a:prstGeom prst="rect">
            <a:avLst/>
          </a:prstGeom>
          <a:noFill/>
          <a:ln/>
        </p:spPr>
        <p:txBody>
          <a:bodyPr wrap="none" lIns="0" tIns="0" rIns="0" bIns="0" rtlCol="0" anchor="ctr"/>
          <a:lstStyle/>
          <a:p>
            <a:pPr algn="ctr" indent="0" marL="0">
              <a:buNone/>
            </a:pPr>
            <a:r>
              <a:rPr lang="en-US" sz="984" dirty="0">
                <a:solidFill>
                  <a:srgbClr val="0F4C5C"/>
                </a:solidFill>
                <a:latin typeface="Segoe UI Symbol" pitchFamily="34" charset="0"/>
                <a:ea typeface="Segoe UI Symbol" pitchFamily="34" charset="-122"/>
                <a:cs typeface="Segoe UI Symbol" pitchFamily="34" charset="-120"/>
              </a:rPr>
              <a:t>⌘</a:t>
            </a:r>
            <a:endParaRPr lang="en-US" sz="984" dirty="0"/>
          </a:p>
        </p:txBody>
      </p:sp>
      <p:sp>
        <p:nvSpPr>
          <p:cNvPr id="23" name="Text 21"/>
          <p:cNvSpPr/>
          <p:nvPr/>
        </p:nvSpPr>
        <p:spPr>
          <a:xfrm>
            <a:off x="857250" y="3104406"/>
            <a:ext cx="3400425" cy="109947"/>
          </a:xfrm>
          <a:prstGeom prst="rect">
            <a:avLst/>
          </a:prstGeom>
          <a:noFill/>
          <a:ln/>
        </p:spPr>
        <p:txBody>
          <a:bodyPr wrap="square" lIns="0" tIns="0" rIns="0" bIns="0" rtlCol="0" anchor="t"/>
          <a:lstStyle/>
          <a:p>
            <a:pPr algn="l" indent="0" marL="0">
              <a:lnSpc>
                <a:spcPts val="866"/>
              </a:lnSpc>
              <a:buNone/>
            </a:pPr>
            <a:r>
              <a:rPr lang="en-US" sz="619" dirty="0">
                <a:solidFill>
                  <a:srgbClr val="0F4C5C"/>
                </a:solidFill>
                <a:latin typeface="Carlito" pitchFamily="34" charset="0"/>
                <a:ea typeface="Carlito" pitchFamily="34" charset="-122"/>
                <a:cs typeface="Carlito" pitchFamily="34" charset="-120"/>
              </a:rPr>
              <a:t>Source:</a:t>
            </a:r>
            <a:pPr algn="l" indent="0" marL="0">
              <a:lnSpc>
                <a:spcPts val="866"/>
              </a:lnSpc>
              <a:buNone/>
            </a:pPr>
            <a:r>
              <a:rPr lang="en-US" sz="619" dirty="0">
                <a:solidFill>
                  <a:srgbClr val="4A4A4A"/>
                </a:solidFill>
                <a:latin typeface="Carlito" pitchFamily="34" charset="0"/>
                <a:ea typeface="Carlito" pitchFamily="34" charset="-122"/>
                <a:cs typeface="Carlito" pitchFamily="34" charset="-120"/>
              </a:rPr>
              <a:t> PLFS Annual Report 2024-25, Statement 4.7, row_id </a:t>
            </a:r>
            <a:pPr algn="l" indent="0" marL="0">
              <a:lnSpc>
                <a:spcPts val="866"/>
              </a:lnSpc>
              <a:buNone/>
            </a:pPr>
            <a:r>
              <a:rPr lang="en-US" sz="619" dirty="0">
                <a:solidFill>
                  <a:srgbClr val="0F4C5C"/>
                </a:solidFill>
                <a:latin typeface="Liberation Sans Narrow" pitchFamily="34" charset="0"/>
                <a:ea typeface="Liberation Sans Narrow" pitchFamily="34" charset="-122"/>
                <a:cs typeface="Liberation Sans Narrow" pitchFamily="34" charset="-120"/>
              </a:rPr>
              <a:t>plfs_a_15_us_2025</a:t>
            </a:r>
            <a:endParaRPr lang="en-US" sz="619" dirty="0"/>
          </a:p>
        </p:txBody>
      </p:sp>
      <p:sp>
        <p:nvSpPr>
          <p:cNvPr id="24" name="Shape 22"/>
          <p:cNvSpPr/>
          <p:nvPr/>
        </p:nvSpPr>
        <p:spPr>
          <a:xfrm>
            <a:off x="635794" y="4371975"/>
            <a:ext cx="3700463" cy="0"/>
          </a:xfrm>
          <a:prstGeom prst="line">
            <a:avLst/>
          </a:prstGeom>
          <a:noFill/>
          <a:ln w="7144">
            <a:solidFill>
              <a:srgbClr val="ECE7E0"/>
            </a:solidFill>
            <a:prstDash val="dash"/>
          </a:ln>
        </p:spPr>
      </p:sp>
      <p:sp>
        <p:nvSpPr>
          <p:cNvPr id="25" name="Text 23"/>
          <p:cNvSpPr/>
          <p:nvPr/>
        </p:nvSpPr>
        <p:spPr>
          <a:xfrm>
            <a:off x="635794" y="4455914"/>
            <a:ext cx="100013" cy="100013"/>
          </a:xfrm>
          <a:prstGeom prst="rect">
            <a:avLst/>
          </a:prstGeom>
          <a:noFill/>
          <a:ln/>
        </p:spPr>
        <p:txBody>
          <a:bodyPr wrap="none" lIns="0" tIns="0" rIns="0" bIns="0" rtlCol="0" anchor="ctr"/>
          <a:lstStyle/>
          <a:p>
            <a:pPr algn="ctr" indent="0" marL="0">
              <a:buNone/>
            </a:pPr>
            <a:r>
              <a:rPr lang="en-US" sz="984" dirty="0">
                <a:solidFill>
                  <a:srgbClr val="2F7A4F"/>
                </a:solidFill>
                <a:latin typeface="Segoe UI Symbol" pitchFamily="34" charset="0"/>
                <a:ea typeface="Segoe UI Symbol" pitchFamily="34" charset="-122"/>
                <a:cs typeface="Segoe UI Symbol" pitchFamily="34" charset="-120"/>
              </a:rPr>
              <a:t>✓</a:t>
            </a:r>
            <a:endParaRPr lang="en-US" sz="984" dirty="0"/>
          </a:p>
        </p:txBody>
      </p:sp>
      <p:sp>
        <p:nvSpPr>
          <p:cNvPr id="26" name="Text 24"/>
          <p:cNvSpPr/>
          <p:nvPr/>
        </p:nvSpPr>
        <p:spPr>
          <a:xfrm>
            <a:off x="792956" y="4446984"/>
            <a:ext cx="3543300" cy="117872"/>
          </a:xfrm>
          <a:prstGeom prst="rect">
            <a:avLst/>
          </a:prstGeom>
          <a:noFill/>
          <a:ln/>
        </p:spPr>
        <p:txBody>
          <a:bodyPr wrap="square" lIns="0" tIns="0" rIns="0" bIns="0" rtlCol="0" anchor="t"/>
          <a:lstStyle/>
          <a:p>
            <a:pPr algn="l" indent="0" marL="0">
              <a:lnSpc>
                <a:spcPts val="928"/>
              </a:lnSpc>
              <a:buNone/>
            </a:pPr>
            <a:r>
              <a:rPr lang="en-US" sz="619" dirty="0">
                <a:solidFill>
                  <a:srgbClr val="2F7A4F"/>
                </a:solidFill>
                <a:latin typeface="Carlito" pitchFamily="34" charset="0"/>
                <a:ea typeface="Carlito" pitchFamily="34" charset="-122"/>
                <a:cs typeface="Carlito" pitchFamily="34" charset="-120"/>
              </a:rPr>
              <a:t>Hash frozen pre-retrieval · citation valid · 1 ground-truth row matched</a:t>
            </a:r>
            <a:endParaRPr lang="en-US" sz="619" dirty="0"/>
          </a:p>
        </p:txBody>
      </p:sp>
      <p:sp>
        <p:nvSpPr>
          <p:cNvPr id="27" name="Text 25"/>
          <p:cNvSpPr/>
          <p:nvPr/>
        </p:nvSpPr>
        <p:spPr>
          <a:xfrm>
            <a:off x="4632722" y="1075134"/>
            <a:ext cx="4050506" cy="3636169"/>
          </a:xfrm>
          <a:prstGeom prst="roundRect">
            <a:avLst>
              <a:gd name="adj" fmla="val 1572"/>
            </a:avLst>
          </a:prstGeom>
          <a:solidFill>
            <a:srgbClr val="FFFFFF"/>
          </a:solidFill>
          <a:ln w="7144">
            <a:solidFill>
              <a:srgbClr val="D8D2CB"/>
            </a:solidFill>
            <a:prstDash val="solid"/>
          </a:ln>
          <a:effectLst>
            <a:outerShdw sx="100000" sy="100000" kx="0" ky="0" algn="bl" rotWithShape="0" blurRad="19050" dist="9525" dir="5400000">
              <a:srgbClr val="0F4C5C">
                <a:alpha val="4000"/>
              </a:srgbClr>
            </a:outerShdw>
          </a:effectLst>
        </p:spPr>
        <p:txBody>
          <a:bodyPr wrap="square" rtlCol="0" anchor="ctr"/>
          <a:lstStyle/>
          <a:p>
            <a:pPr indent="0" marL="0">
              <a:buNone/>
            </a:pPr>
            <a:endParaRPr lang="en-US" dirty="0"/>
          </a:p>
        </p:txBody>
      </p:sp>
      <p:sp>
        <p:nvSpPr>
          <p:cNvPr id="28" name="Text 26"/>
          <p:cNvSpPr/>
          <p:nvPr/>
        </p:nvSpPr>
        <p:spPr>
          <a:xfrm>
            <a:off x="4636294" y="1078706"/>
            <a:ext cx="4043363" cy="228600"/>
          </a:xfrm>
          <a:prstGeom prst="rect">
            <a:avLst/>
          </a:prstGeom>
          <a:solidFill>
            <a:srgbClr val="F6F4F1"/>
          </a:solidFill>
          <a:ln/>
        </p:spPr>
        <p:txBody>
          <a:bodyPr wrap="square" rtlCol="0" anchor="ctr"/>
          <a:lstStyle/>
          <a:p>
            <a:pPr indent="0" marL="0">
              <a:buNone/>
            </a:pPr>
            <a:endParaRPr lang="en-US" dirty="0"/>
          </a:p>
        </p:txBody>
      </p:sp>
      <p:sp>
        <p:nvSpPr>
          <p:cNvPr id="29" name="Shape 27"/>
          <p:cNvSpPr/>
          <p:nvPr/>
        </p:nvSpPr>
        <p:spPr>
          <a:xfrm>
            <a:off x="4636294" y="1303734"/>
            <a:ext cx="4043363" cy="0"/>
          </a:xfrm>
          <a:prstGeom prst="line">
            <a:avLst/>
          </a:prstGeom>
          <a:noFill/>
          <a:ln w="7144">
            <a:solidFill>
              <a:srgbClr val="D8D2CB"/>
            </a:solidFill>
            <a:prstDash val="solid"/>
          </a:ln>
        </p:spPr>
      </p:sp>
      <p:sp>
        <p:nvSpPr>
          <p:cNvPr id="30" name="Text 28"/>
          <p:cNvSpPr/>
          <p:nvPr/>
        </p:nvSpPr>
        <p:spPr>
          <a:xfrm>
            <a:off x="4722019" y="1153716"/>
            <a:ext cx="71438" cy="71438"/>
          </a:xfrm>
          <a:prstGeom prst="ellipse">
            <a:avLst/>
          </a:prstGeom>
          <a:solidFill>
            <a:srgbClr val="E36414"/>
          </a:solidFill>
          <a:ln/>
        </p:spPr>
        <p:txBody>
          <a:bodyPr wrap="square" rtlCol="0" anchor="ctr"/>
          <a:lstStyle/>
          <a:p>
            <a:pPr indent="0" marL="0">
              <a:buNone/>
            </a:pPr>
            <a:endParaRPr lang="en-US" dirty="0"/>
          </a:p>
        </p:txBody>
      </p:sp>
      <p:sp>
        <p:nvSpPr>
          <p:cNvPr id="31" name="Text 29"/>
          <p:cNvSpPr/>
          <p:nvPr/>
        </p:nvSpPr>
        <p:spPr>
          <a:xfrm>
            <a:off x="4864894" y="1153716"/>
            <a:ext cx="71438" cy="71438"/>
          </a:xfrm>
          <a:prstGeom prst="ellipse">
            <a:avLst/>
          </a:prstGeom>
          <a:solidFill>
            <a:srgbClr val="C9DDE0"/>
          </a:solidFill>
          <a:ln/>
        </p:spPr>
        <p:txBody>
          <a:bodyPr wrap="square" rtlCol="0" anchor="ctr"/>
          <a:lstStyle/>
          <a:p>
            <a:pPr indent="0" marL="0">
              <a:buNone/>
            </a:pPr>
            <a:endParaRPr lang="en-US" dirty="0"/>
          </a:p>
        </p:txBody>
      </p:sp>
      <p:sp>
        <p:nvSpPr>
          <p:cNvPr id="32" name="Text 30"/>
          <p:cNvSpPr/>
          <p:nvPr/>
        </p:nvSpPr>
        <p:spPr>
          <a:xfrm>
            <a:off x="5007769" y="1153716"/>
            <a:ext cx="71438" cy="71438"/>
          </a:xfrm>
          <a:prstGeom prst="ellipse">
            <a:avLst/>
          </a:prstGeom>
          <a:solidFill>
            <a:srgbClr val="2F7A4F"/>
          </a:solidFill>
          <a:ln/>
        </p:spPr>
        <p:txBody>
          <a:bodyPr wrap="square" rtlCol="0" anchor="ctr"/>
          <a:lstStyle/>
          <a:p>
            <a:pPr indent="0" marL="0">
              <a:buNone/>
            </a:pPr>
            <a:endParaRPr lang="en-US" dirty="0"/>
          </a:p>
        </p:txBody>
      </p:sp>
      <p:sp>
        <p:nvSpPr>
          <p:cNvPr id="33" name="Text 31"/>
          <p:cNvSpPr/>
          <p:nvPr/>
        </p:nvSpPr>
        <p:spPr>
          <a:xfrm>
            <a:off x="5227796" y="1105424"/>
            <a:ext cx="937349" cy="168021"/>
          </a:xfrm>
          <a:prstGeom prst="roundRect">
            <a:avLst>
              <a:gd name="adj" fmla="val 5663265"/>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34" name="Text 32"/>
          <p:cNvSpPr/>
          <p:nvPr/>
        </p:nvSpPr>
        <p:spPr>
          <a:xfrm>
            <a:off x="5250656" y="1114425"/>
            <a:ext cx="891629" cy="150019"/>
          </a:xfrm>
          <a:prstGeom prst="rect">
            <a:avLst/>
          </a:prstGeom>
          <a:noFill/>
          <a:ln/>
        </p:spPr>
        <p:txBody>
          <a:bodyPr wrap="square" lIns="0" tIns="0" rIns="0" bIns="0" rtlCol="0" anchor="ctr"/>
          <a:lstStyle/>
          <a:p>
            <a:pPr algn="ctr" indent="0" marL="0">
              <a:lnSpc>
                <a:spcPts val="844"/>
              </a:lnSpc>
              <a:buNone/>
            </a:pPr>
            <a:r>
              <a:rPr lang="en-US" sz="800" spc="11" kern="0" dirty="0">
                <a:solidFill>
                  <a:srgbClr val="7A7A7A"/>
                </a:solidFill>
                <a:latin typeface="Liberation Sans Narrow" pitchFamily="34" charset="0"/>
                <a:ea typeface="Liberation Sans Narrow" pitchFamily="34" charset="-122"/>
                <a:cs typeface="Liberation Sans Narrow" pitchFamily="34" charset="-120"/>
              </a:rPr>
              <a:t>localhost:8001/demo</a:t>
            </a:r>
            <a:endParaRPr lang="en-US" sz="800" dirty="0"/>
          </a:p>
        </p:txBody>
      </p:sp>
      <p:sp>
        <p:nvSpPr>
          <p:cNvPr id="35" name="Text 33"/>
          <p:cNvSpPr/>
          <p:nvPr/>
        </p:nvSpPr>
        <p:spPr>
          <a:xfrm>
            <a:off x="4807744" y="1488579"/>
            <a:ext cx="3370399" cy="164592"/>
          </a:xfrm>
          <a:prstGeom prst="rect">
            <a:avLst/>
          </a:prstGeom>
          <a:noFill/>
          <a:ln/>
        </p:spPr>
        <p:txBody>
          <a:bodyPr wrap="none" lIns="0" tIns="0" rIns="0" bIns="0" rtlCol="0" anchor="t"/>
          <a:lstStyle/>
          <a:p>
            <a:pPr algn="l" indent="0" marL="0">
              <a:lnSpc>
                <a:spcPts val="886"/>
              </a:lnSpc>
              <a:buNone/>
            </a:pPr>
            <a:r>
              <a:rPr lang="en-US" sz="800" b="1" spc="106" kern="0" dirty="0">
                <a:solidFill>
                  <a:srgbClr val="7A7A7A"/>
                </a:solidFill>
                <a:latin typeface="Carlito" pitchFamily="34" charset="0"/>
                <a:ea typeface="Carlito" pitchFamily="34" charset="-122"/>
                <a:cs typeface="Carlito" pitchFamily="34" charset="-120"/>
              </a:rPr>
              <a:t>VERDICT</a:t>
            </a:r>
            <a:endParaRPr lang="en-US" sz="800" dirty="0"/>
          </a:p>
        </p:txBody>
      </p:sp>
      <p:sp>
        <p:nvSpPr>
          <p:cNvPr id="36" name="Text 34"/>
          <p:cNvSpPr/>
          <p:nvPr/>
        </p:nvSpPr>
        <p:spPr>
          <a:xfrm>
            <a:off x="8179799" y="1454825"/>
            <a:ext cx="341038" cy="180023"/>
          </a:xfrm>
          <a:prstGeom prst="roundRect">
            <a:avLst>
              <a:gd name="adj" fmla="val 5285700"/>
            </a:avLst>
          </a:prstGeom>
          <a:solidFill>
            <a:srgbClr val="E2F0E6"/>
          </a:solidFill>
          <a:ln/>
        </p:spPr>
        <p:txBody>
          <a:bodyPr wrap="square" rtlCol="0" anchor="ctr"/>
          <a:lstStyle/>
          <a:p>
            <a:pPr indent="0" marL="0">
              <a:buNone/>
            </a:pPr>
            <a:endParaRPr lang="en-US" dirty="0"/>
          </a:p>
        </p:txBody>
      </p:sp>
      <p:sp>
        <p:nvSpPr>
          <p:cNvPr id="37" name="Text 35"/>
          <p:cNvSpPr/>
          <p:nvPr/>
        </p:nvSpPr>
        <p:spPr>
          <a:xfrm>
            <a:off x="8183877" y="1464469"/>
            <a:ext cx="332882" cy="160734"/>
          </a:xfrm>
          <a:prstGeom prst="rect">
            <a:avLst/>
          </a:prstGeom>
          <a:noFill/>
          <a:ln/>
        </p:spPr>
        <p:txBody>
          <a:bodyPr wrap="none" lIns="0" tIns="0" rIns="0" bIns="0" rtlCol="0" anchor="ctr"/>
          <a:lstStyle/>
          <a:p>
            <a:pPr algn="ctr" indent="0" marL="0">
              <a:lnSpc>
                <a:spcPts val="928"/>
              </a:lnSpc>
              <a:buNone/>
            </a:pPr>
            <a:r>
              <a:rPr lang="en-US" sz="800" b="1" spc="31" kern="0" dirty="0">
                <a:solidFill>
                  <a:srgbClr val="2F7A4F"/>
                </a:solidFill>
                <a:latin typeface="Courier New" pitchFamily="34" charset="0"/>
                <a:ea typeface="Courier New" pitchFamily="34" charset="-122"/>
                <a:cs typeface="Courier New" pitchFamily="34" charset="-120"/>
              </a:rPr>
              <a:t>PASS</a:t>
            </a:r>
            <a:endParaRPr lang="en-US" sz="800" dirty="0"/>
          </a:p>
        </p:txBody>
      </p:sp>
      <p:sp>
        <p:nvSpPr>
          <p:cNvPr id="38" name="Text 36"/>
          <p:cNvSpPr/>
          <p:nvPr/>
        </p:nvSpPr>
        <p:spPr>
          <a:xfrm>
            <a:off x="4807744" y="1739503"/>
            <a:ext cx="3981640" cy="164592"/>
          </a:xfrm>
          <a:prstGeom prst="rect">
            <a:avLst/>
          </a:prstGeom>
          <a:noFill/>
          <a:ln/>
        </p:spPr>
        <p:txBody>
          <a:bodyPr wrap="square" lIns="0" tIns="0" rIns="0" bIns="0" rtlCol="0" anchor="t"/>
          <a:lstStyle/>
          <a:p>
            <a:pPr algn="l" indent="0" marL="0">
              <a:lnSpc>
                <a:spcPts val="1181"/>
              </a:lnSpc>
              <a:buNone/>
            </a:pPr>
            <a:r>
              <a:rPr lang="en-US" sz="800" dirty="0">
                <a:solidFill>
                  <a:srgbClr val="0F4C5C"/>
                </a:solidFill>
                <a:latin typeface="Liberation Sans Narrow" pitchFamily="34" charset="0"/>
                <a:ea typeface="Liberation Sans Narrow" pitchFamily="34" charset="-122"/>
                <a:cs typeface="Liberation Sans Narrow" pitchFamily="34" charset="-120"/>
              </a:rPr>
              <a:t>mpce for bihar · 4 verified slices</a:t>
            </a:r>
            <a:endParaRPr lang="en-US" sz="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807744" y="1975247"/>
          <a:ext cx="3700463" cy="914400"/>
        </p:xfrm>
        <a:graphic>
          <a:graphicData uri="http://schemas.openxmlformats.org/drawingml/2006/table">
            <a:tbl>
              <a:tblPr/>
              <a:tblGrid>
                <a:gridCol w="1084511"/>
                <a:gridCol w="701762"/>
                <a:gridCol w="765609"/>
                <a:gridCol w="446596"/>
                <a:gridCol w="701985"/>
              </a:tblGrid>
              <a:tr h="0">
                <a:tc>
                  <a:txBody>
                    <a:bodyPr/>
                    <a:lstStyle/>
                    <a:p>
                      <a:pPr algn="l" indent="0" marL="0">
                        <a:buNone/>
                      </a:pPr>
                      <a:r>
                        <a:rPr lang="en-US" sz="800" b="1" dirty="0">
                          <a:solidFill>
                            <a:srgbClr val="FFFFFF"/>
                          </a:solidFill>
                          <a:latin typeface="Carlito" pitchFamily="34" charset="0"/>
                          <a:ea typeface="Carlito" pitchFamily="34" charset="-122"/>
                          <a:cs typeface="Carlito" pitchFamily="34" charset="-120"/>
                        </a:rPr>
                        <a:t>slice</a:t>
                      </a:r>
                      <a:endParaRPr lang="en-US" sz="800" dirty="0">
                        <a:latin typeface="Carlito" charset="0"/>
                        <a:ea typeface="Carlito" charset="0"/>
                        <a:cs typeface="Carlito"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4C5C"/>
                    </a:solidFill>
                  </a:tcPr>
                </a:tc>
                <a:tc>
                  <a:txBody>
                    <a:bodyPr/>
                    <a:lstStyle/>
                    <a:p>
                      <a:pPr algn="l" indent="0" marL="0">
                        <a:buNone/>
                      </a:pPr>
                      <a:r>
                        <a:rPr lang="en-US" sz="800" b="1" dirty="0">
                          <a:solidFill>
                            <a:srgbClr val="FFFFFF"/>
                          </a:solidFill>
                          <a:latin typeface="Carlito" pitchFamily="34" charset="0"/>
                          <a:ea typeface="Carlito" pitchFamily="34" charset="-122"/>
                          <a:cs typeface="Carlito" pitchFamily="34" charset="-120"/>
                        </a:rPr>
                        <a:t>rural/urban</a:t>
                      </a:r>
                      <a:endParaRPr lang="en-US" sz="800" dirty="0">
                        <a:latin typeface="Carlito" charset="0"/>
                        <a:ea typeface="Carlito" charset="0"/>
                        <a:cs typeface="Carlito"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4C5C"/>
                    </a:solidFill>
                  </a:tcPr>
                </a:tc>
                <a:tc>
                  <a:txBody>
                    <a:bodyPr/>
                    <a:lstStyle/>
                    <a:p>
                      <a:pPr algn="l" indent="0" marL="0">
                        <a:buNone/>
                      </a:pPr>
                      <a:r>
                        <a:rPr lang="en-US" sz="800" b="1" dirty="0">
                          <a:solidFill>
                            <a:srgbClr val="FFFFFF"/>
                          </a:solidFill>
                          <a:latin typeface="Carlito" pitchFamily="34" charset="0"/>
                          <a:ea typeface="Carlito" pitchFamily="34" charset="-122"/>
                          <a:cs typeface="Carlito" pitchFamily="34" charset="-120"/>
                        </a:rPr>
                        <a:t>imputation</a:t>
                      </a:r>
                      <a:endParaRPr lang="en-US" sz="800" dirty="0">
                        <a:latin typeface="Carlito" charset="0"/>
                        <a:ea typeface="Carlito" charset="0"/>
                        <a:cs typeface="Carlito"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4C5C"/>
                    </a:solidFill>
                  </a:tcPr>
                </a:tc>
                <a:tc>
                  <a:txBody>
                    <a:bodyPr/>
                    <a:lstStyle/>
                    <a:p>
                      <a:pPr algn="l" indent="0" marL="0">
                        <a:buNone/>
                      </a:pPr>
                      <a:r>
                        <a:rPr lang="en-US" sz="800" b="1" dirty="0">
                          <a:solidFill>
                            <a:srgbClr val="FFFFFF"/>
                          </a:solidFill>
                          <a:latin typeface="Carlito" pitchFamily="34" charset="0"/>
                          <a:ea typeface="Carlito" pitchFamily="34" charset="-122"/>
                          <a:cs typeface="Carlito" pitchFamily="34" charset="-120"/>
                        </a:rPr>
                        <a:t>value (₹)</a:t>
                      </a:r>
                      <a:endParaRPr lang="en-US" sz="800" dirty="0">
                        <a:latin typeface="Carlito" charset="0"/>
                        <a:ea typeface="Carlito" charset="0"/>
                        <a:cs typeface="Carlito"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4C5C"/>
                    </a:solidFill>
                  </a:tcPr>
                </a:tc>
                <a:tc>
                  <a:txBody>
                    <a:bodyPr/>
                    <a:lstStyle/>
                    <a:p>
                      <a:pPr algn="l" indent="0" marL="0">
                        <a:buNone/>
                      </a:pPr>
                      <a:r>
                        <a:rPr lang="en-US" sz="800" b="1" dirty="0">
                          <a:solidFill>
                            <a:srgbClr val="FFFFFF"/>
                          </a:solidFill>
                          <a:latin typeface="Carlito" pitchFamily="34" charset="0"/>
                          <a:ea typeface="Carlito" pitchFamily="34" charset="-122"/>
                          <a:cs typeface="Carlito" pitchFamily="34" charset="-120"/>
                        </a:rPr>
                        <a:t>row_id</a:t>
                      </a:r>
                      <a:endParaRPr lang="en-US" sz="800" dirty="0">
                        <a:latin typeface="Carlito" charset="0"/>
                        <a:ea typeface="Carlito" charset="0"/>
                        <a:cs typeface="Carlito"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4C5C"/>
                    </a:solidFill>
                  </a:tcPr>
                </a:tc>
              </a:tr>
              <a:tr h="0">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Bihar</a:t>
                      </a:r>
                      <a:endParaRPr lang="en-US" sz="800" dirty="0">
                        <a:latin typeface="Carlito" charset="0"/>
                        <a:ea typeface="Carlito" charset="0"/>
                        <a:cs typeface="Carlito" charset="0"/>
                      </a:endParaRPr>
                    </a:p>
                  </a:txBody>
                  <a:tcPr marL="28575" marR="71438" marT="71438"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rural</a:t>
                      </a:r>
                      <a:endParaRPr lang="en-US" sz="800" dirty="0">
                        <a:latin typeface="Carlito" charset="0"/>
                        <a:ea typeface="Carlito" charset="0"/>
                        <a:cs typeface="Carlito" charset="0"/>
                      </a:endParaRPr>
                    </a:p>
                  </a:txBody>
                  <a:tcPr marL="28575" marR="71438" marT="71438"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without imputation</a:t>
                      </a:r>
                      <a:endParaRPr lang="en-US" sz="800" dirty="0">
                        <a:latin typeface="Carlito" charset="0"/>
                        <a:ea typeface="Carlito" charset="0"/>
                        <a:cs typeface="Carlito" charset="0"/>
                      </a:endParaRPr>
                    </a:p>
                  </a:txBody>
                  <a:tcPr marL="28575" marR="71438" marT="71438"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4C5C"/>
                          </a:solidFill>
                          <a:latin typeface="Courier New" pitchFamily="34" charset="0"/>
                          <a:ea typeface="Courier New" pitchFamily="34" charset="-122"/>
                          <a:cs typeface="Courier New" pitchFamily="34" charset="-120"/>
                        </a:rPr>
                        <a:t>4081</a:t>
                      </a:r>
                      <a:endParaRPr lang="en-US" sz="800" dirty="0">
                        <a:latin typeface="Courier New" charset="0"/>
                        <a:ea typeface="Courier New" charset="0"/>
                        <a:cs typeface="Courier New" charset="0"/>
                      </a:endParaRPr>
                    </a:p>
                  </a:txBody>
                  <a:tcPr marL="28575" marR="71438" marT="71438"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1A1A1A"/>
                          </a:solidFill>
                          <a:latin typeface="Courier New" pitchFamily="34" charset="0"/>
                          <a:ea typeface="Courier New" pitchFamily="34" charset="-122"/>
                          <a:cs typeface="Courier New" pitchFamily="34" charset="-120"/>
                        </a:rPr>
                        <a:t>bihar_r_wo</a:t>
                      </a:r>
                      <a:endParaRPr lang="en-US" sz="800" dirty="0">
                        <a:latin typeface="Courier New" charset="0"/>
                        <a:ea typeface="Courier New" charset="0"/>
                        <a:cs typeface="Courier New" charset="0"/>
                      </a:endParaRPr>
                    </a:p>
                  </a:txBody>
                  <a:tcPr marL="28575" marR="71438" marT="71438"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Bihar</a:t>
                      </a:r>
                      <a:endParaRPr lang="en-US" sz="800" dirty="0">
                        <a:latin typeface="Carlito" charset="0"/>
                        <a:ea typeface="Carlito" charset="0"/>
                        <a:cs typeface="Carlito" charset="0"/>
                      </a:endParaRPr>
                    </a:p>
                  </a:txBody>
                  <a:tcPr marL="28575" marR="71438" marT="71438"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rural</a:t>
                      </a:r>
                      <a:endParaRPr lang="en-US" sz="800" dirty="0">
                        <a:latin typeface="Carlito" charset="0"/>
                        <a:ea typeface="Carlito" charset="0"/>
                        <a:cs typeface="Carlito" charset="0"/>
                      </a:endParaRPr>
                    </a:p>
                  </a:txBody>
                  <a:tcPr marL="28575" marR="71438" marT="71438"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with imputation</a:t>
                      </a:r>
                      <a:endParaRPr lang="en-US" sz="800" dirty="0">
                        <a:latin typeface="Carlito" charset="0"/>
                        <a:ea typeface="Carlito" charset="0"/>
                        <a:cs typeface="Carlito" charset="0"/>
                      </a:endParaRPr>
                    </a:p>
                  </a:txBody>
                  <a:tcPr marL="28575" marR="71438" marT="71438"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4C5C"/>
                          </a:solidFill>
                          <a:latin typeface="Courier New" pitchFamily="34" charset="0"/>
                          <a:ea typeface="Courier New" pitchFamily="34" charset="-122"/>
                          <a:cs typeface="Courier New" pitchFamily="34" charset="-120"/>
                        </a:rPr>
                        <a:t>4122</a:t>
                      </a:r>
                      <a:endParaRPr lang="en-US" sz="800" dirty="0">
                        <a:latin typeface="Courier New" charset="0"/>
                        <a:ea typeface="Courier New" charset="0"/>
                        <a:cs typeface="Courier New" charset="0"/>
                      </a:endParaRPr>
                    </a:p>
                  </a:txBody>
                  <a:tcPr marL="28575" marR="71438" marT="71438"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1A1A1A"/>
                          </a:solidFill>
                          <a:latin typeface="Courier New" pitchFamily="34" charset="0"/>
                          <a:ea typeface="Courier New" pitchFamily="34" charset="-122"/>
                          <a:cs typeface="Courier New" pitchFamily="34" charset="-120"/>
                        </a:rPr>
                        <a:t>bihar_r_w</a:t>
                      </a:r>
                      <a:endParaRPr lang="en-US" sz="800" dirty="0">
                        <a:latin typeface="Courier New" charset="0"/>
                        <a:ea typeface="Courier New" charset="0"/>
                        <a:cs typeface="Courier New" charset="0"/>
                      </a:endParaRPr>
                    </a:p>
                  </a:txBody>
                  <a:tcPr marL="28575" marR="71438" marT="71438"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Bihar</a:t>
                      </a:r>
                      <a:endParaRPr lang="en-US" sz="800" dirty="0">
                        <a:latin typeface="Carlito" charset="0"/>
                        <a:ea typeface="Carlito" charset="0"/>
                        <a:cs typeface="Carlito" charset="0"/>
                      </a:endParaRPr>
                    </a:p>
                  </a:txBody>
                  <a:tcPr marL="28575" marR="71438" marT="71438"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urban</a:t>
                      </a:r>
                      <a:endParaRPr lang="en-US" sz="800" dirty="0">
                        <a:latin typeface="Carlito" charset="0"/>
                        <a:ea typeface="Carlito" charset="0"/>
                        <a:cs typeface="Carlito" charset="0"/>
                      </a:endParaRPr>
                    </a:p>
                  </a:txBody>
                  <a:tcPr marL="28575" marR="71438" marT="71438"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without imputation</a:t>
                      </a:r>
                      <a:endParaRPr lang="en-US" sz="800" dirty="0">
                        <a:latin typeface="Carlito" charset="0"/>
                        <a:ea typeface="Carlito" charset="0"/>
                        <a:cs typeface="Carlito" charset="0"/>
                      </a:endParaRPr>
                    </a:p>
                  </a:txBody>
                  <a:tcPr marL="28575" marR="71438" marT="71438"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4C5C"/>
                          </a:solidFill>
                          <a:latin typeface="Courier New" pitchFamily="34" charset="0"/>
                          <a:ea typeface="Courier New" pitchFamily="34" charset="-122"/>
                          <a:cs typeface="Courier New" pitchFamily="34" charset="-120"/>
                        </a:rPr>
                        <a:t>5157</a:t>
                      </a:r>
                      <a:endParaRPr lang="en-US" sz="800" dirty="0">
                        <a:latin typeface="Courier New" charset="0"/>
                        <a:ea typeface="Courier New" charset="0"/>
                        <a:cs typeface="Courier New" charset="0"/>
                      </a:endParaRPr>
                    </a:p>
                  </a:txBody>
                  <a:tcPr marL="28575" marR="71438" marT="71438"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1A1A1A"/>
                          </a:solidFill>
                          <a:latin typeface="Courier New" pitchFamily="34" charset="0"/>
                          <a:ea typeface="Courier New" pitchFamily="34" charset="-122"/>
                          <a:cs typeface="Courier New" pitchFamily="34" charset="-120"/>
                        </a:rPr>
                        <a:t>bihar_u_wo</a:t>
                      </a:r>
                      <a:endParaRPr lang="en-US" sz="800" dirty="0">
                        <a:latin typeface="Courier New" charset="0"/>
                        <a:ea typeface="Courier New" charset="0"/>
                        <a:cs typeface="Courier New" charset="0"/>
                      </a:endParaRPr>
                    </a:p>
                  </a:txBody>
                  <a:tcPr marL="28575" marR="71438" marT="71438"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Bihar</a:t>
                      </a:r>
                      <a:endParaRPr lang="en-US" sz="800" dirty="0">
                        <a:latin typeface="Carlito" charset="0"/>
                        <a:ea typeface="Carlito" charset="0"/>
                        <a:cs typeface="Carlito" charset="0"/>
                      </a:endParaRPr>
                    </a:p>
                  </a:txBody>
                  <a:tcPr marL="28575" marR="71438" marT="71438"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urban</a:t>
                      </a:r>
                      <a:endParaRPr lang="en-US" sz="800" dirty="0">
                        <a:latin typeface="Carlito" charset="0"/>
                        <a:ea typeface="Carlito" charset="0"/>
                        <a:cs typeface="Carlito" charset="0"/>
                      </a:endParaRPr>
                    </a:p>
                  </a:txBody>
                  <a:tcPr marL="28575" marR="71438" marT="71438"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with imputation</a:t>
                      </a:r>
                      <a:endParaRPr lang="en-US" sz="800" dirty="0">
                        <a:latin typeface="Carlito" charset="0"/>
                        <a:ea typeface="Carlito" charset="0"/>
                        <a:cs typeface="Carlito" charset="0"/>
                      </a:endParaRPr>
                    </a:p>
                  </a:txBody>
                  <a:tcPr marL="28575" marR="71438" marT="71438"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4C5C"/>
                          </a:solidFill>
                          <a:latin typeface="Courier New" pitchFamily="34" charset="0"/>
                          <a:ea typeface="Courier New" pitchFamily="34" charset="-122"/>
                          <a:cs typeface="Courier New" pitchFamily="34" charset="-120"/>
                        </a:rPr>
                        <a:t>5198</a:t>
                      </a:r>
                      <a:endParaRPr lang="en-US" sz="800" dirty="0">
                        <a:latin typeface="Courier New" charset="0"/>
                        <a:ea typeface="Courier New" charset="0"/>
                        <a:cs typeface="Courier New" charset="0"/>
                      </a:endParaRPr>
                    </a:p>
                  </a:txBody>
                  <a:tcPr marL="28575" marR="71438" marT="71438"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1A1A1A"/>
                          </a:solidFill>
                          <a:latin typeface="Courier New" pitchFamily="34" charset="0"/>
                          <a:ea typeface="Courier New" pitchFamily="34" charset="-122"/>
                          <a:cs typeface="Courier New" pitchFamily="34" charset="-120"/>
                        </a:rPr>
                        <a:t>bihar_u_w</a:t>
                      </a:r>
                      <a:endParaRPr lang="en-US" sz="800" dirty="0">
                        <a:latin typeface="Courier New" charset="0"/>
                        <a:ea typeface="Courier New" charset="0"/>
                        <a:cs typeface="Courier New" charset="0"/>
                      </a:endParaRPr>
                    </a:p>
                  </a:txBody>
                  <a:tcPr marL="28575" marR="71438" marT="71438"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40" name="Text 37"/>
          <p:cNvSpPr/>
          <p:nvPr/>
        </p:nvSpPr>
        <p:spPr>
          <a:xfrm>
            <a:off x="4807744" y="3407569"/>
            <a:ext cx="3700463" cy="164592"/>
          </a:xfrm>
          <a:prstGeom prst="rect">
            <a:avLst/>
          </a:prstGeom>
          <a:noFill/>
          <a:ln/>
        </p:spPr>
        <p:txBody>
          <a:bodyPr wrap="square" lIns="0" tIns="0" rIns="0" bIns="0" rtlCol="0" anchor="t"/>
          <a:lstStyle/>
          <a:p>
            <a:pPr algn="l" indent="0" marL="0">
              <a:lnSpc>
                <a:spcPts val="928"/>
              </a:lnSpc>
              <a:buNone/>
            </a:pPr>
            <a:r>
              <a:rPr lang="en-US" sz="800" dirty="0">
                <a:solidFill>
                  <a:srgbClr val="7A7A7A"/>
                </a:solidFill>
                <a:latin typeface="Courier New" pitchFamily="34" charset="0"/>
                <a:ea typeface="Courier New" pitchFamily="34" charset="-122"/>
                <a:cs typeface="Courier New" pitchFamily="34" charset="-120"/>
              </a:rPr>
              <a:t>hash 4b7e2c81 · rule-version v2026.10 · source HCES 2022-23</a:t>
            </a:r>
            <a:endParaRPr lang="en-US" sz="800" dirty="0"/>
          </a:p>
        </p:txBody>
      </p:sp>
      <p:sp>
        <p:nvSpPr>
          <p:cNvPr id="41" name="Shape 38"/>
          <p:cNvSpPr/>
          <p:nvPr/>
        </p:nvSpPr>
        <p:spPr>
          <a:xfrm>
            <a:off x="4807744" y="4286250"/>
            <a:ext cx="3700463" cy="0"/>
          </a:xfrm>
          <a:prstGeom prst="line">
            <a:avLst/>
          </a:prstGeom>
          <a:noFill/>
          <a:ln w="7144">
            <a:solidFill>
              <a:srgbClr val="ECE7E0"/>
            </a:solidFill>
            <a:prstDash val="dash"/>
          </a:ln>
        </p:spPr>
      </p:sp>
      <p:sp>
        <p:nvSpPr>
          <p:cNvPr id="42" name="Text 39"/>
          <p:cNvSpPr/>
          <p:nvPr/>
        </p:nvSpPr>
        <p:spPr>
          <a:xfrm>
            <a:off x="4893469" y="4423767"/>
            <a:ext cx="92869" cy="92869"/>
          </a:xfrm>
          <a:prstGeom prst="rect">
            <a:avLst/>
          </a:prstGeom>
          <a:noFill/>
          <a:ln/>
        </p:spPr>
        <p:txBody>
          <a:bodyPr wrap="none" lIns="0" tIns="0" rIns="0" bIns="0" rtlCol="0" anchor="ctr"/>
          <a:lstStyle/>
          <a:p>
            <a:pPr algn="ctr" indent="0" marL="0">
              <a:buNone/>
            </a:pPr>
            <a:r>
              <a:rPr lang="en-US" sz="914" dirty="0">
                <a:solidFill>
                  <a:srgbClr val="FFFFFF"/>
                </a:solidFill>
                <a:latin typeface="Segoe UI Symbol" pitchFamily="34" charset="0"/>
                <a:ea typeface="Segoe UI Symbol" pitchFamily="34" charset="-122"/>
                <a:cs typeface="Segoe UI Symbol" pitchFamily="34" charset="-120"/>
              </a:rPr>
              <a:t>↓</a:t>
            </a:r>
            <a:endParaRPr lang="en-US" sz="914" dirty="0"/>
          </a:p>
        </p:txBody>
      </p:sp>
      <p:sp>
        <p:nvSpPr>
          <p:cNvPr id="43" name="Text 40"/>
          <p:cNvSpPr/>
          <p:nvPr/>
        </p:nvSpPr>
        <p:spPr>
          <a:xfrm>
            <a:off x="7468679" y="4411266"/>
            <a:ext cx="1101899" cy="153591"/>
          </a:xfrm>
          <a:prstGeom prst="rect">
            <a:avLst/>
          </a:prstGeom>
          <a:noFill/>
          <a:ln/>
        </p:spPr>
        <p:txBody>
          <a:bodyPr wrap="square" lIns="0" tIns="0" rIns="0" bIns="0" rtlCol="0" anchor="t"/>
          <a:lstStyle/>
          <a:p>
            <a:pPr algn="l" indent="0" marL="0">
              <a:lnSpc>
                <a:spcPts val="928"/>
              </a:lnSpc>
              <a:buNone/>
            </a:pPr>
            <a:r>
              <a:rPr lang="en-US" sz="619" dirty="0">
                <a:solidFill>
                  <a:srgbClr val="2F7A4F"/>
                </a:solidFill>
                <a:latin typeface="Liberation Sans Narrow" pitchFamily="34" charset="0"/>
                <a:ea typeface="Liberation Sans Narrow" pitchFamily="34" charset="-122"/>
                <a:cs typeface="Liberation Sans Narrow" pitchFamily="34" charset="-120"/>
              </a:rPr>
              <a:t>4 / 4 slices verified · 0 refused</a:t>
            </a:r>
            <a:endParaRPr lang="en-US" sz="619" dirty="0"/>
          </a:p>
        </p:txBody>
      </p:sp>
      <p:sp>
        <p:nvSpPr>
          <p:cNvPr id="44" name="Text 41"/>
          <p:cNvSpPr/>
          <p:nvPr/>
        </p:nvSpPr>
        <p:spPr>
          <a:xfrm>
            <a:off x="0" y="4943475"/>
            <a:ext cx="9144000" cy="200025"/>
          </a:xfrm>
          <a:prstGeom prst="rect">
            <a:avLst/>
          </a:prstGeom>
          <a:solidFill>
            <a:srgbClr val="FFFFFF"/>
          </a:solidFill>
          <a:ln/>
        </p:spPr>
        <p:txBody>
          <a:bodyPr wrap="square" rtlCol="0" anchor="ctr"/>
          <a:lstStyle/>
          <a:p>
            <a:pPr indent="0" marL="0">
              <a:buNone/>
            </a:pPr>
            <a:endParaRPr lang="en-US" dirty="0"/>
          </a:p>
        </p:txBody>
      </p:sp>
      <p:sp>
        <p:nvSpPr>
          <p:cNvPr id="45" name="Shape 42"/>
          <p:cNvSpPr/>
          <p:nvPr/>
        </p:nvSpPr>
        <p:spPr>
          <a:xfrm>
            <a:off x="0" y="4947047"/>
            <a:ext cx="9144000" cy="0"/>
          </a:xfrm>
          <a:prstGeom prst="line">
            <a:avLst/>
          </a:prstGeom>
          <a:noFill/>
          <a:ln w="7144">
            <a:solidFill>
              <a:srgbClr val="D8D2CB"/>
            </a:solidFill>
            <a:prstDash val="solid"/>
          </a:ln>
        </p:spPr>
      </p:sp>
      <p:sp>
        <p:nvSpPr>
          <p:cNvPr id="46" name="Text 43"/>
          <p:cNvSpPr/>
          <p:nvPr/>
        </p:nvSpPr>
        <p:spPr>
          <a:xfrm>
            <a:off x="342900" y="4990802"/>
            <a:ext cx="6232587" cy="152698"/>
          </a:xfrm>
          <a:prstGeom prst="rect">
            <a:avLst/>
          </a:prstGeom>
          <a:noFill/>
          <a:ln/>
        </p:spPr>
        <p:txBody>
          <a:bodyPr wrap="none" lIns="0" tIns="0" rIns="0" bIns="0" rtlCol="0" anchor="t"/>
          <a:lstStyle/>
          <a:p>
            <a:pPr algn="l" indent="0" marL="0">
              <a:lnSpc>
                <a:spcPts val="886"/>
              </a:lnSpc>
              <a:buNone/>
            </a:pPr>
            <a:r>
              <a:rPr lang="en-US" sz="800" spc="24" kern="0" dirty="0">
                <a:solidFill>
                  <a:srgbClr val="0F4C5C"/>
                </a:solidFill>
                <a:latin typeface="Carlito" pitchFamily="34" charset="0"/>
                <a:ea typeface="Carlito" pitchFamily="34" charset="-122"/>
                <a:cs typeface="Carlito" pitchFamily="34" charset="-120"/>
              </a:rPr>
              <a:t>Vidhi Guardian | Ajay Choudhary (MSAI @ Plaksha)</a:t>
            </a:r>
            <a:endParaRPr lang="en-US" sz="800" dirty="0"/>
          </a:p>
        </p:txBody>
      </p:sp>
      <p:sp>
        <p:nvSpPr>
          <p:cNvPr id="47" name="Text 44"/>
          <p:cNvSpPr/>
          <p:nvPr/>
        </p:nvSpPr>
        <p:spPr>
          <a:xfrm>
            <a:off x="6589775" y="4990802"/>
            <a:ext cx="2211325" cy="152698"/>
          </a:xfrm>
          <a:prstGeom prst="rect">
            <a:avLst/>
          </a:prstGeom>
          <a:noFill/>
          <a:ln/>
        </p:spPr>
        <p:txBody>
          <a:bodyPr wrap="square" lIns="0" tIns="0" rIns="0" bIns="0" rtlCol="0" anchor="t"/>
          <a:lstStyle/>
          <a:p>
            <a:pPr algn="l" indent="0" marL="0">
              <a:lnSpc>
                <a:spcPts val="886"/>
              </a:lnSpc>
              <a:buNone/>
            </a:pPr>
            <a:r>
              <a:rPr lang="en-US" sz="600" spc="24" kern="0" dirty="0">
                <a:solidFill>
                  <a:srgbClr val="0F4C5C"/>
                </a:solidFill>
                <a:latin typeface="Courier New" pitchFamily="34" charset="0"/>
                <a:ea typeface="Courier New" pitchFamily="34" charset="-122"/>
                <a:cs typeface="Courier New" pitchFamily="34" charset="-120"/>
              </a:rPr>
              <a:t>ConfAI 2026 · Track 06 Responsible &amp; Ethical AI</a:t>
            </a:r>
            <a:pPr algn="l" indent="0" marL="0">
              <a:lnSpc>
                <a:spcPts val="886"/>
              </a:lnSpc>
              <a:buNone/>
            </a:pPr>
            <a:r>
              <a:rPr lang="en-US" sz="600" spc="24" kern="0" dirty="0">
                <a:solidFill>
                  <a:srgbClr val="7A7A7A"/>
                </a:solidFill>
                <a:latin typeface="Carlito" pitchFamily="34" charset="0"/>
                <a:ea typeface="Carlito" pitchFamily="34" charset="-122"/>
                <a:cs typeface="Carlito" pitchFamily="34" charset="-120"/>
              </a:rPr>
              <a:t> | </a:t>
            </a:r>
            <a:pPr algn="l" indent="0" marL="0">
              <a:lnSpc>
                <a:spcPts val="886"/>
              </a:lnSpc>
              <a:buNone/>
            </a:pPr>
            <a:r>
              <a:rPr lang="en-US" sz="600" spc="24" kern="0" dirty="0">
                <a:solidFill>
                  <a:srgbClr val="0F4C5C"/>
                </a:solidFill>
                <a:latin typeface="Liberation Sans Narrow" pitchFamily="34" charset="0"/>
                <a:ea typeface="Liberation Sans Narrow" pitchFamily="34" charset="-122"/>
                <a:cs typeface="Liberation Sans Narrow" pitchFamily="34" charset="-120"/>
              </a:rPr>
              <a:t>4 / 7</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7175"/>
            <a:ext cx="3427723" cy="164592"/>
          </a:xfrm>
          <a:prstGeom prst="rect">
            <a:avLst/>
          </a:prstGeom>
          <a:noFill/>
          <a:ln/>
        </p:spPr>
        <p:txBody>
          <a:bodyPr wrap="square" lIns="0" tIns="0" rIns="0" bIns="0" rtlCol="0" anchor="t"/>
          <a:lstStyle/>
          <a:p>
            <a:pPr algn="l" indent="0" marL="0">
              <a:lnSpc>
                <a:spcPts val="886"/>
              </a:lnSpc>
              <a:buNone/>
            </a:pPr>
            <a:r>
              <a:rPr lang="en-US" sz="600" b="1" spc="106" kern="0" dirty="0">
                <a:solidFill>
                  <a:srgbClr val="E36414"/>
                </a:solidFill>
                <a:latin typeface="Carlito" pitchFamily="34" charset="0"/>
                <a:ea typeface="Carlito" pitchFamily="34" charset="-122"/>
                <a:cs typeface="Carlito" pitchFamily="34" charset="-120"/>
              </a:rPr>
              <a:t>LIVE DEMO · THE QUESTION THIS WORK WILL NOT HALLUCINATE</a:t>
            </a:r>
            <a:endParaRPr lang="en-US" sz="600" dirty="0"/>
          </a:p>
        </p:txBody>
      </p:sp>
      <p:sp>
        <p:nvSpPr>
          <p:cNvPr id="3" name="Text 1"/>
          <p:cNvSpPr/>
          <p:nvPr/>
        </p:nvSpPr>
        <p:spPr>
          <a:xfrm>
            <a:off x="457200" y="428625"/>
            <a:ext cx="4697317" cy="248335"/>
          </a:xfrm>
          <a:prstGeom prst="rect">
            <a:avLst/>
          </a:prstGeom>
          <a:noFill/>
          <a:ln/>
        </p:spPr>
        <p:txBody>
          <a:bodyPr wrap="square" lIns="0" tIns="0" rIns="0" bIns="0" rtlCol="0" anchor="t"/>
          <a:lstStyle/>
          <a:p>
            <a:pPr algn="l" indent="0" marL="0">
              <a:lnSpc>
                <a:spcPts val="1811"/>
              </a:lnSpc>
              <a:buNone/>
            </a:pPr>
            <a:r>
              <a:rPr lang="en-US" sz="1575" b="1" dirty="0">
                <a:solidFill>
                  <a:srgbClr val="0F4C5C"/>
                </a:solidFill>
                <a:latin typeface="Tinos" pitchFamily="34" charset="0"/>
                <a:ea typeface="Tinos" pitchFamily="34" charset="-122"/>
                <a:cs typeface="Tinos" pitchFamily="34" charset="-120"/>
              </a:rPr>
              <a:t>Honesty for uncovered slices, refusal for forecasts.</a:t>
            </a:r>
            <a:endParaRPr lang="en-US" sz="1575" dirty="0"/>
          </a:p>
        </p:txBody>
      </p:sp>
      <p:sp>
        <p:nvSpPr>
          <p:cNvPr id="4" name="Text 2"/>
          <p:cNvSpPr/>
          <p:nvPr/>
        </p:nvSpPr>
        <p:spPr>
          <a:xfrm>
            <a:off x="457200" y="771525"/>
            <a:ext cx="3236342" cy="164592"/>
          </a:xfrm>
          <a:prstGeom prst="rect">
            <a:avLst/>
          </a:prstGeom>
          <a:noFill/>
          <a:ln/>
        </p:spPr>
        <p:txBody>
          <a:bodyPr wrap="square" lIns="0" tIns="0" rIns="0" bIns="0" rtlCol="0" anchor="t"/>
          <a:lstStyle/>
          <a:p>
            <a:pPr algn="l" indent="0" marL="0">
              <a:lnSpc>
                <a:spcPts val="1013"/>
              </a:lnSpc>
              <a:buNone/>
            </a:pPr>
            <a:r>
              <a:rPr lang="en-US" sz="675" i="1" dirty="0">
                <a:solidFill>
                  <a:srgbClr val="7A7A7A"/>
                </a:solidFill>
                <a:latin typeface="Carlito" pitchFamily="34" charset="0"/>
                <a:ea typeface="Carlito" pitchFamily="34" charset="-122"/>
                <a:cs typeface="Carlito" pitchFamily="34" charset="-120"/>
              </a:rPr>
              <a:t>SOURCED tier (online): exact live figure, verdict stays WARN — never silently PASS.</a:t>
            </a:r>
            <a:endParaRPr lang="en-US" sz="675" dirty="0"/>
          </a:p>
        </p:txBody>
      </p:sp>
      <p:sp>
        <p:nvSpPr>
          <p:cNvPr id="5" name="Text 3"/>
          <p:cNvSpPr/>
          <p:nvPr/>
        </p:nvSpPr>
        <p:spPr>
          <a:xfrm>
            <a:off x="460772" y="1075134"/>
            <a:ext cx="4050506" cy="3636169"/>
          </a:xfrm>
          <a:prstGeom prst="roundRect">
            <a:avLst>
              <a:gd name="adj" fmla="val 1572"/>
            </a:avLst>
          </a:prstGeom>
          <a:solidFill>
            <a:srgbClr val="FFFFFF"/>
          </a:solidFill>
          <a:ln w="7144">
            <a:solidFill>
              <a:srgbClr val="D8D2CB"/>
            </a:solidFill>
            <a:prstDash val="solid"/>
          </a:ln>
          <a:effectLst>
            <a:outerShdw sx="100000" sy="100000" kx="0" ky="0" algn="bl" rotWithShape="0" blurRad="19050" dist="9525" dir="5400000">
              <a:srgbClr val="0F4C5C">
                <a:alpha val="4000"/>
              </a:srgbClr>
            </a:outerShdw>
          </a:effectLst>
        </p:spPr>
        <p:txBody>
          <a:bodyPr wrap="square" rtlCol="0" anchor="ctr"/>
          <a:lstStyle/>
          <a:p>
            <a:pPr indent="0" marL="0">
              <a:buNone/>
            </a:pPr>
            <a:endParaRPr lang="en-US" dirty="0"/>
          </a:p>
        </p:txBody>
      </p:sp>
      <p:sp>
        <p:nvSpPr>
          <p:cNvPr id="6" name="Text 4"/>
          <p:cNvSpPr/>
          <p:nvPr/>
        </p:nvSpPr>
        <p:spPr>
          <a:xfrm>
            <a:off x="464344" y="1078706"/>
            <a:ext cx="4043363" cy="228600"/>
          </a:xfrm>
          <a:prstGeom prst="rect">
            <a:avLst/>
          </a:prstGeom>
          <a:solidFill>
            <a:srgbClr val="F6F4F1"/>
          </a:solidFill>
          <a:ln/>
        </p:spPr>
        <p:txBody>
          <a:bodyPr wrap="square" rtlCol="0" anchor="ctr"/>
          <a:lstStyle/>
          <a:p>
            <a:pPr indent="0" marL="0">
              <a:buNone/>
            </a:pPr>
            <a:endParaRPr lang="en-US" dirty="0"/>
          </a:p>
        </p:txBody>
      </p:sp>
      <p:sp>
        <p:nvSpPr>
          <p:cNvPr id="7" name="Shape 5"/>
          <p:cNvSpPr/>
          <p:nvPr/>
        </p:nvSpPr>
        <p:spPr>
          <a:xfrm>
            <a:off x="464344" y="1303734"/>
            <a:ext cx="4043363" cy="0"/>
          </a:xfrm>
          <a:prstGeom prst="line">
            <a:avLst/>
          </a:prstGeom>
          <a:noFill/>
          <a:ln w="7144">
            <a:solidFill>
              <a:srgbClr val="D8D2CB"/>
            </a:solidFill>
            <a:prstDash val="solid"/>
          </a:ln>
        </p:spPr>
      </p:sp>
      <p:sp>
        <p:nvSpPr>
          <p:cNvPr id="8" name="Text 6"/>
          <p:cNvSpPr/>
          <p:nvPr/>
        </p:nvSpPr>
        <p:spPr>
          <a:xfrm>
            <a:off x="550069" y="1153716"/>
            <a:ext cx="71438" cy="71438"/>
          </a:xfrm>
          <a:prstGeom prst="ellipse">
            <a:avLst/>
          </a:prstGeom>
          <a:solidFill>
            <a:srgbClr val="E36414"/>
          </a:solidFill>
          <a:ln/>
        </p:spPr>
        <p:txBody>
          <a:bodyPr wrap="square" rtlCol="0" anchor="ctr"/>
          <a:lstStyle/>
          <a:p>
            <a:pPr indent="0" marL="0">
              <a:buNone/>
            </a:pPr>
            <a:endParaRPr lang="en-US" dirty="0"/>
          </a:p>
        </p:txBody>
      </p:sp>
      <p:sp>
        <p:nvSpPr>
          <p:cNvPr id="9" name="Text 7"/>
          <p:cNvSpPr/>
          <p:nvPr/>
        </p:nvSpPr>
        <p:spPr>
          <a:xfrm>
            <a:off x="692944" y="1153716"/>
            <a:ext cx="71438" cy="71438"/>
          </a:xfrm>
          <a:prstGeom prst="ellipse">
            <a:avLst/>
          </a:prstGeom>
          <a:solidFill>
            <a:srgbClr val="C9DDE0"/>
          </a:solidFill>
          <a:ln/>
        </p:spPr>
        <p:txBody>
          <a:bodyPr wrap="square" rtlCol="0" anchor="ctr"/>
          <a:lstStyle/>
          <a:p>
            <a:pPr indent="0" marL="0">
              <a:buNone/>
            </a:pPr>
            <a:endParaRPr lang="en-US" dirty="0"/>
          </a:p>
        </p:txBody>
      </p:sp>
      <p:sp>
        <p:nvSpPr>
          <p:cNvPr id="10" name="Text 8"/>
          <p:cNvSpPr/>
          <p:nvPr/>
        </p:nvSpPr>
        <p:spPr>
          <a:xfrm>
            <a:off x="835819" y="1153716"/>
            <a:ext cx="71438" cy="71438"/>
          </a:xfrm>
          <a:prstGeom prst="ellipse">
            <a:avLst/>
          </a:prstGeom>
          <a:solidFill>
            <a:srgbClr val="2F7A4F"/>
          </a:solidFill>
          <a:ln/>
        </p:spPr>
        <p:txBody>
          <a:bodyPr wrap="square" rtlCol="0" anchor="ctr"/>
          <a:lstStyle/>
          <a:p>
            <a:pPr indent="0" marL="0">
              <a:buNone/>
            </a:pPr>
            <a:endParaRPr lang="en-US" dirty="0"/>
          </a:p>
        </p:txBody>
      </p:sp>
      <p:sp>
        <p:nvSpPr>
          <p:cNvPr id="11" name="Text 9"/>
          <p:cNvSpPr/>
          <p:nvPr/>
        </p:nvSpPr>
        <p:spPr>
          <a:xfrm>
            <a:off x="1055846" y="1105424"/>
            <a:ext cx="937349" cy="168021"/>
          </a:xfrm>
          <a:prstGeom prst="roundRect">
            <a:avLst>
              <a:gd name="adj" fmla="val 5663265"/>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12" name="Text 10"/>
          <p:cNvSpPr/>
          <p:nvPr/>
        </p:nvSpPr>
        <p:spPr>
          <a:xfrm>
            <a:off x="1078706" y="1114425"/>
            <a:ext cx="891629" cy="150019"/>
          </a:xfrm>
          <a:prstGeom prst="rect">
            <a:avLst/>
          </a:prstGeom>
          <a:noFill/>
          <a:ln/>
        </p:spPr>
        <p:txBody>
          <a:bodyPr wrap="square" lIns="0" tIns="0" rIns="0" bIns="0" rtlCol="0" anchor="ctr"/>
          <a:lstStyle/>
          <a:p>
            <a:pPr algn="ctr" indent="0" marL="0">
              <a:lnSpc>
                <a:spcPts val="844"/>
              </a:lnSpc>
              <a:buNone/>
            </a:pPr>
            <a:r>
              <a:rPr lang="en-US" sz="800" spc="11" kern="0" dirty="0">
                <a:solidFill>
                  <a:srgbClr val="7A7A7A"/>
                </a:solidFill>
                <a:latin typeface="Liberation Sans Narrow" pitchFamily="34" charset="0"/>
                <a:ea typeface="Liberation Sans Narrow" pitchFamily="34" charset="-122"/>
                <a:cs typeface="Liberation Sans Narrow" pitchFamily="34" charset="-120"/>
              </a:rPr>
              <a:t>localhost:8001/demo</a:t>
            </a:r>
            <a:endParaRPr lang="en-US" sz="800" dirty="0"/>
          </a:p>
        </p:txBody>
      </p:sp>
      <p:sp>
        <p:nvSpPr>
          <p:cNvPr id="13" name="Text 11"/>
          <p:cNvSpPr/>
          <p:nvPr/>
        </p:nvSpPr>
        <p:spPr>
          <a:xfrm>
            <a:off x="635794" y="1488579"/>
            <a:ext cx="3024597" cy="164592"/>
          </a:xfrm>
          <a:prstGeom prst="rect">
            <a:avLst/>
          </a:prstGeom>
          <a:noFill/>
          <a:ln/>
        </p:spPr>
        <p:txBody>
          <a:bodyPr wrap="none" lIns="0" tIns="0" rIns="0" bIns="0" rtlCol="0" anchor="t"/>
          <a:lstStyle/>
          <a:p>
            <a:pPr algn="l" indent="0" marL="0">
              <a:lnSpc>
                <a:spcPts val="886"/>
              </a:lnSpc>
              <a:buNone/>
            </a:pPr>
            <a:r>
              <a:rPr lang="en-US" sz="800" b="1" spc="106" kern="0" dirty="0">
                <a:solidFill>
                  <a:srgbClr val="7A7A7A"/>
                </a:solidFill>
                <a:latin typeface="Carlito" pitchFamily="34" charset="0"/>
                <a:ea typeface="Carlito" pitchFamily="34" charset="-122"/>
                <a:cs typeface="Carlito" pitchFamily="34" charset="-120"/>
              </a:rPr>
              <a:t>VERDICT</a:t>
            </a:r>
            <a:endParaRPr lang="en-US" sz="800" dirty="0"/>
          </a:p>
        </p:txBody>
      </p:sp>
      <p:sp>
        <p:nvSpPr>
          <p:cNvPr id="14" name="Text 12"/>
          <p:cNvSpPr/>
          <p:nvPr/>
        </p:nvSpPr>
        <p:spPr>
          <a:xfrm>
            <a:off x="3651818" y="1454825"/>
            <a:ext cx="707298" cy="180023"/>
          </a:xfrm>
          <a:prstGeom prst="roundRect">
            <a:avLst>
              <a:gd name="adj" fmla="val 5285700"/>
            </a:avLst>
          </a:prstGeom>
          <a:solidFill>
            <a:srgbClr val="FBF1D9"/>
          </a:solidFill>
          <a:ln/>
        </p:spPr>
        <p:txBody>
          <a:bodyPr wrap="square" rtlCol="0" anchor="ctr"/>
          <a:lstStyle/>
          <a:p>
            <a:pPr indent="0" marL="0">
              <a:buNone/>
            </a:pPr>
            <a:endParaRPr lang="en-US" dirty="0"/>
          </a:p>
        </p:txBody>
      </p:sp>
      <p:sp>
        <p:nvSpPr>
          <p:cNvPr id="15" name="Text 13"/>
          <p:cNvSpPr/>
          <p:nvPr/>
        </p:nvSpPr>
        <p:spPr>
          <a:xfrm>
            <a:off x="3562085" y="1464469"/>
            <a:ext cx="886765" cy="160734"/>
          </a:xfrm>
          <a:prstGeom prst="rect">
            <a:avLst/>
          </a:prstGeom>
          <a:noFill/>
          <a:ln/>
        </p:spPr>
        <p:txBody>
          <a:bodyPr wrap="none" lIns="0" tIns="0" rIns="0" bIns="0" rtlCol="0" anchor="ctr"/>
          <a:lstStyle/>
          <a:p>
            <a:pPr algn="ctr" indent="0" marL="0">
              <a:lnSpc>
                <a:spcPts val="928"/>
              </a:lnSpc>
              <a:buNone/>
            </a:pPr>
            <a:r>
              <a:rPr lang="en-US" sz="800" b="1" spc="31" kern="0" dirty="0">
                <a:solidFill>
                  <a:srgbClr val="C28A00"/>
                </a:solidFill>
                <a:latin typeface="Courier New" pitchFamily="34" charset="0"/>
                <a:ea typeface="Courier New" pitchFamily="34" charset="-122"/>
                <a:cs typeface="Courier New" pitchFamily="34" charset="-120"/>
              </a:rPr>
              <a:t>WARN_NO_DATA</a:t>
            </a:r>
            <a:endParaRPr lang="en-US" sz="800" dirty="0"/>
          </a:p>
        </p:txBody>
      </p:sp>
      <p:sp>
        <p:nvSpPr>
          <p:cNvPr id="16" name="Text 14"/>
          <p:cNvSpPr/>
          <p:nvPr/>
        </p:nvSpPr>
        <p:spPr>
          <a:xfrm>
            <a:off x="635794" y="1753791"/>
            <a:ext cx="3871913" cy="205410"/>
          </a:xfrm>
          <a:prstGeom prst="rect">
            <a:avLst/>
          </a:prstGeom>
          <a:noFill/>
          <a:ln/>
        </p:spPr>
        <p:txBody>
          <a:bodyPr wrap="none" lIns="0" tIns="0" rIns="0" bIns="0" rtlCol="0" anchor="t">
            <a:normAutofit/>
          </a:bodyPr>
          <a:lstStyle/>
          <a:p>
            <a:pPr algn="l" indent="0" marL="0">
              <a:lnSpc>
                <a:spcPts val="1609"/>
              </a:lnSpc>
              <a:buNone/>
            </a:pPr>
            <a:r>
              <a:rPr lang="en-US" sz="1463" b="1" dirty="0">
                <a:solidFill>
                  <a:srgbClr val="1A1A1A"/>
                </a:solidFill>
                <a:latin typeface="Tinos" pitchFamily="34" charset="0"/>
                <a:ea typeface="Tinos" pitchFamily="34" charset="-122"/>
                <a:cs typeface="Tinos" pitchFamily="34" charset="-120"/>
              </a:rPr>
              <a:t>urban female LFPR</a:t>
            </a:r>
            <a:endParaRPr lang="en-US" sz="1463" dirty="0"/>
          </a:p>
        </p:txBody>
      </p:sp>
      <p:sp>
        <p:nvSpPr>
          <p:cNvPr id="17" name="Text 15"/>
          <p:cNvSpPr/>
          <p:nvPr/>
        </p:nvSpPr>
        <p:spPr>
          <a:xfrm>
            <a:off x="635794" y="1986632"/>
            <a:ext cx="3871913" cy="288478"/>
          </a:xfrm>
          <a:prstGeom prst="rect">
            <a:avLst/>
          </a:prstGeom>
          <a:noFill/>
          <a:ln/>
        </p:spPr>
        <p:txBody>
          <a:bodyPr wrap="none" lIns="0" tIns="0" rIns="0" bIns="0" rtlCol="0" anchor="t"/>
          <a:lstStyle/>
          <a:p>
            <a:pPr algn="l" indent="0" marL="0">
              <a:lnSpc>
                <a:spcPts val="2104"/>
              </a:lnSpc>
              <a:buNone/>
            </a:pPr>
            <a:r>
              <a:rPr lang="en-US" sz="1913" b="1" spc="-19" kern="0" dirty="0">
                <a:solidFill>
                  <a:srgbClr val="C28A00"/>
                </a:solidFill>
                <a:latin typeface="Liberation Sans Narrow" pitchFamily="34" charset="0"/>
                <a:ea typeface="Liberation Sans Narrow" pitchFamily="34" charset="-122"/>
                <a:cs typeface="Liberation Sans Narrow" pitchFamily="34" charset="-120"/>
              </a:rPr>
              <a:t>SOURCED 27.7%</a:t>
            </a:r>
            <a:endParaRPr lang="en-US" sz="1913" dirty="0"/>
          </a:p>
        </p:txBody>
      </p:sp>
      <p:sp>
        <p:nvSpPr>
          <p:cNvPr id="18" name="Text 16"/>
          <p:cNvSpPr/>
          <p:nvPr/>
        </p:nvSpPr>
        <p:spPr>
          <a:xfrm>
            <a:off x="635794" y="2353754"/>
            <a:ext cx="3700463" cy="381074"/>
          </a:xfrm>
          <a:prstGeom prst="rect">
            <a:avLst/>
          </a:prstGeom>
          <a:solidFill>
            <a:srgbClr val="FBF1D9"/>
          </a:solidFill>
          <a:ln/>
        </p:spPr>
        <p:txBody>
          <a:bodyPr wrap="square" rtlCol="0" anchor="ctr"/>
          <a:lstStyle/>
          <a:p>
            <a:pPr indent="0" marL="0">
              <a:buNone/>
            </a:pPr>
            <a:endParaRPr lang="en-US" dirty="0"/>
          </a:p>
        </p:txBody>
      </p:sp>
      <p:sp>
        <p:nvSpPr>
          <p:cNvPr id="19" name="Shape 17"/>
          <p:cNvSpPr/>
          <p:nvPr/>
        </p:nvSpPr>
        <p:spPr>
          <a:xfrm>
            <a:off x="650081" y="2353754"/>
            <a:ext cx="0" cy="381074"/>
          </a:xfrm>
          <a:prstGeom prst="line">
            <a:avLst/>
          </a:prstGeom>
          <a:noFill/>
          <a:ln w="28575">
            <a:solidFill>
              <a:srgbClr val="C28A00"/>
            </a:solidFill>
            <a:prstDash val="solid"/>
          </a:ln>
        </p:spPr>
      </p:sp>
      <p:sp>
        <p:nvSpPr>
          <p:cNvPr id="20" name="Text 18"/>
          <p:cNvSpPr/>
          <p:nvPr/>
        </p:nvSpPr>
        <p:spPr>
          <a:xfrm>
            <a:off x="635794" y="2353754"/>
            <a:ext cx="3700463" cy="439367"/>
          </a:xfrm>
          <a:prstGeom prst="rect">
            <a:avLst/>
          </a:prstGeom>
          <a:noFill/>
          <a:ln/>
        </p:spPr>
        <p:txBody>
          <a:bodyPr wrap="square" lIns="85725" tIns="71438" rIns="85725" bIns="71438" rtlCol="0" anchor="t">
            <a:normAutofit/>
          </a:bodyPr>
          <a:lstStyle/>
          <a:p>
            <a:pPr algn="l" indent="0" marL="0">
              <a:lnSpc>
                <a:spcPts val="938"/>
              </a:lnSpc>
              <a:buNone/>
            </a:pPr>
            <a:r>
              <a:rPr lang="en-US" sz="800" b="1" dirty="0">
                <a:solidFill>
                  <a:srgbClr val="8A6100"/>
                </a:solidFill>
                <a:latin typeface="Carlito" pitchFamily="34" charset="0"/>
                <a:ea typeface="Carlito" pitchFamily="34" charset="-122"/>
                <a:cs typeface="Carlito" pitchFamily="34" charset="-120"/>
              </a:rPr>
              <a:t>Coverage note:</a:t>
            </a:r>
            <a:pPr algn="l" indent="0" marL="0">
              <a:lnSpc>
                <a:spcPts val="938"/>
              </a:lnSpc>
              <a:buNone/>
            </a:pPr>
            <a:r>
              <a:rPr lang="en-US" sz="800" dirty="0">
                <a:solidFill>
                  <a:srgbClr val="4A4A4A"/>
                </a:solidFill>
                <a:latin typeface="Carlito" pitchFamily="34" charset="0"/>
                <a:ea typeface="Carlito" pitchFamily="34" charset="-122"/>
                <a:cs typeface="Carlito" pitchFamily="34" charset="-120"/>
              </a:rPr>
              <a:t> urban-female LFPR is not in the verified store for PLFS 2025. The sourced figure is shown for context only; it is </a:t>
            </a:r>
            <a:pPr algn="l" indent="0" marL="0">
              <a:lnSpc>
                <a:spcPts val="938"/>
              </a:lnSpc>
              <a:buNone/>
            </a:pPr>
            <a:r>
              <a:rPr lang="en-US" sz="800" b="1" dirty="0">
                <a:solidFill>
                  <a:srgbClr val="8A6100"/>
                </a:solidFill>
                <a:latin typeface="Carlito" pitchFamily="34" charset="0"/>
                <a:ea typeface="Carlito" pitchFamily="34" charset="-122"/>
                <a:cs typeface="Carlito" pitchFamily="34" charset="-120"/>
              </a:rPr>
              <a:t>NOT</a:t>
            </a:r>
            <a:pPr algn="l" indent="0" marL="0">
              <a:lnSpc>
                <a:spcPts val="938"/>
              </a:lnSpc>
              <a:buNone/>
            </a:pPr>
            <a:r>
              <a:rPr lang="en-US" sz="800" dirty="0">
                <a:solidFill>
                  <a:srgbClr val="4A4A4A"/>
                </a:solidFill>
                <a:latin typeface="Carlito" pitchFamily="34" charset="0"/>
                <a:ea typeface="Carlito" pitchFamily="34" charset="-122"/>
                <a:cs typeface="Carlito" pitchFamily="34" charset="-120"/>
              </a:rPr>
              <a:t> a PASS verdict. The next release will cover this slice.</a:t>
            </a:r>
            <a:endParaRPr lang="en-US" sz="800" dirty="0"/>
          </a:p>
        </p:txBody>
      </p:sp>
      <p:sp>
        <p:nvSpPr>
          <p:cNvPr id="21" name="Text 19"/>
          <p:cNvSpPr/>
          <p:nvPr/>
        </p:nvSpPr>
        <p:spPr>
          <a:xfrm>
            <a:off x="639366" y="2824125"/>
            <a:ext cx="3693319" cy="279499"/>
          </a:xfrm>
          <a:prstGeom prst="roundRect">
            <a:avLst>
              <a:gd name="adj" fmla="val 13632"/>
            </a:avLst>
          </a:prstGeom>
          <a:noFill/>
          <a:ln w="7144">
            <a:solidFill>
              <a:srgbClr val="D8D2CB"/>
            </a:solidFill>
            <a:prstDash val="solid"/>
          </a:ln>
        </p:spPr>
        <p:txBody>
          <a:bodyPr wrap="square" rtlCol="0" anchor="ctr"/>
          <a:lstStyle/>
          <a:p>
            <a:pPr indent="0" marL="0">
              <a:buNone/>
            </a:pPr>
            <a:endParaRPr lang="en-US" dirty="0"/>
          </a:p>
        </p:txBody>
      </p:sp>
      <p:sp>
        <p:nvSpPr>
          <p:cNvPr id="22" name="Text 20"/>
          <p:cNvSpPr/>
          <p:nvPr/>
        </p:nvSpPr>
        <p:spPr>
          <a:xfrm>
            <a:off x="635794" y="2820553"/>
            <a:ext cx="3700463" cy="344936"/>
          </a:xfrm>
          <a:prstGeom prst="rect">
            <a:avLst/>
          </a:prstGeom>
          <a:noFill/>
          <a:ln/>
        </p:spPr>
        <p:txBody>
          <a:bodyPr wrap="square" lIns="85725" tIns="71438" rIns="85725" bIns="71438" rtlCol="0" anchor="t">
            <a:normAutofit/>
          </a:bodyPr>
          <a:lstStyle/>
          <a:p>
            <a:pPr algn="l" indent="0" marL="0">
              <a:lnSpc>
                <a:spcPts val="1020"/>
              </a:lnSpc>
              <a:buNone/>
            </a:pPr>
            <a:r>
              <a:rPr lang="en-US" sz="800" dirty="0">
                <a:solidFill>
                  <a:srgbClr val="7A7A7A"/>
                </a:solidFill>
                <a:latin typeface="Carlito" pitchFamily="34" charset="0"/>
                <a:ea typeface="Carlito" pitchFamily="34" charset="-122"/>
                <a:cs typeface="Carlito" pitchFamily="34" charset="-120"/>
              </a:rPr>
              <a:t>Q:</a:t>
            </a:r>
            <a:pPr algn="l" indent="0" marL="0">
              <a:lnSpc>
                <a:spcPts val="1020"/>
              </a:lnSpc>
              <a:buNone/>
            </a:pPr>
            <a:r>
              <a:rPr lang="en-US" sz="800" dirty="0">
                <a:solidFill>
                  <a:srgbClr val="1A1A1A"/>
                </a:solidFill>
                <a:latin typeface="Carlito" pitchFamily="34" charset="0"/>
                <a:ea typeface="Carlito" pitchFamily="34" charset="-122"/>
                <a:cs typeface="Carlito" pitchFamily="34" charset="-120"/>
              </a:rPr>
              <a:t>What was urban female LFPR in PLFS 2025?</a:t>
            </a:r>
            <a:endParaRPr lang="en-US" sz="800" dirty="0"/>
          </a:p>
        </p:txBody>
      </p:sp>
      <p:sp>
        <p:nvSpPr>
          <p:cNvPr id="23" name="Text 21"/>
          <p:cNvSpPr/>
          <p:nvPr/>
        </p:nvSpPr>
        <p:spPr>
          <a:xfrm>
            <a:off x="635794" y="3192921"/>
            <a:ext cx="3700463" cy="159040"/>
          </a:xfrm>
          <a:prstGeom prst="rect">
            <a:avLst/>
          </a:prstGeom>
          <a:noFill/>
          <a:ln/>
        </p:spPr>
        <p:txBody>
          <a:bodyPr wrap="square" lIns="0" tIns="0" rIns="0" bIns="0" rtlCol="0" anchor="t"/>
          <a:lstStyle/>
          <a:p>
            <a:pPr algn="l" indent="0" marL="0">
              <a:lnSpc>
                <a:spcPts val="856"/>
              </a:lnSpc>
              <a:buNone/>
            </a:pPr>
            <a:r>
              <a:rPr lang="en-US" sz="800" dirty="0">
                <a:solidFill>
                  <a:srgbClr val="7A7A7A"/>
                </a:solidFill>
                <a:latin typeface="Courier New" pitchFamily="34" charset="0"/>
                <a:ea typeface="Courier New" pitchFamily="34" charset="-122"/>
                <a:cs typeface="Courier New" pitchFamily="34" charset="-120"/>
              </a:rPr>
              <a:t>hash a1f3c2b9 · tier SOURCED · NOT-the-figure guard active</a:t>
            </a:r>
            <a:endParaRPr lang="en-US" sz="800" dirty="0"/>
          </a:p>
        </p:txBody>
      </p:sp>
      <p:sp>
        <p:nvSpPr>
          <p:cNvPr id="24" name="Shape 22"/>
          <p:cNvSpPr/>
          <p:nvPr/>
        </p:nvSpPr>
        <p:spPr>
          <a:xfrm>
            <a:off x="635794" y="4377333"/>
            <a:ext cx="3700463" cy="0"/>
          </a:xfrm>
          <a:prstGeom prst="line">
            <a:avLst/>
          </a:prstGeom>
          <a:noFill/>
          <a:ln w="7144">
            <a:solidFill>
              <a:srgbClr val="ECE7E0"/>
            </a:solidFill>
            <a:prstDash val="dash"/>
          </a:ln>
        </p:spPr>
      </p:sp>
      <p:sp>
        <p:nvSpPr>
          <p:cNvPr id="25" name="Text 23"/>
          <p:cNvSpPr/>
          <p:nvPr/>
        </p:nvSpPr>
        <p:spPr>
          <a:xfrm>
            <a:off x="635794" y="4458593"/>
            <a:ext cx="100013" cy="100013"/>
          </a:xfrm>
          <a:prstGeom prst="rect">
            <a:avLst/>
          </a:prstGeom>
          <a:noFill/>
          <a:ln/>
        </p:spPr>
        <p:txBody>
          <a:bodyPr wrap="none" lIns="0" tIns="0" rIns="0" bIns="0" rtlCol="0" anchor="ctr"/>
          <a:lstStyle/>
          <a:p>
            <a:pPr algn="ctr" indent="0" marL="0">
              <a:buNone/>
            </a:pPr>
            <a:r>
              <a:rPr lang="en-US" sz="984" dirty="0">
                <a:solidFill>
                  <a:srgbClr val="B14D0D"/>
                </a:solidFill>
                <a:latin typeface="Segoe UI Symbol" pitchFamily="34" charset="0"/>
                <a:ea typeface="Segoe UI Symbol" pitchFamily="34" charset="-122"/>
                <a:cs typeface="Segoe UI Symbol" pitchFamily="34" charset="-120"/>
              </a:rPr>
              <a:t>⚡</a:t>
            </a:r>
            <a:endParaRPr lang="en-US" sz="984" dirty="0"/>
          </a:p>
        </p:txBody>
      </p:sp>
      <p:sp>
        <p:nvSpPr>
          <p:cNvPr id="26" name="Text 24"/>
          <p:cNvSpPr/>
          <p:nvPr/>
        </p:nvSpPr>
        <p:spPr>
          <a:xfrm>
            <a:off x="778669" y="4452342"/>
            <a:ext cx="3557588" cy="112514"/>
          </a:xfrm>
          <a:prstGeom prst="rect">
            <a:avLst/>
          </a:prstGeom>
          <a:noFill/>
          <a:ln/>
        </p:spPr>
        <p:txBody>
          <a:bodyPr wrap="square" lIns="0" tIns="0" rIns="0" bIns="0" rtlCol="0" anchor="t"/>
          <a:lstStyle/>
          <a:p>
            <a:pPr algn="l" indent="0" marL="0">
              <a:lnSpc>
                <a:spcPts val="886"/>
              </a:lnSpc>
              <a:buNone/>
            </a:pPr>
            <a:r>
              <a:rPr lang="en-US" sz="800" dirty="0">
                <a:solidFill>
                  <a:srgbClr val="B14D0D"/>
                </a:solidFill>
                <a:latin typeface="Carlito" pitchFamily="34" charset="0"/>
                <a:ea typeface="Carlito" pitchFamily="34" charset="-122"/>
                <a:cs typeface="Carlito" pitchFamily="34" charset="-120"/>
              </a:rPr>
              <a:t>Offline twin: coverage note + NOT-the-figure guard, tier NONE</a:t>
            </a:r>
            <a:endParaRPr lang="en-US" sz="800" dirty="0"/>
          </a:p>
        </p:txBody>
      </p:sp>
      <p:sp>
        <p:nvSpPr>
          <p:cNvPr id="27" name="Text 25"/>
          <p:cNvSpPr/>
          <p:nvPr/>
        </p:nvSpPr>
        <p:spPr>
          <a:xfrm>
            <a:off x="4632722" y="1075134"/>
            <a:ext cx="4050506" cy="3636169"/>
          </a:xfrm>
          <a:prstGeom prst="roundRect">
            <a:avLst>
              <a:gd name="adj" fmla="val 1572"/>
            </a:avLst>
          </a:prstGeom>
          <a:solidFill>
            <a:srgbClr val="FFFFFF"/>
          </a:solidFill>
          <a:ln w="7144">
            <a:solidFill>
              <a:srgbClr val="D8D2CB"/>
            </a:solidFill>
            <a:prstDash val="solid"/>
          </a:ln>
          <a:effectLst>
            <a:outerShdw sx="100000" sy="100000" kx="0" ky="0" algn="bl" rotWithShape="0" blurRad="19050" dist="9525" dir="5400000">
              <a:srgbClr val="0F4C5C">
                <a:alpha val="4000"/>
              </a:srgbClr>
            </a:outerShdw>
          </a:effectLst>
        </p:spPr>
        <p:txBody>
          <a:bodyPr wrap="square" rtlCol="0" anchor="ctr"/>
          <a:lstStyle/>
          <a:p>
            <a:pPr indent="0" marL="0">
              <a:buNone/>
            </a:pPr>
            <a:endParaRPr lang="en-US" dirty="0"/>
          </a:p>
        </p:txBody>
      </p:sp>
      <p:sp>
        <p:nvSpPr>
          <p:cNvPr id="28" name="Text 26"/>
          <p:cNvSpPr/>
          <p:nvPr/>
        </p:nvSpPr>
        <p:spPr>
          <a:xfrm>
            <a:off x="4636294" y="1078706"/>
            <a:ext cx="4043363" cy="228600"/>
          </a:xfrm>
          <a:prstGeom prst="rect">
            <a:avLst/>
          </a:prstGeom>
          <a:solidFill>
            <a:srgbClr val="F6F4F1"/>
          </a:solidFill>
          <a:ln/>
        </p:spPr>
        <p:txBody>
          <a:bodyPr wrap="square" rtlCol="0" anchor="ctr"/>
          <a:lstStyle/>
          <a:p>
            <a:pPr indent="0" marL="0">
              <a:buNone/>
            </a:pPr>
            <a:endParaRPr lang="en-US" dirty="0"/>
          </a:p>
        </p:txBody>
      </p:sp>
      <p:sp>
        <p:nvSpPr>
          <p:cNvPr id="29" name="Shape 27"/>
          <p:cNvSpPr/>
          <p:nvPr/>
        </p:nvSpPr>
        <p:spPr>
          <a:xfrm>
            <a:off x="4636294" y="1303734"/>
            <a:ext cx="4043363" cy="0"/>
          </a:xfrm>
          <a:prstGeom prst="line">
            <a:avLst/>
          </a:prstGeom>
          <a:noFill/>
          <a:ln w="7144">
            <a:solidFill>
              <a:srgbClr val="D8D2CB"/>
            </a:solidFill>
            <a:prstDash val="solid"/>
          </a:ln>
        </p:spPr>
      </p:sp>
      <p:sp>
        <p:nvSpPr>
          <p:cNvPr id="30" name="Text 28"/>
          <p:cNvSpPr/>
          <p:nvPr/>
        </p:nvSpPr>
        <p:spPr>
          <a:xfrm>
            <a:off x="4722019" y="1153716"/>
            <a:ext cx="71438" cy="71438"/>
          </a:xfrm>
          <a:prstGeom prst="ellipse">
            <a:avLst/>
          </a:prstGeom>
          <a:solidFill>
            <a:srgbClr val="E36414"/>
          </a:solidFill>
          <a:ln/>
        </p:spPr>
        <p:txBody>
          <a:bodyPr wrap="square" rtlCol="0" anchor="ctr"/>
          <a:lstStyle/>
          <a:p>
            <a:pPr indent="0" marL="0">
              <a:buNone/>
            </a:pPr>
            <a:endParaRPr lang="en-US" dirty="0"/>
          </a:p>
        </p:txBody>
      </p:sp>
      <p:sp>
        <p:nvSpPr>
          <p:cNvPr id="31" name="Text 29"/>
          <p:cNvSpPr/>
          <p:nvPr/>
        </p:nvSpPr>
        <p:spPr>
          <a:xfrm>
            <a:off x="4864894" y="1153716"/>
            <a:ext cx="71438" cy="71438"/>
          </a:xfrm>
          <a:prstGeom prst="ellipse">
            <a:avLst/>
          </a:prstGeom>
          <a:solidFill>
            <a:srgbClr val="C9DDE0"/>
          </a:solidFill>
          <a:ln/>
        </p:spPr>
        <p:txBody>
          <a:bodyPr wrap="square" rtlCol="0" anchor="ctr"/>
          <a:lstStyle/>
          <a:p>
            <a:pPr indent="0" marL="0">
              <a:buNone/>
            </a:pPr>
            <a:endParaRPr lang="en-US" dirty="0"/>
          </a:p>
        </p:txBody>
      </p:sp>
      <p:sp>
        <p:nvSpPr>
          <p:cNvPr id="32" name="Text 30"/>
          <p:cNvSpPr/>
          <p:nvPr/>
        </p:nvSpPr>
        <p:spPr>
          <a:xfrm>
            <a:off x="5007769" y="1153716"/>
            <a:ext cx="71438" cy="71438"/>
          </a:xfrm>
          <a:prstGeom prst="ellipse">
            <a:avLst/>
          </a:prstGeom>
          <a:solidFill>
            <a:srgbClr val="2F7A4F"/>
          </a:solidFill>
          <a:ln/>
        </p:spPr>
        <p:txBody>
          <a:bodyPr wrap="square" rtlCol="0" anchor="ctr"/>
          <a:lstStyle/>
          <a:p>
            <a:pPr indent="0" marL="0">
              <a:buNone/>
            </a:pPr>
            <a:endParaRPr lang="en-US" dirty="0"/>
          </a:p>
        </p:txBody>
      </p:sp>
      <p:sp>
        <p:nvSpPr>
          <p:cNvPr id="33" name="Text 31"/>
          <p:cNvSpPr/>
          <p:nvPr/>
        </p:nvSpPr>
        <p:spPr>
          <a:xfrm>
            <a:off x="5227796" y="1105424"/>
            <a:ext cx="937349" cy="168021"/>
          </a:xfrm>
          <a:prstGeom prst="roundRect">
            <a:avLst>
              <a:gd name="adj" fmla="val 5663265"/>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34" name="Text 32"/>
          <p:cNvSpPr/>
          <p:nvPr/>
        </p:nvSpPr>
        <p:spPr>
          <a:xfrm>
            <a:off x="5250656" y="1114425"/>
            <a:ext cx="891629" cy="150019"/>
          </a:xfrm>
          <a:prstGeom prst="rect">
            <a:avLst/>
          </a:prstGeom>
          <a:noFill/>
          <a:ln/>
        </p:spPr>
        <p:txBody>
          <a:bodyPr wrap="square" lIns="0" tIns="0" rIns="0" bIns="0" rtlCol="0" anchor="ctr"/>
          <a:lstStyle/>
          <a:p>
            <a:pPr algn="ctr" indent="0" marL="0">
              <a:lnSpc>
                <a:spcPts val="844"/>
              </a:lnSpc>
              <a:buNone/>
            </a:pPr>
            <a:r>
              <a:rPr lang="en-US" sz="800" spc="11" kern="0" dirty="0">
                <a:solidFill>
                  <a:srgbClr val="7A7A7A"/>
                </a:solidFill>
                <a:latin typeface="Liberation Sans Narrow" pitchFamily="34" charset="0"/>
                <a:ea typeface="Liberation Sans Narrow" pitchFamily="34" charset="-122"/>
                <a:cs typeface="Liberation Sans Narrow" pitchFamily="34" charset="-120"/>
              </a:rPr>
              <a:t>localhost:8001/demo</a:t>
            </a:r>
            <a:endParaRPr lang="en-US" sz="800" dirty="0"/>
          </a:p>
        </p:txBody>
      </p:sp>
      <p:sp>
        <p:nvSpPr>
          <p:cNvPr id="35" name="Text 33"/>
          <p:cNvSpPr/>
          <p:nvPr/>
        </p:nvSpPr>
        <p:spPr>
          <a:xfrm>
            <a:off x="4807744" y="1488579"/>
            <a:ext cx="3024597" cy="164592"/>
          </a:xfrm>
          <a:prstGeom prst="rect">
            <a:avLst/>
          </a:prstGeom>
          <a:noFill/>
          <a:ln/>
        </p:spPr>
        <p:txBody>
          <a:bodyPr wrap="none" lIns="0" tIns="0" rIns="0" bIns="0" rtlCol="0" anchor="t"/>
          <a:lstStyle/>
          <a:p>
            <a:pPr algn="l" indent="0" marL="0">
              <a:lnSpc>
                <a:spcPts val="886"/>
              </a:lnSpc>
              <a:buNone/>
            </a:pPr>
            <a:r>
              <a:rPr lang="en-US" sz="800" b="1" spc="106" kern="0" dirty="0">
                <a:solidFill>
                  <a:srgbClr val="7A7A7A"/>
                </a:solidFill>
                <a:latin typeface="Carlito" pitchFamily="34" charset="0"/>
                <a:ea typeface="Carlito" pitchFamily="34" charset="-122"/>
                <a:cs typeface="Carlito" pitchFamily="34" charset="-120"/>
              </a:rPr>
              <a:t>VERDICT</a:t>
            </a:r>
            <a:endParaRPr lang="en-US" sz="800" dirty="0"/>
          </a:p>
        </p:txBody>
      </p:sp>
      <p:sp>
        <p:nvSpPr>
          <p:cNvPr id="36" name="Text 34"/>
          <p:cNvSpPr/>
          <p:nvPr/>
        </p:nvSpPr>
        <p:spPr>
          <a:xfrm>
            <a:off x="7823768" y="1454825"/>
            <a:ext cx="707298" cy="180023"/>
          </a:xfrm>
          <a:prstGeom prst="roundRect">
            <a:avLst>
              <a:gd name="adj" fmla="val 5285700"/>
            </a:avLst>
          </a:prstGeom>
          <a:solidFill>
            <a:srgbClr val="F8E2DD"/>
          </a:solidFill>
          <a:ln/>
        </p:spPr>
        <p:txBody>
          <a:bodyPr wrap="square" rtlCol="0" anchor="ctr"/>
          <a:lstStyle/>
          <a:p>
            <a:pPr indent="0" marL="0">
              <a:buNone/>
            </a:pPr>
            <a:endParaRPr lang="en-US" dirty="0"/>
          </a:p>
        </p:txBody>
      </p:sp>
      <p:sp>
        <p:nvSpPr>
          <p:cNvPr id="37" name="Text 35"/>
          <p:cNvSpPr/>
          <p:nvPr/>
        </p:nvSpPr>
        <p:spPr>
          <a:xfrm>
            <a:off x="7723844" y="1464469"/>
            <a:ext cx="907146" cy="160734"/>
          </a:xfrm>
          <a:prstGeom prst="rect">
            <a:avLst/>
          </a:prstGeom>
          <a:noFill/>
          <a:ln/>
        </p:spPr>
        <p:txBody>
          <a:bodyPr wrap="none" lIns="0" tIns="0" rIns="0" bIns="0" rtlCol="0" anchor="ctr"/>
          <a:lstStyle/>
          <a:p>
            <a:pPr algn="ctr" indent="0" marL="0">
              <a:lnSpc>
                <a:spcPts val="928"/>
              </a:lnSpc>
              <a:buNone/>
            </a:pPr>
            <a:r>
              <a:rPr lang="en-US" sz="800" b="1" spc="31" kern="0" dirty="0">
                <a:solidFill>
                  <a:srgbClr val="B0321B"/>
                </a:solidFill>
                <a:latin typeface="Courier New" pitchFamily="34" charset="0"/>
                <a:ea typeface="Courier New" pitchFamily="34" charset="-122"/>
                <a:cs typeface="Courier New" pitchFamily="34" charset="-120"/>
              </a:rPr>
              <a:t>REFUSE_SCOPE</a:t>
            </a:r>
            <a:endParaRPr lang="en-US" sz="800" dirty="0"/>
          </a:p>
        </p:txBody>
      </p:sp>
      <p:sp>
        <p:nvSpPr>
          <p:cNvPr id="38" name="Text 36"/>
          <p:cNvSpPr/>
          <p:nvPr/>
        </p:nvSpPr>
        <p:spPr>
          <a:xfrm>
            <a:off x="6400800" y="1768078"/>
            <a:ext cx="514350" cy="514350"/>
          </a:xfrm>
          <a:prstGeom prst="rect">
            <a:avLst/>
          </a:prstGeom>
          <a:noFill/>
          <a:ln/>
        </p:spPr>
        <p:txBody>
          <a:bodyPr wrap="none" lIns="0" tIns="0" rIns="0" bIns="0" rtlCol="0" anchor="ctr"/>
          <a:lstStyle/>
          <a:p>
            <a:pPr algn="ctr" indent="0" marL="0">
              <a:buNone/>
            </a:pPr>
            <a:r>
              <a:rPr lang="en-US" sz="4800" dirty="0">
                <a:solidFill>
                  <a:srgbClr val="B0321C"/>
                </a:solidFill>
                <a:latin typeface="Segoe UI Symbol" pitchFamily="34" charset="0"/>
                <a:ea typeface="Segoe UI Symbol" pitchFamily="34" charset="-122"/>
                <a:cs typeface="Segoe UI Symbol" pitchFamily="34" charset="-120"/>
              </a:rPr>
              <a:t>⊘</a:t>
            </a:r>
            <a:endParaRPr lang="en-US" sz="4800" dirty="0"/>
          </a:p>
        </p:txBody>
      </p:sp>
      <p:sp>
        <p:nvSpPr>
          <p:cNvPr id="39" name="Text 37"/>
          <p:cNvSpPr/>
          <p:nvPr/>
        </p:nvSpPr>
        <p:spPr>
          <a:xfrm>
            <a:off x="4659725" y="2325291"/>
            <a:ext cx="3996500" cy="185166"/>
          </a:xfrm>
          <a:prstGeom prst="rect">
            <a:avLst/>
          </a:prstGeom>
          <a:noFill/>
          <a:ln/>
        </p:spPr>
        <p:txBody>
          <a:bodyPr wrap="square" lIns="0" tIns="0" rIns="0" bIns="0" rtlCol="0" anchor="t"/>
          <a:lstStyle/>
          <a:p>
            <a:pPr algn="ctr" indent="0" marL="0">
              <a:lnSpc>
                <a:spcPts val="1350"/>
              </a:lnSpc>
              <a:buNone/>
            </a:pPr>
            <a:r>
              <a:rPr lang="en-US" sz="1125" b="1" dirty="0">
                <a:solidFill>
                  <a:srgbClr val="B0321B"/>
                </a:solidFill>
                <a:latin typeface="Tinos" pitchFamily="34" charset="0"/>
                <a:ea typeface="Tinos" pitchFamily="34" charset="-122"/>
                <a:cs typeface="Tinos" pitchFamily="34" charset="-120"/>
              </a:rPr>
              <a:t>No number will be produced.</a:t>
            </a:r>
            <a:endParaRPr lang="en-US" sz="1125" dirty="0"/>
          </a:p>
        </p:txBody>
      </p:sp>
      <p:sp>
        <p:nvSpPr>
          <p:cNvPr id="40" name="Text 38"/>
          <p:cNvSpPr/>
          <p:nvPr/>
        </p:nvSpPr>
        <p:spPr>
          <a:xfrm>
            <a:off x="4807744" y="2596753"/>
            <a:ext cx="3700463" cy="381074"/>
          </a:xfrm>
          <a:prstGeom prst="rect">
            <a:avLst/>
          </a:prstGeom>
          <a:solidFill>
            <a:srgbClr val="F8E2DD"/>
          </a:solidFill>
          <a:ln/>
        </p:spPr>
        <p:txBody>
          <a:bodyPr wrap="square" rtlCol="0" anchor="ctr"/>
          <a:lstStyle/>
          <a:p>
            <a:pPr indent="0" marL="0">
              <a:buNone/>
            </a:pPr>
            <a:endParaRPr lang="en-US" dirty="0"/>
          </a:p>
        </p:txBody>
      </p:sp>
      <p:sp>
        <p:nvSpPr>
          <p:cNvPr id="41" name="Shape 39"/>
          <p:cNvSpPr/>
          <p:nvPr/>
        </p:nvSpPr>
        <p:spPr>
          <a:xfrm>
            <a:off x="4822031" y="2596753"/>
            <a:ext cx="0" cy="381074"/>
          </a:xfrm>
          <a:prstGeom prst="line">
            <a:avLst/>
          </a:prstGeom>
          <a:noFill/>
          <a:ln w="28575">
            <a:solidFill>
              <a:srgbClr val="B0321B"/>
            </a:solidFill>
            <a:prstDash val="solid"/>
          </a:ln>
        </p:spPr>
      </p:sp>
      <p:sp>
        <p:nvSpPr>
          <p:cNvPr id="42" name="Text 40"/>
          <p:cNvSpPr/>
          <p:nvPr/>
        </p:nvSpPr>
        <p:spPr>
          <a:xfrm>
            <a:off x="4807744" y="2596753"/>
            <a:ext cx="3700463" cy="439367"/>
          </a:xfrm>
          <a:prstGeom prst="rect">
            <a:avLst/>
          </a:prstGeom>
          <a:noFill/>
          <a:ln/>
        </p:spPr>
        <p:txBody>
          <a:bodyPr wrap="square" lIns="85725" tIns="71438" rIns="85725" bIns="71438" rtlCol="0" anchor="t">
            <a:normAutofit/>
          </a:bodyPr>
          <a:lstStyle/>
          <a:p>
            <a:pPr algn="l" indent="0" marL="0">
              <a:lnSpc>
                <a:spcPts val="938"/>
              </a:lnSpc>
              <a:buNone/>
            </a:pPr>
            <a:r>
              <a:rPr lang="en-US" sz="800" b="1" dirty="0">
                <a:solidFill>
                  <a:srgbClr val="8B2715"/>
                </a:solidFill>
                <a:latin typeface="Carlito" pitchFamily="34" charset="0"/>
                <a:ea typeface="Carlito" pitchFamily="34" charset="-122"/>
                <a:cs typeface="Carlito" pitchFamily="34" charset="-120"/>
              </a:rPr>
              <a:t>Reason:</a:t>
            </a:r>
            <a:pPr algn="l" indent="0" marL="0">
              <a:lnSpc>
                <a:spcPts val="938"/>
              </a:lnSpc>
              <a:buNone/>
            </a:pPr>
            <a:r>
              <a:rPr lang="en-US" sz="800" dirty="0">
                <a:solidFill>
                  <a:srgbClr val="4A4A4A"/>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B0321B"/>
                </a:solidFill>
                <a:latin typeface="Courier New" pitchFamily="34" charset="0"/>
                <a:ea typeface="Courier New" pitchFamily="34" charset="-122"/>
                <a:cs typeface="Courier New" pitchFamily="34" charset="-120"/>
              </a:rPr>
              <a:t>R_FORECAST</a:t>
            </a:r>
            <a:pPr algn="l" indent="0" marL="0">
              <a:lnSpc>
                <a:spcPts val="938"/>
              </a:lnSpc>
              <a:buNone/>
            </a:pPr>
            <a:r>
              <a:rPr lang="en-US" sz="800" dirty="0">
                <a:solidFill>
                  <a:srgbClr val="4A4A4A"/>
                </a:solidFill>
                <a:latin typeface="Carlito" pitchFamily="34" charset="0"/>
                <a:ea typeface="Carlito" pitchFamily="34" charset="-122"/>
                <a:cs typeface="Carlito" pitchFamily="34" charset="-120"/>
              </a:rPr>
              <a:t> — question asks about a future outcome ("Will unemployment fall in 2027?"). Forecasts are out of scope by Stage 1 rule.</a:t>
            </a:r>
            <a:endParaRPr lang="en-US" sz="800" dirty="0"/>
          </a:p>
        </p:txBody>
      </p:sp>
      <p:sp>
        <p:nvSpPr>
          <p:cNvPr id="43" name="Text 41"/>
          <p:cNvSpPr/>
          <p:nvPr/>
        </p:nvSpPr>
        <p:spPr>
          <a:xfrm>
            <a:off x="4811316" y="3067124"/>
            <a:ext cx="3693319" cy="279499"/>
          </a:xfrm>
          <a:prstGeom prst="roundRect">
            <a:avLst>
              <a:gd name="adj" fmla="val 13632"/>
            </a:avLst>
          </a:prstGeom>
          <a:noFill/>
          <a:ln w="7144">
            <a:solidFill>
              <a:srgbClr val="D8D2CB"/>
            </a:solidFill>
            <a:prstDash val="solid"/>
          </a:ln>
        </p:spPr>
        <p:txBody>
          <a:bodyPr wrap="square" rtlCol="0" anchor="ctr"/>
          <a:lstStyle/>
          <a:p>
            <a:pPr indent="0" marL="0">
              <a:buNone/>
            </a:pPr>
            <a:endParaRPr lang="en-US" dirty="0"/>
          </a:p>
        </p:txBody>
      </p:sp>
      <p:sp>
        <p:nvSpPr>
          <p:cNvPr id="44" name="Text 42"/>
          <p:cNvSpPr/>
          <p:nvPr/>
        </p:nvSpPr>
        <p:spPr>
          <a:xfrm>
            <a:off x="4807744" y="3063553"/>
            <a:ext cx="3700463" cy="344936"/>
          </a:xfrm>
          <a:prstGeom prst="rect">
            <a:avLst/>
          </a:prstGeom>
          <a:noFill/>
          <a:ln/>
        </p:spPr>
        <p:txBody>
          <a:bodyPr wrap="square" lIns="85725" tIns="71438" rIns="85725" bIns="71438" rtlCol="0" anchor="t">
            <a:normAutofit/>
          </a:bodyPr>
          <a:lstStyle/>
          <a:p>
            <a:pPr algn="l" indent="0" marL="0">
              <a:lnSpc>
                <a:spcPts val="1020"/>
              </a:lnSpc>
              <a:buNone/>
            </a:pPr>
            <a:r>
              <a:rPr lang="en-US" sz="800" dirty="0">
                <a:solidFill>
                  <a:srgbClr val="7A7A7A"/>
                </a:solidFill>
                <a:latin typeface="Carlito" pitchFamily="34" charset="0"/>
                <a:ea typeface="Carlito" pitchFamily="34" charset="-122"/>
                <a:cs typeface="Carlito" pitchFamily="34" charset="-120"/>
              </a:rPr>
              <a:t>Q:</a:t>
            </a:r>
            <a:pPr algn="l" indent="0" marL="0">
              <a:lnSpc>
                <a:spcPts val="1020"/>
              </a:lnSpc>
              <a:buNone/>
            </a:pPr>
            <a:r>
              <a:rPr lang="en-US" sz="800" dirty="0">
                <a:solidFill>
                  <a:srgbClr val="1A1A1A"/>
                </a:solidFill>
                <a:latin typeface="Liberation Sans Narrow" pitchFamily="34" charset="0"/>
                <a:ea typeface="Liberation Sans Narrow" pitchFamily="34" charset="-122"/>
                <a:cs typeface="Liberation Sans Narrow" pitchFamily="34" charset="-120"/>
              </a:rPr>
              <a:t>Will unemployment fall in 2027?</a:t>
            </a:r>
            <a:endParaRPr lang="en-US" sz="800" dirty="0"/>
          </a:p>
        </p:txBody>
      </p:sp>
      <p:sp>
        <p:nvSpPr>
          <p:cNvPr id="45" name="Text 43"/>
          <p:cNvSpPr/>
          <p:nvPr/>
        </p:nvSpPr>
        <p:spPr>
          <a:xfrm>
            <a:off x="4807744" y="3435921"/>
            <a:ext cx="3981640" cy="159040"/>
          </a:xfrm>
          <a:prstGeom prst="rect">
            <a:avLst/>
          </a:prstGeom>
          <a:noFill/>
          <a:ln/>
        </p:spPr>
        <p:txBody>
          <a:bodyPr wrap="square" lIns="0" tIns="0" rIns="0" bIns="0" rtlCol="0" anchor="t"/>
          <a:lstStyle/>
          <a:p>
            <a:pPr algn="l" indent="0" marL="0">
              <a:lnSpc>
                <a:spcPts val="856"/>
              </a:lnSpc>
              <a:buNone/>
            </a:pPr>
            <a:r>
              <a:rPr lang="en-US" sz="800" dirty="0">
                <a:solidFill>
                  <a:srgbClr val="7A7A7A"/>
                </a:solidFill>
                <a:latin typeface="Courier New" pitchFamily="34" charset="0"/>
                <a:ea typeface="Courier New" pitchFamily="34" charset="-122"/>
                <a:cs typeface="Courier New" pitchFamily="34" charset="-120"/>
              </a:rPr>
              <a:t>hash 7c2e8a14 · stage 1 · rule-version v2026.10</a:t>
            </a:r>
            <a:endParaRPr lang="en-US" sz="800" dirty="0"/>
          </a:p>
        </p:txBody>
      </p:sp>
      <p:sp>
        <p:nvSpPr>
          <p:cNvPr id="46" name="Shape 44"/>
          <p:cNvSpPr/>
          <p:nvPr/>
        </p:nvSpPr>
        <p:spPr>
          <a:xfrm>
            <a:off x="4807744" y="4339828"/>
            <a:ext cx="3700463" cy="0"/>
          </a:xfrm>
          <a:prstGeom prst="line">
            <a:avLst/>
          </a:prstGeom>
          <a:noFill/>
          <a:ln w="7144">
            <a:solidFill>
              <a:srgbClr val="ECE7E0"/>
            </a:solidFill>
            <a:prstDash val="dash"/>
          </a:ln>
        </p:spPr>
      </p:sp>
      <p:sp>
        <p:nvSpPr>
          <p:cNvPr id="47" name="Text 45"/>
          <p:cNvSpPr/>
          <p:nvPr/>
        </p:nvSpPr>
        <p:spPr>
          <a:xfrm>
            <a:off x="5917311" y="4450556"/>
            <a:ext cx="1481328" cy="114300"/>
          </a:xfrm>
          <a:prstGeom prst="rect">
            <a:avLst/>
          </a:prstGeom>
          <a:noFill/>
          <a:ln/>
        </p:spPr>
        <p:txBody>
          <a:bodyPr wrap="square" lIns="0" tIns="0" rIns="0" bIns="0" rtlCol="0" anchor="t"/>
          <a:lstStyle/>
          <a:p>
            <a:pPr algn="ctr" indent="0" marL="0">
              <a:lnSpc>
                <a:spcPts val="928"/>
              </a:lnSpc>
              <a:buNone/>
            </a:pPr>
            <a:r>
              <a:rPr lang="en-US" sz="619" i="1" dirty="0">
                <a:solidFill>
                  <a:srgbClr val="7A7A7A"/>
                </a:solidFill>
                <a:latin typeface="Carlito" pitchFamily="34" charset="0"/>
                <a:ea typeface="Carlito" pitchFamily="34" charset="-122"/>
                <a:cs typeface="Carlito" pitchFamily="34" charset="-120"/>
              </a:rPr>
              <a:t>Refusal is a feature, not a failure mode.</a:t>
            </a:r>
            <a:endParaRPr lang="en-US" sz="619" dirty="0"/>
          </a:p>
        </p:txBody>
      </p:sp>
      <p:sp>
        <p:nvSpPr>
          <p:cNvPr id="48" name="Text 46"/>
          <p:cNvSpPr/>
          <p:nvPr/>
        </p:nvSpPr>
        <p:spPr>
          <a:xfrm>
            <a:off x="0" y="4943475"/>
            <a:ext cx="9144000" cy="200025"/>
          </a:xfrm>
          <a:prstGeom prst="rect">
            <a:avLst/>
          </a:prstGeom>
          <a:solidFill>
            <a:srgbClr val="FFFFFF"/>
          </a:solidFill>
          <a:ln/>
        </p:spPr>
        <p:txBody>
          <a:bodyPr wrap="square" rtlCol="0" anchor="ctr"/>
          <a:lstStyle/>
          <a:p>
            <a:pPr indent="0" marL="0">
              <a:buNone/>
            </a:pPr>
            <a:endParaRPr lang="en-US" dirty="0"/>
          </a:p>
        </p:txBody>
      </p:sp>
      <p:sp>
        <p:nvSpPr>
          <p:cNvPr id="49" name="Shape 47"/>
          <p:cNvSpPr/>
          <p:nvPr/>
        </p:nvSpPr>
        <p:spPr>
          <a:xfrm>
            <a:off x="0" y="4947047"/>
            <a:ext cx="9144000" cy="0"/>
          </a:xfrm>
          <a:prstGeom prst="line">
            <a:avLst/>
          </a:prstGeom>
          <a:noFill/>
          <a:ln w="7144">
            <a:solidFill>
              <a:srgbClr val="D8D2CB"/>
            </a:solidFill>
            <a:prstDash val="solid"/>
          </a:ln>
        </p:spPr>
      </p:sp>
      <p:sp>
        <p:nvSpPr>
          <p:cNvPr id="50" name="Text 48"/>
          <p:cNvSpPr/>
          <p:nvPr/>
        </p:nvSpPr>
        <p:spPr>
          <a:xfrm>
            <a:off x="342900" y="4990802"/>
            <a:ext cx="6232587" cy="152698"/>
          </a:xfrm>
          <a:prstGeom prst="rect">
            <a:avLst/>
          </a:prstGeom>
          <a:noFill/>
          <a:ln/>
        </p:spPr>
        <p:txBody>
          <a:bodyPr wrap="none" lIns="0" tIns="0" rIns="0" bIns="0" rtlCol="0" anchor="t"/>
          <a:lstStyle/>
          <a:p>
            <a:pPr algn="l" indent="0" marL="0">
              <a:lnSpc>
                <a:spcPts val="886"/>
              </a:lnSpc>
              <a:buNone/>
            </a:pPr>
            <a:r>
              <a:rPr lang="en-US" sz="800" spc="24" kern="0" dirty="0">
                <a:solidFill>
                  <a:srgbClr val="0F4C5C"/>
                </a:solidFill>
                <a:latin typeface="Carlito" pitchFamily="34" charset="0"/>
                <a:ea typeface="Carlito" pitchFamily="34" charset="-122"/>
                <a:cs typeface="Carlito" pitchFamily="34" charset="-120"/>
              </a:rPr>
              <a:t>Vidhi Guardian | Ajay Choudhary (MSAI @ Plaksha)</a:t>
            </a:r>
            <a:endParaRPr lang="en-US" sz="800" dirty="0"/>
          </a:p>
        </p:txBody>
      </p:sp>
      <p:sp>
        <p:nvSpPr>
          <p:cNvPr id="51" name="Text 49"/>
          <p:cNvSpPr/>
          <p:nvPr/>
        </p:nvSpPr>
        <p:spPr>
          <a:xfrm>
            <a:off x="6589775" y="4990802"/>
            <a:ext cx="2211325" cy="152698"/>
          </a:xfrm>
          <a:prstGeom prst="rect">
            <a:avLst/>
          </a:prstGeom>
          <a:noFill/>
          <a:ln/>
        </p:spPr>
        <p:txBody>
          <a:bodyPr wrap="square" lIns="0" tIns="0" rIns="0" bIns="0" rtlCol="0" anchor="t"/>
          <a:lstStyle/>
          <a:p>
            <a:pPr algn="l" indent="0" marL="0">
              <a:lnSpc>
                <a:spcPts val="886"/>
              </a:lnSpc>
              <a:buNone/>
            </a:pPr>
            <a:r>
              <a:rPr lang="en-US" sz="600" spc="24" kern="0" dirty="0">
                <a:solidFill>
                  <a:srgbClr val="0F4C5C"/>
                </a:solidFill>
                <a:latin typeface="Courier New" pitchFamily="34" charset="0"/>
                <a:ea typeface="Courier New" pitchFamily="34" charset="-122"/>
                <a:cs typeface="Courier New" pitchFamily="34" charset="-120"/>
              </a:rPr>
              <a:t>ConfAI 2026 · Track 06 Responsible &amp; Ethical AI</a:t>
            </a:r>
            <a:pPr algn="l" indent="0" marL="0">
              <a:lnSpc>
                <a:spcPts val="886"/>
              </a:lnSpc>
              <a:buNone/>
            </a:pPr>
            <a:r>
              <a:rPr lang="en-US" sz="600" spc="24" kern="0" dirty="0">
                <a:solidFill>
                  <a:srgbClr val="7A7A7A"/>
                </a:solidFill>
                <a:latin typeface="Carlito" pitchFamily="34" charset="0"/>
                <a:ea typeface="Carlito" pitchFamily="34" charset="-122"/>
                <a:cs typeface="Carlito" pitchFamily="34" charset="-120"/>
              </a:rPr>
              <a:t> | </a:t>
            </a:r>
            <a:pPr algn="l" indent="0" marL="0">
              <a:lnSpc>
                <a:spcPts val="886"/>
              </a:lnSpc>
              <a:buNone/>
            </a:pPr>
            <a:r>
              <a:rPr lang="en-US" sz="600" spc="24" kern="0" dirty="0">
                <a:solidFill>
                  <a:srgbClr val="0F4C5C"/>
                </a:solidFill>
                <a:latin typeface="Liberation Sans Narrow" pitchFamily="34" charset="0"/>
                <a:ea typeface="Liberation Sans Narrow" pitchFamily="34" charset="-122"/>
                <a:cs typeface="Liberation Sans Narrow" pitchFamily="34" charset="-120"/>
              </a:rPr>
              <a:t>5 / 7</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7175"/>
            <a:ext cx="3913370" cy="164592"/>
          </a:xfrm>
          <a:prstGeom prst="rect">
            <a:avLst/>
          </a:prstGeom>
          <a:noFill/>
          <a:ln/>
        </p:spPr>
        <p:txBody>
          <a:bodyPr wrap="square" lIns="0" tIns="0" rIns="0" bIns="0" rtlCol="0" anchor="t"/>
          <a:lstStyle/>
          <a:p>
            <a:pPr algn="l" indent="0" marL="0">
              <a:lnSpc>
                <a:spcPts val="886"/>
              </a:lnSpc>
              <a:buNone/>
            </a:pPr>
            <a:r>
              <a:rPr lang="en-US" sz="600" b="1" spc="106" kern="0" dirty="0">
                <a:solidFill>
                  <a:srgbClr val="E36414"/>
                </a:solidFill>
                <a:latin typeface="Carlito" pitchFamily="34" charset="0"/>
                <a:ea typeface="Carlito" pitchFamily="34" charset="-122"/>
                <a:cs typeface="Carlito" pitchFamily="34" charset="-120"/>
              </a:rPr>
              <a:t>MEASURED, OFFLINE, REPRODUCIBLE · PYTHON VIDHI/EVAL.PY + PYTEST</a:t>
            </a:r>
            <a:endParaRPr lang="en-US" sz="600" dirty="0"/>
          </a:p>
        </p:txBody>
      </p:sp>
      <p:sp>
        <p:nvSpPr>
          <p:cNvPr id="3" name="Text 1"/>
          <p:cNvSpPr/>
          <p:nvPr/>
        </p:nvSpPr>
        <p:spPr>
          <a:xfrm>
            <a:off x="457200" y="442913"/>
            <a:ext cx="5081137" cy="248335"/>
          </a:xfrm>
          <a:prstGeom prst="rect">
            <a:avLst/>
          </a:prstGeom>
          <a:noFill/>
          <a:ln/>
        </p:spPr>
        <p:txBody>
          <a:bodyPr wrap="square" lIns="0" tIns="0" rIns="0" bIns="0" rtlCol="0" anchor="t"/>
          <a:lstStyle/>
          <a:p>
            <a:pPr algn="l" indent="0" marL="0">
              <a:lnSpc>
                <a:spcPts val="1811"/>
              </a:lnSpc>
              <a:buNone/>
            </a:pPr>
            <a:r>
              <a:rPr lang="en-US" sz="1575" b="1" dirty="0">
                <a:solidFill>
                  <a:srgbClr val="0F4C5C"/>
                </a:solidFill>
                <a:latin typeface="Tinos" pitchFamily="34" charset="0"/>
                <a:ea typeface="Tinos" pitchFamily="34" charset="-122"/>
                <a:cs typeface="Tinos" pitchFamily="34" charset="-120"/>
              </a:rPr>
              <a:t>Every number below is a test output, not a slide claim.</a:t>
            </a:r>
            <a:endParaRPr lang="en-US" sz="1575" dirty="0"/>
          </a:p>
        </p:txBody>
      </p:sp>
      <p:sp>
        <p:nvSpPr>
          <p:cNvPr id="4" name="Text 2"/>
          <p:cNvSpPr/>
          <p:nvPr/>
        </p:nvSpPr>
        <p:spPr>
          <a:xfrm>
            <a:off x="457200" y="771525"/>
            <a:ext cx="2830153" cy="164592"/>
          </a:xfrm>
          <a:prstGeom prst="rect">
            <a:avLst/>
          </a:prstGeom>
          <a:noFill/>
          <a:ln/>
        </p:spPr>
        <p:txBody>
          <a:bodyPr wrap="square" lIns="0" tIns="0" rIns="0" bIns="0" rtlCol="0" anchor="t"/>
          <a:lstStyle/>
          <a:p>
            <a:pPr algn="l" indent="0" marL="0">
              <a:lnSpc>
                <a:spcPts val="1013"/>
              </a:lnSpc>
              <a:buNone/>
            </a:pPr>
            <a:r>
              <a:rPr lang="en-US" sz="675" i="1" dirty="0">
                <a:solidFill>
                  <a:srgbClr val="7A7A7A"/>
                </a:solidFill>
                <a:latin typeface="Carlito" pitchFamily="34" charset="0"/>
                <a:ea typeface="Carlito" pitchFamily="34" charset="-122"/>
                <a:cs typeface="Carlito" pitchFamily="34" charset="-120"/>
              </a:rPr>
              <a:t>173 verified rows · 100 golden queries · 19 danger pairs · offline unit tests.</a:t>
            </a:r>
            <a:endParaRPr lang="en-US" sz="675" dirty="0"/>
          </a:p>
        </p:txBody>
      </p:sp>
      <p:sp>
        <p:nvSpPr>
          <p:cNvPr id="5" name="Shape 3"/>
          <p:cNvSpPr/>
          <p:nvPr/>
        </p:nvSpPr>
        <p:spPr>
          <a:xfrm>
            <a:off x="457200" y="1275159"/>
            <a:ext cx="1868984" cy="0"/>
          </a:xfrm>
          <a:prstGeom prst="line">
            <a:avLst/>
          </a:prstGeom>
          <a:noFill/>
          <a:ln w="14288">
            <a:solidFill>
              <a:srgbClr val="E36414"/>
            </a:solidFill>
            <a:prstDash val="solid"/>
          </a:ln>
        </p:spPr>
      </p:sp>
      <p:sp>
        <p:nvSpPr>
          <p:cNvPr id="6" name="Text 4"/>
          <p:cNvSpPr/>
          <p:nvPr/>
        </p:nvSpPr>
        <p:spPr>
          <a:xfrm>
            <a:off x="457200" y="1092994"/>
            <a:ext cx="2179269" cy="261890"/>
          </a:xfrm>
          <a:prstGeom prst="rect">
            <a:avLst/>
          </a:prstGeom>
          <a:noFill/>
          <a:ln/>
        </p:spPr>
        <p:txBody>
          <a:bodyPr wrap="square" lIns="0" tIns="0" rIns="0" bIns="57150" rtlCol="0" anchor="t">
            <a:normAutofit/>
          </a:bodyPr>
          <a:lstStyle/>
          <a:p>
            <a:pPr algn="l" indent="0" marL="0">
              <a:lnSpc>
                <a:spcPts val="928"/>
              </a:lnSpc>
              <a:buNone/>
            </a:pPr>
            <a:r>
              <a:rPr lang="en-US" sz="800" b="1" spc="111" kern="0" dirty="0">
                <a:solidFill>
                  <a:srgbClr val="7A7A7A"/>
                </a:solidFill>
                <a:latin typeface="Carlito" pitchFamily="34" charset="0"/>
                <a:ea typeface="Carlito" pitchFamily="34" charset="-122"/>
                <a:cs typeface="Carlito" pitchFamily="34" charset="-120"/>
              </a:rPr>
              <a:t>CORRECTNESS GATES (ALL MUST PASS)</a:t>
            </a:r>
            <a:endParaRPr lang="en-US" sz="800" dirty="0"/>
          </a:p>
        </p:txBody>
      </p:sp>
      <p:sp>
        <p:nvSpPr>
          <p:cNvPr id="7" name="Text 5"/>
          <p:cNvSpPr/>
          <p:nvPr/>
        </p:nvSpPr>
        <p:spPr>
          <a:xfrm>
            <a:off x="460772" y="1385888"/>
            <a:ext cx="1650206" cy="1564481"/>
          </a:xfrm>
          <a:prstGeom prst="roundRect">
            <a:avLst>
              <a:gd name="adj" fmla="val 3653"/>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8" name="Text 6"/>
          <p:cNvSpPr/>
          <p:nvPr/>
        </p:nvSpPr>
        <p:spPr>
          <a:xfrm>
            <a:off x="578644" y="1503759"/>
            <a:ext cx="200025" cy="200025"/>
          </a:xfrm>
          <a:prstGeom prst="rect">
            <a:avLst/>
          </a:prstGeom>
          <a:noFill/>
          <a:ln/>
        </p:spPr>
        <p:txBody>
          <a:bodyPr wrap="none" lIns="0" tIns="0" rIns="0" bIns="0" rtlCol="0" anchor="ctr"/>
          <a:lstStyle/>
          <a:p>
            <a:pPr algn="ctr" indent="0" marL="0">
              <a:buNone/>
            </a:pPr>
            <a:r>
              <a:rPr lang="en-US" sz="1969" dirty="0">
                <a:solidFill>
                  <a:srgbClr val="0F4C5C"/>
                </a:solidFill>
                <a:latin typeface="Segoe UI Symbol" pitchFamily="34" charset="0"/>
                <a:ea typeface="Segoe UI Symbol" pitchFamily="34" charset="-122"/>
                <a:cs typeface="Segoe UI Symbol" pitchFamily="34" charset="-120"/>
              </a:rPr>
              <a:t>✓</a:t>
            </a:r>
            <a:endParaRPr lang="en-US" sz="1969" dirty="0"/>
          </a:p>
        </p:txBody>
      </p:sp>
      <p:sp>
        <p:nvSpPr>
          <p:cNvPr id="9" name="Text 7"/>
          <p:cNvSpPr/>
          <p:nvPr/>
        </p:nvSpPr>
        <p:spPr>
          <a:xfrm>
            <a:off x="578644" y="1803797"/>
            <a:ext cx="1414463" cy="259184"/>
          </a:xfrm>
          <a:prstGeom prst="rect">
            <a:avLst/>
          </a:prstGeom>
          <a:noFill/>
          <a:ln/>
        </p:spPr>
        <p:txBody>
          <a:bodyPr wrap="none" lIns="0" tIns="0" rIns="0" bIns="0" rtlCol="0" anchor="t"/>
          <a:lstStyle/>
          <a:p>
            <a:pPr algn="l" indent="0" marL="0">
              <a:lnSpc>
                <a:spcPts val="1890"/>
              </a:lnSpc>
              <a:buNone/>
            </a:pPr>
            <a:r>
              <a:rPr lang="en-US" sz="1800" b="1" spc="-18" kern="0" dirty="0">
                <a:solidFill>
                  <a:srgbClr val="0F4C5C"/>
                </a:solidFill>
                <a:latin typeface="Liberation Sans Narrow" pitchFamily="34" charset="0"/>
                <a:ea typeface="Liberation Sans Narrow" pitchFamily="34" charset="-122"/>
                <a:cs typeface="Liberation Sans Narrow" pitchFamily="34" charset="-120"/>
              </a:rPr>
              <a:t>100 / 100</a:t>
            </a:r>
            <a:endParaRPr lang="en-US" sz="1800" dirty="0"/>
          </a:p>
        </p:txBody>
      </p:sp>
      <p:sp>
        <p:nvSpPr>
          <p:cNvPr id="10" name="Text 8"/>
          <p:cNvSpPr/>
          <p:nvPr/>
        </p:nvSpPr>
        <p:spPr>
          <a:xfrm>
            <a:off x="578644" y="2115220"/>
            <a:ext cx="1414463" cy="133302"/>
          </a:xfrm>
          <a:prstGeom prst="rect">
            <a:avLst/>
          </a:prstGeom>
          <a:noFill/>
          <a:ln/>
        </p:spPr>
        <p:txBody>
          <a:bodyPr wrap="none" lIns="0" tIns="0" rIns="0" bIns="0" rtlCol="0" anchor="t">
            <a:normAutofit/>
          </a:bodyPr>
          <a:lstStyle/>
          <a:p>
            <a:pPr algn="l" indent="0" marL="0">
              <a:lnSpc>
                <a:spcPts val="928"/>
              </a:lnSpc>
              <a:buNone/>
            </a:pPr>
            <a:r>
              <a:rPr lang="en-US" sz="800" spc="74" kern="0" dirty="0">
                <a:solidFill>
                  <a:srgbClr val="1A1A1A"/>
                </a:solidFill>
                <a:latin typeface="Carlito" pitchFamily="34" charset="0"/>
                <a:ea typeface="Carlito" pitchFamily="34" charset="-122"/>
                <a:cs typeface="Carlito" pitchFamily="34" charset="-120"/>
              </a:rPr>
              <a:t>GOLDEN VERDICTS</a:t>
            </a:r>
            <a:endParaRPr lang="en-US" sz="800" dirty="0"/>
          </a:p>
        </p:txBody>
      </p:sp>
      <p:sp>
        <p:nvSpPr>
          <p:cNvPr id="11" name="Text 9"/>
          <p:cNvSpPr/>
          <p:nvPr/>
        </p:nvSpPr>
        <p:spPr>
          <a:xfrm>
            <a:off x="578644" y="2275954"/>
            <a:ext cx="1499330" cy="153526"/>
          </a:xfrm>
          <a:prstGeom prst="rect">
            <a:avLst/>
          </a:prstGeom>
          <a:noFill/>
          <a:ln/>
        </p:spPr>
        <p:txBody>
          <a:bodyPr wrap="square" lIns="0" tIns="0" rIns="0" bIns="0" rtlCol="0" anchor="t"/>
          <a:lstStyle/>
          <a:p>
            <a:pPr algn="l" indent="0" marL="0">
              <a:lnSpc>
                <a:spcPts val="866"/>
              </a:lnSpc>
              <a:buNone/>
            </a:pPr>
            <a:r>
              <a:rPr lang="en-US" sz="619" dirty="0">
                <a:solidFill>
                  <a:srgbClr val="4A4A4A"/>
                </a:solidFill>
                <a:latin typeface="Liberation Sans Narrow" pitchFamily="34" charset="0"/>
                <a:ea typeface="Liberation Sans Narrow" pitchFamily="34" charset="-122"/>
                <a:cs typeface="Liberation Sans Narrow" pitchFamily="34" charset="-120"/>
              </a:rPr>
              <a:t>[0.963–1.000] agreement range</a:t>
            </a:r>
            <a:endParaRPr lang="en-US" sz="619" dirty="0"/>
          </a:p>
        </p:txBody>
      </p:sp>
      <p:sp>
        <p:nvSpPr>
          <p:cNvPr id="12" name="Text 10"/>
          <p:cNvSpPr/>
          <p:nvPr/>
        </p:nvSpPr>
        <p:spPr>
          <a:xfrm>
            <a:off x="2203847" y="1385888"/>
            <a:ext cx="1650206" cy="1564481"/>
          </a:xfrm>
          <a:prstGeom prst="roundRect">
            <a:avLst>
              <a:gd name="adj" fmla="val 3653"/>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13" name="Text 11"/>
          <p:cNvSpPr/>
          <p:nvPr/>
        </p:nvSpPr>
        <p:spPr>
          <a:xfrm>
            <a:off x="2321719" y="1503759"/>
            <a:ext cx="200025" cy="200025"/>
          </a:xfrm>
          <a:prstGeom prst="rect">
            <a:avLst/>
          </a:prstGeom>
          <a:noFill/>
          <a:ln/>
        </p:spPr>
        <p:txBody>
          <a:bodyPr wrap="none" lIns="0" tIns="0" rIns="0" bIns="0" rtlCol="0" anchor="ctr"/>
          <a:lstStyle/>
          <a:p>
            <a:pPr algn="ctr" indent="0" marL="0">
              <a:buNone/>
            </a:pPr>
            <a:r>
              <a:rPr lang="en-US" sz="1969" dirty="0">
                <a:solidFill>
                  <a:srgbClr val="0F4C5C"/>
                </a:solidFill>
                <a:latin typeface="Segoe UI Symbol" pitchFamily="34" charset="0"/>
                <a:ea typeface="Segoe UI Symbol" pitchFamily="34" charset="-122"/>
                <a:cs typeface="Segoe UI Symbol" pitchFamily="34" charset="-120"/>
              </a:rPr>
              <a:t>✓</a:t>
            </a:r>
            <a:endParaRPr lang="en-US" sz="1969" dirty="0"/>
          </a:p>
        </p:txBody>
      </p:sp>
      <p:sp>
        <p:nvSpPr>
          <p:cNvPr id="14" name="Text 12"/>
          <p:cNvSpPr/>
          <p:nvPr/>
        </p:nvSpPr>
        <p:spPr>
          <a:xfrm>
            <a:off x="2321719" y="1803797"/>
            <a:ext cx="1414463" cy="259184"/>
          </a:xfrm>
          <a:prstGeom prst="rect">
            <a:avLst/>
          </a:prstGeom>
          <a:noFill/>
          <a:ln/>
        </p:spPr>
        <p:txBody>
          <a:bodyPr wrap="none" lIns="0" tIns="0" rIns="0" bIns="0" rtlCol="0" anchor="t"/>
          <a:lstStyle/>
          <a:p>
            <a:pPr algn="l" indent="0" marL="0">
              <a:lnSpc>
                <a:spcPts val="1890"/>
              </a:lnSpc>
              <a:buNone/>
            </a:pPr>
            <a:r>
              <a:rPr lang="en-US" sz="1800" b="1" spc="-18" kern="0" dirty="0">
                <a:solidFill>
                  <a:srgbClr val="0F4C5C"/>
                </a:solidFill>
                <a:latin typeface="Liberation Sans Narrow" pitchFamily="34" charset="0"/>
                <a:ea typeface="Liberation Sans Narrow" pitchFamily="34" charset="-122"/>
                <a:cs typeface="Liberation Sans Narrow" pitchFamily="34" charset="-120"/>
              </a:rPr>
              <a:t>100 / 100</a:t>
            </a:r>
            <a:endParaRPr lang="en-US" sz="1800" dirty="0"/>
          </a:p>
        </p:txBody>
      </p:sp>
      <p:sp>
        <p:nvSpPr>
          <p:cNvPr id="15" name="Text 13"/>
          <p:cNvSpPr/>
          <p:nvPr/>
        </p:nvSpPr>
        <p:spPr>
          <a:xfrm>
            <a:off x="2321719" y="2115220"/>
            <a:ext cx="1414463" cy="133302"/>
          </a:xfrm>
          <a:prstGeom prst="rect">
            <a:avLst/>
          </a:prstGeom>
          <a:noFill/>
          <a:ln/>
        </p:spPr>
        <p:txBody>
          <a:bodyPr wrap="none" lIns="0" tIns="0" rIns="0" bIns="0" rtlCol="0" anchor="t">
            <a:normAutofit/>
          </a:bodyPr>
          <a:lstStyle/>
          <a:p>
            <a:pPr algn="l" indent="0" marL="0">
              <a:lnSpc>
                <a:spcPts val="928"/>
              </a:lnSpc>
              <a:buNone/>
            </a:pPr>
            <a:r>
              <a:rPr lang="en-US" sz="800" spc="74" kern="0" dirty="0">
                <a:solidFill>
                  <a:srgbClr val="1A1A1A"/>
                </a:solidFill>
                <a:latin typeface="Carlito" pitchFamily="34" charset="0"/>
                <a:ea typeface="Carlito" pitchFamily="34" charset="-122"/>
                <a:cs typeface="Carlito" pitchFamily="34" charset="-120"/>
              </a:rPr>
              <a:t>REASON CODES</a:t>
            </a:r>
            <a:endParaRPr lang="en-US" sz="800" dirty="0"/>
          </a:p>
        </p:txBody>
      </p:sp>
      <p:sp>
        <p:nvSpPr>
          <p:cNvPr id="16" name="Text 14"/>
          <p:cNvSpPr/>
          <p:nvPr/>
        </p:nvSpPr>
        <p:spPr>
          <a:xfrm>
            <a:off x="2321719" y="2275954"/>
            <a:ext cx="1499330" cy="153526"/>
          </a:xfrm>
          <a:prstGeom prst="rect">
            <a:avLst/>
          </a:prstGeom>
          <a:noFill/>
          <a:ln/>
        </p:spPr>
        <p:txBody>
          <a:bodyPr wrap="square" lIns="0" tIns="0" rIns="0" bIns="0" rtlCol="0" anchor="t"/>
          <a:lstStyle/>
          <a:p>
            <a:pPr algn="l" indent="0" marL="0">
              <a:lnSpc>
                <a:spcPts val="866"/>
              </a:lnSpc>
              <a:buNone/>
            </a:pPr>
            <a:r>
              <a:rPr lang="en-US" sz="619" dirty="0">
                <a:solidFill>
                  <a:srgbClr val="4A4A4A"/>
                </a:solidFill>
                <a:latin typeface="Liberation Sans Narrow" pitchFamily="34" charset="0"/>
                <a:ea typeface="Liberation Sans Narrow" pitchFamily="34" charset="-122"/>
                <a:cs typeface="Liberation Sans Narrow" pitchFamily="34" charset="-120"/>
              </a:rPr>
              <a:t>figures 59/59 [0.939–1.000]</a:t>
            </a:r>
            <a:endParaRPr lang="en-US" sz="619" dirty="0"/>
          </a:p>
        </p:txBody>
      </p:sp>
      <p:sp>
        <p:nvSpPr>
          <p:cNvPr id="17" name="Text 15"/>
          <p:cNvSpPr/>
          <p:nvPr/>
        </p:nvSpPr>
        <p:spPr>
          <a:xfrm>
            <a:off x="3946922" y="1385888"/>
            <a:ext cx="1650206" cy="1564481"/>
          </a:xfrm>
          <a:prstGeom prst="roundRect">
            <a:avLst>
              <a:gd name="adj" fmla="val 3653"/>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18" name="Text 16"/>
          <p:cNvSpPr/>
          <p:nvPr/>
        </p:nvSpPr>
        <p:spPr>
          <a:xfrm>
            <a:off x="4064794" y="1503759"/>
            <a:ext cx="200025" cy="200025"/>
          </a:xfrm>
          <a:prstGeom prst="rect">
            <a:avLst/>
          </a:prstGeom>
          <a:noFill/>
          <a:ln/>
        </p:spPr>
        <p:txBody>
          <a:bodyPr wrap="none" lIns="0" tIns="0" rIns="0" bIns="0" rtlCol="0" anchor="ctr"/>
          <a:lstStyle/>
          <a:p>
            <a:pPr algn="ctr" indent="0" marL="0">
              <a:buNone/>
            </a:pPr>
            <a:r>
              <a:rPr lang="en-US" sz="1969" dirty="0">
                <a:solidFill>
                  <a:srgbClr val="0F4C5C"/>
                </a:solidFill>
                <a:latin typeface="Segoe UI Symbol" pitchFamily="34" charset="0"/>
                <a:ea typeface="Segoe UI Symbol" pitchFamily="34" charset="-122"/>
                <a:cs typeface="Segoe UI Symbol" pitchFamily="34" charset="-120"/>
              </a:rPr>
              <a:t>⛨</a:t>
            </a:r>
            <a:endParaRPr lang="en-US" sz="1969" dirty="0"/>
          </a:p>
        </p:txBody>
      </p:sp>
      <p:sp>
        <p:nvSpPr>
          <p:cNvPr id="19" name="Text 17"/>
          <p:cNvSpPr/>
          <p:nvPr/>
        </p:nvSpPr>
        <p:spPr>
          <a:xfrm>
            <a:off x="4064794" y="1803797"/>
            <a:ext cx="1414463" cy="259184"/>
          </a:xfrm>
          <a:prstGeom prst="rect">
            <a:avLst/>
          </a:prstGeom>
          <a:noFill/>
          <a:ln/>
        </p:spPr>
        <p:txBody>
          <a:bodyPr wrap="none" lIns="0" tIns="0" rIns="0" bIns="0" rtlCol="0" anchor="t"/>
          <a:lstStyle/>
          <a:p>
            <a:pPr algn="l" indent="0" marL="0">
              <a:lnSpc>
                <a:spcPts val="1890"/>
              </a:lnSpc>
              <a:buNone/>
            </a:pPr>
            <a:r>
              <a:rPr lang="en-US" sz="1800" b="1" spc="-18" kern="0" dirty="0">
                <a:solidFill>
                  <a:srgbClr val="0F4C5C"/>
                </a:solidFill>
                <a:latin typeface="Liberation Sans Narrow" pitchFamily="34" charset="0"/>
                <a:ea typeface="Liberation Sans Narrow" pitchFamily="34" charset="-122"/>
                <a:cs typeface="Liberation Sans Narrow" pitchFamily="34" charset="-120"/>
              </a:rPr>
              <a:t>0 / 19</a:t>
            </a:r>
            <a:endParaRPr lang="en-US" sz="1800" dirty="0"/>
          </a:p>
        </p:txBody>
      </p:sp>
      <p:sp>
        <p:nvSpPr>
          <p:cNvPr id="20" name="Text 18"/>
          <p:cNvSpPr/>
          <p:nvPr/>
        </p:nvSpPr>
        <p:spPr>
          <a:xfrm>
            <a:off x="4064794" y="2115220"/>
            <a:ext cx="1414463" cy="133302"/>
          </a:xfrm>
          <a:prstGeom prst="rect">
            <a:avLst/>
          </a:prstGeom>
          <a:noFill/>
          <a:ln/>
        </p:spPr>
        <p:txBody>
          <a:bodyPr wrap="none" lIns="0" tIns="0" rIns="0" bIns="0" rtlCol="0" anchor="t">
            <a:normAutofit/>
          </a:bodyPr>
          <a:lstStyle/>
          <a:p>
            <a:pPr algn="l" indent="0" marL="0">
              <a:lnSpc>
                <a:spcPts val="928"/>
              </a:lnSpc>
              <a:buNone/>
            </a:pPr>
            <a:r>
              <a:rPr lang="en-US" sz="800" spc="74" kern="0" dirty="0">
                <a:solidFill>
                  <a:srgbClr val="1A1A1A"/>
                </a:solidFill>
                <a:latin typeface="Carlito" pitchFamily="34" charset="0"/>
                <a:ea typeface="Carlito" pitchFamily="34" charset="-122"/>
                <a:cs typeface="Carlito" pitchFamily="34" charset="-120"/>
              </a:rPr>
              <a:t>CACHE COLLISIONS</a:t>
            </a:r>
            <a:endParaRPr lang="en-US" sz="800" dirty="0"/>
          </a:p>
        </p:txBody>
      </p:sp>
      <p:sp>
        <p:nvSpPr>
          <p:cNvPr id="21" name="Text 19"/>
          <p:cNvSpPr/>
          <p:nvPr/>
        </p:nvSpPr>
        <p:spPr>
          <a:xfrm>
            <a:off x="4064794" y="2275954"/>
            <a:ext cx="1414463" cy="153526"/>
          </a:xfrm>
          <a:prstGeom prst="rect">
            <a:avLst/>
          </a:prstGeom>
          <a:noFill/>
          <a:ln/>
        </p:spPr>
        <p:txBody>
          <a:bodyPr wrap="none" lIns="0" tIns="0" rIns="0" bIns="0" rtlCol="0" anchor="t"/>
          <a:lstStyle/>
          <a:p>
            <a:pPr algn="l" indent="0" marL="0">
              <a:lnSpc>
                <a:spcPts val="866"/>
              </a:lnSpc>
              <a:buNone/>
            </a:pPr>
            <a:r>
              <a:rPr lang="en-US" sz="800" dirty="0">
                <a:solidFill>
                  <a:srgbClr val="4A4A4A"/>
                </a:solidFill>
                <a:latin typeface="Liberation Sans Narrow" pitchFamily="34" charset="0"/>
                <a:ea typeface="Liberation Sans Narrow" pitchFamily="34" charset="-122"/>
                <a:cs typeface="Liberation Sans Narrow" pitchFamily="34" charset="-120"/>
              </a:rPr>
              <a:t>danger pairs, floor 0.83</a:t>
            </a:r>
            <a:endParaRPr lang="en-US" sz="800" dirty="0"/>
          </a:p>
        </p:txBody>
      </p:sp>
      <p:sp>
        <p:nvSpPr>
          <p:cNvPr id="22" name="Text 20"/>
          <p:cNvSpPr/>
          <p:nvPr/>
        </p:nvSpPr>
        <p:spPr>
          <a:xfrm>
            <a:off x="460772" y="3043238"/>
            <a:ext cx="1650206" cy="1564481"/>
          </a:xfrm>
          <a:prstGeom prst="roundRect">
            <a:avLst>
              <a:gd name="adj" fmla="val 3653"/>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23" name="Text 21"/>
          <p:cNvSpPr/>
          <p:nvPr/>
        </p:nvSpPr>
        <p:spPr>
          <a:xfrm>
            <a:off x="578644" y="3161109"/>
            <a:ext cx="200025" cy="200025"/>
          </a:xfrm>
          <a:prstGeom prst="rect">
            <a:avLst/>
          </a:prstGeom>
          <a:noFill/>
          <a:ln/>
        </p:spPr>
        <p:txBody>
          <a:bodyPr wrap="none" lIns="0" tIns="0" rIns="0" bIns="0" rtlCol="0" anchor="ctr"/>
          <a:lstStyle/>
          <a:p>
            <a:pPr algn="ctr" indent="0" marL="0">
              <a:buNone/>
            </a:pPr>
            <a:r>
              <a:rPr lang="en-US" sz="1969" dirty="0">
                <a:solidFill>
                  <a:srgbClr val="0F4C5C"/>
                </a:solidFill>
                <a:latin typeface="Segoe UI Symbol" pitchFamily="34" charset="0"/>
                <a:ea typeface="Segoe UI Symbol" pitchFamily="34" charset="-122"/>
                <a:cs typeface="Segoe UI Symbol" pitchFamily="34" charset="-120"/>
              </a:rPr>
              <a:t>⌘</a:t>
            </a:r>
            <a:endParaRPr lang="en-US" sz="1969" dirty="0"/>
          </a:p>
        </p:txBody>
      </p:sp>
      <p:sp>
        <p:nvSpPr>
          <p:cNvPr id="24" name="Text 22"/>
          <p:cNvSpPr/>
          <p:nvPr/>
        </p:nvSpPr>
        <p:spPr>
          <a:xfrm>
            <a:off x="578644" y="3461147"/>
            <a:ext cx="1414463" cy="259184"/>
          </a:xfrm>
          <a:prstGeom prst="rect">
            <a:avLst/>
          </a:prstGeom>
          <a:noFill/>
          <a:ln/>
        </p:spPr>
        <p:txBody>
          <a:bodyPr wrap="none" lIns="0" tIns="0" rIns="0" bIns="0" rtlCol="0" anchor="t"/>
          <a:lstStyle/>
          <a:p>
            <a:pPr algn="l" indent="0" marL="0">
              <a:lnSpc>
                <a:spcPts val="1890"/>
              </a:lnSpc>
              <a:buNone/>
            </a:pPr>
            <a:r>
              <a:rPr lang="en-US" sz="1800" b="1" spc="-18" kern="0" dirty="0">
                <a:solidFill>
                  <a:srgbClr val="0F4C5C"/>
                </a:solidFill>
                <a:latin typeface="Liberation Sans Narrow" pitchFamily="34" charset="0"/>
                <a:ea typeface="Liberation Sans Narrow" pitchFamily="34" charset="-122"/>
                <a:cs typeface="Liberation Sans Narrow" pitchFamily="34" charset="-120"/>
              </a:rPr>
              <a:t>1.000</a:t>
            </a:r>
            <a:endParaRPr lang="en-US" sz="1800" dirty="0"/>
          </a:p>
        </p:txBody>
      </p:sp>
      <p:sp>
        <p:nvSpPr>
          <p:cNvPr id="25" name="Text 23"/>
          <p:cNvSpPr/>
          <p:nvPr/>
        </p:nvSpPr>
        <p:spPr>
          <a:xfrm>
            <a:off x="578644" y="3772570"/>
            <a:ext cx="1414463" cy="133302"/>
          </a:xfrm>
          <a:prstGeom prst="rect">
            <a:avLst/>
          </a:prstGeom>
          <a:noFill/>
          <a:ln/>
        </p:spPr>
        <p:txBody>
          <a:bodyPr wrap="none" lIns="0" tIns="0" rIns="0" bIns="0" rtlCol="0" anchor="t">
            <a:normAutofit/>
          </a:bodyPr>
          <a:lstStyle/>
          <a:p>
            <a:pPr algn="l" indent="0" marL="0">
              <a:lnSpc>
                <a:spcPts val="928"/>
              </a:lnSpc>
              <a:buNone/>
            </a:pPr>
            <a:r>
              <a:rPr lang="en-US" sz="800" spc="74" kern="0" dirty="0">
                <a:solidFill>
                  <a:srgbClr val="1A1A1A"/>
                </a:solidFill>
                <a:latin typeface="Carlito" pitchFamily="34" charset="0"/>
                <a:ea typeface="Carlito" pitchFamily="34" charset="-122"/>
                <a:cs typeface="Carlito" pitchFamily="34" charset="-120"/>
              </a:rPr>
              <a:t>CITATIONS VALID</a:t>
            </a:r>
            <a:endParaRPr lang="en-US" sz="800" dirty="0"/>
          </a:p>
        </p:txBody>
      </p:sp>
      <p:sp>
        <p:nvSpPr>
          <p:cNvPr id="26" name="Text 24"/>
          <p:cNvSpPr/>
          <p:nvPr/>
        </p:nvSpPr>
        <p:spPr>
          <a:xfrm>
            <a:off x="578644" y="3933304"/>
            <a:ext cx="1499330" cy="153526"/>
          </a:xfrm>
          <a:prstGeom prst="rect">
            <a:avLst/>
          </a:prstGeom>
          <a:noFill/>
          <a:ln/>
        </p:spPr>
        <p:txBody>
          <a:bodyPr wrap="square" lIns="0" tIns="0" rIns="0" bIns="0" rtlCol="0" anchor="t"/>
          <a:lstStyle/>
          <a:p>
            <a:pPr algn="l" indent="0" marL="0">
              <a:lnSpc>
                <a:spcPts val="866"/>
              </a:lnSpc>
              <a:buNone/>
            </a:pPr>
            <a:r>
              <a:rPr lang="en-US" sz="619" dirty="0">
                <a:solidFill>
                  <a:srgbClr val="4A4A4A"/>
                </a:solidFill>
                <a:latin typeface="Carlito" pitchFamily="34" charset="0"/>
                <a:ea typeface="Carlito" pitchFamily="34" charset="-122"/>
                <a:cs typeface="Carlito" pitchFamily="34" charset="-120"/>
              </a:rPr>
              <a:t>every PASS cites a source row</a:t>
            </a:r>
            <a:endParaRPr lang="en-US" sz="619" dirty="0"/>
          </a:p>
        </p:txBody>
      </p:sp>
      <p:sp>
        <p:nvSpPr>
          <p:cNvPr id="27" name="Text 25"/>
          <p:cNvSpPr/>
          <p:nvPr/>
        </p:nvSpPr>
        <p:spPr>
          <a:xfrm>
            <a:off x="2203847" y="3043238"/>
            <a:ext cx="1650206" cy="1564481"/>
          </a:xfrm>
          <a:prstGeom prst="roundRect">
            <a:avLst>
              <a:gd name="adj" fmla="val 3653"/>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28" name="Text 26"/>
          <p:cNvSpPr/>
          <p:nvPr/>
        </p:nvSpPr>
        <p:spPr>
          <a:xfrm>
            <a:off x="2321719" y="3161109"/>
            <a:ext cx="200025" cy="200025"/>
          </a:xfrm>
          <a:prstGeom prst="rect">
            <a:avLst/>
          </a:prstGeom>
          <a:noFill/>
          <a:ln/>
        </p:spPr>
        <p:txBody>
          <a:bodyPr wrap="none" lIns="0" tIns="0" rIns="0" bIns="0" rtlCol="0" anchor="ctr"/>
          <a:lstStyle/>
          <a:p>
            <a:pPr algn="ctr" indent="0" marL="0">
              <a:buNone/>
            </a:pPr>
            <a:r>
              <a:rPr lang="en-US" sz="1969" dirty="0">
                <a:solidFill>
                  <a:srgbClr val="0F4C5C"/>
                </a:solidFill>
                <a:latin typeface="Segoe UI Symbol" pitchFamily="34" charset="0"/>
                <a:ea typeface="Segoe UI Symbol" pitchFamily="34" charset="-122"/>
                <a:cs typeface="Segoe UI Symbol" pitchFamily="34" charset="-120"/>
              </a:rPr>
              <a:t>⚿</a:t>
            </a:r>
            <a:endParaRPr lang="en-US" sz="1969" dirty="0"/>
          </a:p>
        </p:txBody>
      </p:sp>
      <p:sp>
        <p:nvSpPr>
          <p:cNvPr id="29" name="Text 27"/>
          <p:cNvSpPr/>
          <p:nvPr/>
        </p:nvSpPr>
        <p:spPr>
          <a:xfrm>
            <a:off x="2321719" y="3461147"/>
            <a:ext cx="1414462" cy="259184"/>
          </a:xfrm>
          <a:prstGeom prst="rect">
            <a:avLst/>
          </a:prstGeom>
          <a:noFill/>
          <a:ln/>
        </p:spPr>
        <p:txBody>
          <a:bodyPr wrap="none" lIns="0" tIns="0" rIns="0" bIns="0" rtlCol="0" anchor="t"/>
          <a:lstStyle/>
          <a:p>
            <a:pPr algn="l" indent="0" marL="0">
              <a:lnSpc>
                <a:spcPts val="1890"/>
              </a:lnSpc>
              <a:buNone/>
            </a:pPr>
            <a:r>
              <a:rPr lang="en-US" sz="1800" b="1" spc="-18" kern="0" dirty="0">
                <a:solidFill>
                  <a:srgbClr val="0F4C5C"/>
                </a:solidFill>
                <a:latin typeface="Courier New" pitchFamily="34" charset="0"/>
                <a:ea typeface="Courier New" pitchFamily="34" charset="-122"/>
                <a:cs typeface="Courier New" pitchFamily="34" charset="-120"/>
              </a:rPr>
              <a:t>unchanged</a:t>
            </a:r>
            <a:endParaRPr lang="en-US" sz="1800" dirty="0"/>
          </a:p>
        </p:txBody>
      </p:sp>
      <p:sp>
        <p:nvSpPr>
          <p:cNvPr id="30" name="Text 28"/>
          <p:cNvSpPr/>
          <p:nvPr/>
        </p:nvSpPr>
        <p:spPr>
          <a:xfrm>
            <a:off x="2321719" y="3772570"/>
            <a:ext cx="1414463" cy="133302"/>
          </a:xfrm>
          <a:prstGeom prst="rect">
            <a:avLst/>
          </a:prstGeom>
          <a:noFill/>
          <a:ln/>
        </p:spPr>
        <p:txBody>
          <a:bodyPr wrap="none" lIns="0" tIns="0" rIns="0" bIns="0" rtlCol="0" anchor="t">
            <a:normAutofit/>
          </a:bodyPr>
          <a:lstStyle/>
          <a:p>
            <a:pPr algn="l" indent="0" marL="0">
              <a:lnSpc>
                <a:spcPts val="928"/>
              </a:lnSpc>
              <a:buNone/>
            </a:pPr>
            <a:r>
              <a:rPr lang="en-US" sz="800" spc="74" kern="0" dirty="0">
                <a:solidFill>
                  <a:srgbClr val="1A1A1A"/>
                </a:solidFill>
                <a:latin typeface="Carlito" pitchFamily="34" charset="0"/>
                <a:ea typeface="Carlito" pitchFamily="34" charset="-122"/>
                <a:cs typeface="Carlito" pitchFamily="34" charset="-120"/>
              </a:rPr>
              <a:t>SAFETY-B HASH</a:t>
            </a:r>
            <a:endParaRPr lang="en-US" sz="800" dirty="0"/>
          </a:p>
        </p:txBody>
      </p:sp>
      <p:sp>
        <p:nvSpPr>
          <p:cNvPr id="31" name="Text 29"/>
          <p:cNvSpPr/>
          <p:nvPr/>
        </p:nvSpPr>
        <p:spPr>
          <a:xfrm>
            <a:off x="2321719" y="3933304"/>
            <a:ext cx="1499330" cy="153526"/>
          </a:xfrm>
          <a:prstGeom prst="rect">
            <a:avLst/>
          </a:prstGeom>
          <a:noFill/>
          <a:ln/>
        </p:spPr>
        <p:txBody>
          <a:bodyPr wrap="square" lIns="0" tIns="0" rIns="0" bIns="0" rtlCol="0" anchor="t"/>
          <a:lstStyle/>
          <a:p>
            <a:pPr algn="l" indent="0" marL="0">
              <a:lnSpc>
                <a:spcPts val="866"/>
              </a:lnSpc>
              <a:buNone/>
            </a:pPr>
            <a:r>
              <a:rPr lang="en-US" sz="619" dirty="0">
                <a:solidFill>
                  <a:srgbClr val="4A4A4A"/>
                </a:solidFill>
                <a:latin typeface="Carlito" pitchFamily="34" charset="0"/>
                <a:ea typeface="Carlito" pitchFamily="34" charset="-122"/>
                <a:cs typeface="Carlito" pitchFamily="34" charset="-120"/>
              </a:rPr>
              <a:t>frozen under corpus injection</a:t>
            </a:r>
            <a:endParaRPr lang="en-US" sz="619" dirty="0"/>
          </a:p>
        </p:txBody>
      </p:sp>
      <p:sp>
        <p:nvSpPr>
          <p:cNvPr id="32" name="Text 30"/>
          <p:cNvSpPr/>
          <p:nvPr/>
        </p:nvSpPr>
        <p:spPr>
          <a:xfrm>
            <a:off x="3946922" y="3043238"/>
            <a:ext cx="1650206" cy="1564481"/>
          </a:xfrm>
          <a:prstGeom prst="roundRect">
            <a:avLst>
              <a:gd name="adj" fmla="val 3653"/>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33" name="Text 31"/>
          <p:cNvSpPr/>
          <p:nvPr/>
        </p:nvSpPr>
        <p:spPr>
          <a:xfrm>
            <a:off x="4064794" y="3161109"/>
            <a:ext cx="200025" cy="200025"/>
          </a:xfrm>
          <a:prstGeom prst="rect">
            <a:avLst/>
          </a:prstGeom>
          <a:noFill/>
          <a:ln/>
        </p:spPr>
        <p:txBody>
          <a:bodyPr wrap="none" lIns="0" tIns="0" rIns="0" bIns="0" rtlCol="0" anchor="ctr"/>
          <a:lstStyle/>
          <a:p>
            <a:pPr algn="ctr" indent="0" marL="0">
              <a:buNone/>
            </a:pPr>
            <a:r>
              <a:rPr lang="en-US" sz="1969" dirty="0">
                <a:solidFill>
                  <a:srgbClr val="0F4C5C"/>
                </a:solidFill>
                <a:latin typeface="Segoe UI Symbol" pitchFamily="34" charset="0"/>
                <a:ea typeface="Segoe UI Symbol" pitchFamily="34" charset="-122"/>
                <a:cs typeface="Segoe UI Symbol" pitchFamily="34" charset="-120"/>
              </a:rPr>
              <a:t>✓</a:t>
            </a:r>
            <a:endParaRPr lang="en-US" sz="1969" dirty="0"/>
          </a:p>
        </p:txBody>
      </p:sp>
      <p:sp>
        <p:nvSpPr>
          <p:cNvPr id="34" name="Text 32"/>
          <p:cNvSpPr/>
          <p:nvPr/>
        </p:nvSpPr>
        <p:spPr>
          <a:xfrm>
            <a:off x="4064794" y="3461147"/>
            <a:ext cx="1414462" cy="259184"/>
          </a:xfrm>
          <a:prstGeom prst="rect">
            <a:avLst/>
          </a:prstGeom>
          <a:noFill/>
          <a:ln/>
        </p:spPr>
        <p:txBody>
          <a:bodyPr wrap="none" lIns="0" tIns="0" rIns="0" bIns="0" rtlCol="0" anchor="t"/>
          <a:lstStyle/>
          <a:p>
            <a:pPr algn="l" indent="0" marL="0">
              <a:lnSpc>
                <a:spcPts val="1890"/>
              </a:lnSpc>
              <a:buNone/>
            </a:pPr>
            <a:r>
              <a:rPr lang="en-US" sz="1800" b="1" spc="-18" kern="0" dirty="0">
                <a:solidFill>
                  <a:srgbClr val="0F4C5C"/>
                </a:solidFill>
                <a:latin typeface="Liberation Sans Narrow" pitchFamily="34" charset="0"/>
                <a:ea typeface="Liberation Sans Narrow" pitchFamily="34" charset="-122"/>
                <a:cs typeface="Liberation Sans Narrow" pitchFamily="34" charset="-120"/>
              </a:rPr>
              <a:t>90 passed</a:t>
            </a:r>
            <a:endParaRPr lang="en-US" sz="1800" dirty="0"/>
          </a:p>
        </p:txBody>
      </p:sp>
      <p:sp>
        <p:nvSpPr>
          <p:cNvPr id="35" name="Text 33"/>
          <p:cNvSpPr/>
          <p:nvPr/>
        </p:nvSpPr>
        <p:spPr>
          <a:xfrm>
            <a:off x="4064794" y="3772570"/>
            <a:ext cx="1414463" cy="133302"/>
          </a:xfrm>
          <a:prstGeom prst="rect">
            <a:avLst/>
          </a:prstGeom>
          <a:noFill/>
          <a:ln/>
        </p:spPr>
        <p:txBody>
          <a:bodyPr wrap="none" lIns="0" tIns="0" rIns="0" bIns="0" rtlCol="0" anchor="t">
            <a:normAutofit/>
          </a:bodyPr>
          <a:lstStyle/>
          <a:p>
            <a:pPr algn="l" indent="0" marL="0">
              <a:lnSpc>
                <a:spcPts val="928"/>
              </a:lnSpc>
              <a:buNone/>
            </a:pPr>
            <a:r>
              <a:rPr lang="en-US" sz="800" spc="74" kern="0" dirty="0">
                <a:solidFill>
                  <a:srgbClr val="1A1A1A"/>
                </a:solidFill>
                <a:latin typeface="Carlito" pitchFamily="34" charset="0"/>
                <a:ea typeface="Carlito" pitchFamily="34" charset="-122"/>
                <a:cs typeface="Carlito" pitchFamily="34" charset="-120"/>
              </a:rPr>
              <a:t>UNIT TESTS</a:t>
            </a:r>
            <a:endParaRPr lang="en-US" sz="800" dirty="0"/>
          </a:p>
        </p:txBody>
      </p:sp>
      <p:sp>
        <p:nvSpPr>
          <p:cNvPr id="36" name="Text 34"/>
          <p:cNvSpPr/>
          <p:nvPr/>
        </p:nvSpPr>
        <p:spPr>
          <a:xfrm>
            <a:off x="4064794" y="3933304"/>
            <a:ext cx="1499330" cy="153526"/>
          </a:xfrm>
          <a:prstGeom prst="rect">
            <a:avLst/>
          </a:prstGeom>
          <a:noFill/>
          <a:ln/>
        </p:spPr>
        <p:txBody>
          <a:bodyPr wrap="square" lIns="0" tIns="0" rIns="0" bIns="0" rtlCol="0" anchor="t"/>
          <a:lstStyle/>
          <a:p>
            <a:pPr algn="l" indent="0" marL="0">
              <a:lnSpc>
                <a:spcPts val="866"/>
              </a:lnSpc>
              <a:buNone/>
            </a:pPr>
            <a:r>
              <a:rPr lang="en-US" sz="619" dirty="0">
                <a:solidFill>
                  <a:srgbClr val="4A4A4A"/>
                </a:solidFill>
                <a:latin typeface="Carlito" pitchFamily="34" charset="0"/>
                <a:ea typeface="Carlito" pitchFamily="34" charset="-122"/>
                <a:cs typeface="Carlito" pitchFamily="34" charset="-120"/>
              </a:rPr>
              <a:t>offline, no API key required</a:t>
            </a:r>
            <a:endParaRPr lang="en-US" sz="619" dirty="0"/>
          </a:p>
        </p:txBody>
      </p:sp>
      <p:sp>
        <p:nvSpPr>
          <p:cNvPr id="37" name="Shape 35"/>
          <p:cNvSpPr/>
          <p:nvPr/>
        </p:nvSpPr>
        <p:spPr>
          <a:xfrm>
            <a:off x="5715000" y="1275159"/>
            <a:ext cx="1864407" cy="0"/>
          </a:xfrm>
          <a:prstGeom prst="line">
            <a:avLst/>
          </a:prstGeom>
          <a:noFill/>
          <a:ln w="14288">
            <a:solidFill>
              <a:srgbClr val="E36414"/>
            </a:solidFill>
            <a:prstDash val="solid"/>
          </a:ln>
        </p:spPr>
      </p:sp>
      <p:sp>
        <p:nvSpPr>
          <p:cNvPr id="38" name="Text 36"/>
          <p:cNvSpPr/>
          <p:nvPr/>
        </p:nvSpPr>
        <p:spPr>
          <a:xfrm>
            <a:off x="5715000" y="1092994"/>
            <a:ext cx="2179773" cy="261890"/>
          </a:xfrm>
          <a:prstGeom prst="rect">
            <a:avLst/>
          </a:prstGeom>
          <a:noFill/>
          <a:ln/>
        </p:spPr>
        <p:txBody>
          <a:bodyPr wrap="square" lIns="0" tIns="0" rIns="0" bIns="57150" rtlCol="0" anchor="t">
            <a:normAutofit/>
          </a:bodyPr>
          <a:lstStyle/>
          <a:p>
            <a:pPr algn="l" indent="0" marL="0">
              <a:lnSpc>
                <a:spcPts val="928"/>
              </a:lnSpc>
              <a:buNone/>
            </a:pPr>
            <a:r>
              <a:rPr lang="en-US" sz="619" b="1" spc="111" kern="0" dirty="0">
                <a:solidFill>
                  <a:srgbClr val="7A7A7A"/>
                </a:solidFill>
                <a:latin typeface="Carlito" pitchFamily="34" charset="0"/>
                <a:ea typeface="Carlito" pitchFamily="34" charset="-122"/>
                <a:cs typeface="Carlito" pitchFamily="34" charset="-120"/>
              </a:rPr>
              <a:t>ECONOMICS &amp; LIMITS, STATED PLAINLY</a:t>
            </a:r>
            <a:endParaRPr lang="en-US" sz="619" dirty="0"/>
          </a:p>
        </p:txBody>
      </p:sp>
      <p:sp>
        <p:nvSpPr>
          <p:cNvPr id="39" name="Text 37"/>
          <p:cNvSpPr/>
          <p:nvPr/>
        </p:nvSpPr>
        <p:spPr>
          <a:xfrm>
            <a:off x="5715000" y="1382316"/>
            <a:ext cx="2971800" cy="3357563"/>
          </a:xfrm>
          <a:prstGeom prst="roundRect">
            <a:avLst>
              <a:gd name="adj" fmla="val 1282"/>
            </a:avLst>
          </a:prstGeom>
          <a:solidFill>
            <a:srgbClr val="FFFFFF"/>
          </a:solidFill>
          <a:ln/>
        </p:spPr>
        <p:txBody>
          <a:bodyPr wrap="square" rtlCol="0" anchor="ctr"/>
          <a:lstStyle/>
          <a:p>
            <a:pPr indent="0" marL="0">
              <a:buNone/>
            </a:pPr>
            <a:endParaRPr lang="en-US" dirty="0"/>
          </a:p>
        </p:txBody>
      </p:sp>
      <p:sp>
        <p:nvSpPr>
          <p:cNvPr id="40" name="Shape 38"/>
          <p:cNvSpPr/>
          <p:nvPr/>
        </p:nvSpPr>
        <p:spPr>
          <a:xfrm>
            <a:off x="5715000" y="1385888"/>
            <a:ext cx="2971800" cy="0"/>
          </a:xfrm>
          <a:prstGeom prst="line">
            <a:avLst/>
          </a:prstGeom>
          <a:noFill/>
          <a:ln w="7144">
            <a:solidFill>
              <a:srgbClr val="D8D2CB"/>
            </a:solidFill>
            <a:prstDash val="solid"/>
          </a:ln>
        </p:spPr>
      </p:sp>
      <p:sp>
        <p:nvSpPr>
          <p:cNvPr id="41" name="Shape 39"/>
          <p:cNvSpPr/>
          <p:nvPr/>
        </p:nvSpPr>
        <p:spPr>
          <a:xfrm>
            <a:off x="8683228" y="1382316"/>
            <a:ext cx="0" cy="3357563"/>
          </a:xfrm>
          <a:prstGeom prst="line">
            <a:avLst/>
          </a:prstGeom>
          <a:noFill/>
          <a:ln w="7144">
            <a:solidFill>
              <a:srgbClr val="D8D2CB"/>
            </a:solidFill>
            <a:prstDash val="solid"/>
          </a:ln>
        </p:spPr>
      </p:sp>
      <p:sp>
        <p:nvSpPr>
          <p:cNvPr id="42" name="Shape 40"/>
          <p:cNvSpPr/>
          <p:nvPr/>
        </p:nvSpPr>
        <p:spPr>
          <a:xfrm>
            <a:off x="5715000" y="4736306"/>
            <a:ext cx="2971800" cy="0"/>
          </a:xfrm>
          <a:prstGeom prst="line">
            <a:avLst/>
          </a:prstGeom>
          <a:noFill/>
          <a:ln w="7144">
            <a:solidFill>
              <a:srgbClr val="D8D2CB"/>
            </a:solidFill>
            <a:prstDash val="solid"/>
          </a:ln>
        </p:spPr>
      </p:sp>
      <p:sp>
        <p:nvSpPr>
          <p:cNvPr id="43" name="Shape 41"/>
          <p:cNvSpPr/>
          <p:nvPr/>
        </p:nvSpPr>
        <p:spPr>
          <a:xfrm>
            <a:off x="5729288" y="1382316"/>
            <a:ext cx="0" cy="3357563"/>
          </a:xfrm>
          <a:prstGeom prst="line">
            <a:avLst/>
          </a:prstGeom>
          <a:noFill/>
          <a:ln w="28575">
            <a:solidFill>
              <a:srgbClr val="E36414"/>
            </a:solidFill>
            <a:prstDash val="solid"/>
          </a:ln>
        </p:spPr>
      </p:sp>
      <p:sp>
        <p:nvSpPr>
          <p:cNvPr id="44" name="Text 42"/>
          <p:cNvSpPr/>
          <p:nvPr/>
        </p:nvSpPr>
        <p:spPr>
          <a:xfrm>
            <a:off x="5886450" y="1532334"/>
            <a:ext cx="2650331" cy="142232"/>
          </a:xfrm>
          <a:prstGeom prst="rect">
            <a:avLst/>
          </a:prstGeom>
          <a:noFill/>
          <a:ln/>
        </p:spPr>
        <p:txBody>
          <a:bodyPr wrap="none" lIns="0" tIns="0" rIns="0" bIns="0" rtlCol="0" anchor="t">
            <a:normAutofit/>
          </a:bodyPr>
          <a:lstStyle/>
          <a:p>
            <a:pPr algn="l" indent="0" marL="0">
              <a:lnSpc>
                <a:spcPts val="886"/>
              </a:lnSpc>
              <a:buNone/>
            </a:pPr>
            <a:r>
              <a:rPr lang="en-US" sz="800" b="1" spc="106" kern="0" dirty="0">
                <a:solidFill>
                  <a:srgbClr val="E36414"/>
                </a:solidFill>
                <a:latin typeface="Carlito" pitchFamily="34" charset="0"/>
                <a:ea typeface="Carlito" pitchFamily="34" charset="-122"/>
                <a:cs typeface="Carlito" pitchFamily="34" charset="-120"/>
              </a:rPr>
              <a:t>ECONOMICS</a:t>
            </a:r>
            <a:endParaRPr lang="en-US" sz="800" dirty="0"/>
          </a:p>
        </p:txBody>
      </p:sp>
      <p:sp>
        <p:nvSpPr>
          <p:cNvPr id="45" name="Text 43"/>
          <p:cNvSpPr/>
          <p:nvPr/>
        </p:nvSpPr>
        <p:spPr>
          <a:xfrm>
            <a:off x="5886450" y="1701998"/>
            <a:ext cx="800100" cy="226756"/>
          </a:xfrm>
          <a:prstGeom prst="rect">
            <a:avLst/>
          </a:prstGeom>
          <a:noFill/>
          <a:ln/>
        </p:spPr>
        <p:txBody>
          <a:bodyPr wrap="none" lIns="0" tIns="0" rIns="0" bIns="0" rtlCol="0" anchor="t"/>
          <a:lstStyle/>
          <a:p>
            <a:pPr algn="l" indent="0" marL="0">
              <a:lnSpc>
                <a:spcPts val="1654"/>
              </a:lnSpc>
              <a:buNone/>
            </a:pPr>
            <a:r>
              <a:rPr lang="en-US" sz="1575" b="1" dirty="0">
                <a:solidFill>
                  <a:srgbClr val="0F4C5C"/>
                </a:solidFill>
                <a:latin typeface="Liberation Sans Narrow" pitchFamily="34" charset="0"/>
                <a:ea typeface="Liberation Sans Narrow" pitchFamily="34" charset="-122"/>
                <a:cs typeface="Liberation Sans Narrow" pitchFamily="34" charset="-120"/>
              </a:rPr>
              <a:t>$0.00</a:t>
            </a:r>
            <a:endParaRPr lang="en-US" sz="1575" dirty="0"/>
          </a:p>
        </p:txBody>
      </p:sp>
      <p:sp>
        <p:nvSpPr>
          <p:cNvPr id="46" name="Text 44"/>
          <p:cNvSpPr/>
          <p:nvPr/>
        </p:nvSpPr>
        <p:spPr>
          <a:xfrm>
            <a:off x="6457950" y="1794867"/>
            <a:ext cx="2078831" cy="158981"/>
          </a:xfrm>
          <a:prstGeom prst="rect">
            <a:avLst/>
          </a:prstGeom>
          <a:noFill/>
          <a:ln/>
        </p:spPr>
        <p:txBody>
          <a:bodyPr wrap="square" lIns="0" tIns="0" rIns="0" bIns="0" rtlCol="0" anchor="t"/>
          <a:lstStyle/>
          <a:p>
            <a:pPr algn="l" indent="0" marL="0">
              <a:lnSpc>
                <a:spcPts val="897"/>
              </a:lnSpc>
              <a:buNone/>
            </a:pPr>
            <a:r>
              <a:rPr lang="en-US" sz="619" dirty="0">
                <a:solidFill>
                  <a:srgbClr val="4A4A4A"/>
                </a:solidFill>
                <a:latin typeface="Carlito" pitchFamily="34" charset="0"/>
                <a:ea typeface="Carlito" pitchFamily="34" charset="-122"/>
                <a:cs typeface="Carlito" pitchFamily="34" charset="-120"/>
              </a:rPr>
              <a:t>marginal model cost (0 model calls) plus hosting</a:t>
            </a:r>
            <a:endParaRPr lang="en-US" sz="619" dirty="0"/>
          </a:p>
        </p:txBody>
      </p:sp>
      <p:sp>
        <p:nvSpPr>
          <p:cNvPr id="47" name="Text 45"/>
          <p:cNvSpPr/>
          <p:nvPr/>
        </p:nvSpPr>
        <p:spPr>
          <a:xfrm>
            <a:off x="5886450" y="1969108"/>
            <a:ext cx="843265" cy="151162"/>
          </a:xfrm>
          <a:prstGeom prst="rect">
            <a:avLst/>
          </a:prstGeom>
          <a:noFill/>
          <a:ln/>
        </p:spPr>
        <p:txBody>
          <a:bodyPr wrap="none" lIns="0" tIns="0" rIns="0" bIns="0" rtlCol="0" anchor="t">
            <a:normAutofit/>
          </a:bodyPr>
          <a:lstStyle/>
          <a:p>
            <a:pPr algn="l" indent="0" marL="0">
              <a:lnSpc>
                <a:spcPts val="1080"/>
              </a:lnSpc>
              <a:buNone/>
            </a:pPr>
            <a:r>
              <a:rPr lang="en-US" sz="900" dirty="0">
                <a:solidFill>
                  <a:srgbClr val="0F4C5C"/>
                </a:solidFill>
                <a:latin typeface="Liberation Sans Narrow" pitchFamily="34" charset="0"/>
                <a:ea typeface="Liberation Sans Narrow" pitchFamily="34" charset="-122"/>
                <a:cs typeface="Liberation Sans Narrow" pitchFamily="34" charset="-120"/>
              </a:rPr>
              <a:t>p50 ≈ 120 ms</a:t>
            </a:r>
            <a:endParaRPr lang="en-US" sz="900" dirty="0"/>
          </a:p>
        </p:txBody>
      </p:sp>
      <p:sp>
        <p:nvSpPr>
          <p:cNvPr id="48" name="Text 46"/>
          <p:cNvSpPr/>
          <p:nvPr/>
        </p:nvSpPr>
        <p:spPr>
          <a:xfrm>
            <a:off x="5886450" y="2147701"/>
            <a:ext cx="2760059" cy="158981"/>
          </a:xfrm>
          <a:prstGeom prst="rect">
            <a:avLst/>
          </a:prstGeom>
          <a:noFill/>
          <a:ln/>
        </p:spPr>
        <p:txBody>
          <a:bodyPr wrap="square" lIns="0" tIns="0" rIns="0" bIns="0" rtlCol="0" anchor="t"/>
          <a:lstStyle/>
          <a:p>
            <a:pPr algn="l" indent="0" marL="0">
              <a:lnSpc>
                <a:spcPts val="897"/>
              </a:lnSpc>
              <a:buNone/>
            </a:pPr>
            <a:r>
              <a:rPr lang="en-US" sz="800" dirty="0">
                <a:solidFill>
                  <a:srgbClr val="4A4A4A"/>
                </a:solidFill>
                <a:latin typeface="Carlito" pitchFamily="34" charset="0"/>
                <a:ea typeface="Carlito" pitchFamily="34" charset="-122"/>
                <a:cs typeface="Carlito" pitchFamily="34" charset="-120"/>
              </a:rPr>
              <a:t>warm · p95 ≈ 2 s · p99 ≈ 20 s cold load, CPU-only</a:t>
            </a:r>
            <a:endParaRPr lang="en-US" sz="800" dirty="0"/>
          </a:p>
        </p:txBody>
      </p:sp>
      <p:sp>
        <p:nvSpPr>
          <p:cNvPr id="49" name="Shape 47"/>
          <p:cNvSpPr/>
          <p:nvPr/>
        </p:nvSpPr>
        <p:spPr>
          <a:xfrm>
            <a:off x="5886450" y="2365139"/>
            <a:ext cx="2650331" cy="0"/>
          </a:xfrm>
          <a:prstGeom prst="line">
            <a:avLst/>
          </a:prstGeom>
          <a:noFill/>
          <a:ln w="7144">
            <a:solidFill>
              <a:srgbClr val="D8D2CB"/>
            </a:solidFill>
            <a:prstDash val="solid"/>
          </a:ln>
        </p:spPr>
      </p:sp>
      <p:sp>
        <p:nvSpPr>
          <p:cNvPr id="50" name="Text 48"/>
          <p:cNvSpPr/>
          <p:nvPr/>
        </p:nvSpPr>
        <p:spPr>
          <a:xfrm>
            <a:off x="5886450" y="2468724"/>
            <a:ext cx="2650331" cy="142232"/>
          </a:xfrm>
          <a:prstGeom prst="rect">
            <a:avLst/>
          </a:prstGeom>
          <a:noFill/>
          <a:ln/>
        </p:spPr>
        <p:txBody>
          <a:bodyPr wrap="none" lIns="0" tIns="0" rIns="0" bIns="0" rtlCol="0" anchor="t">
            <a:normAutofit/>
          </a:bodyPr>
          <a:lstStyle/>
          <a:p>
            <a:pPr algn="l" indent="0" marL="0">
              <a:lnSpc>
                <a:spcPts val="886"/>
              </a:lnSpc>
              <a:buNone/>
            </a:pPr>
            <a:r>
              <a:rPr lang="en-US" sz="800" b="1" spc="106" kern="0" dirty="0">
                <a:solidFill>
                  <a:srgbClr val="E36414"/>
                </a:solidFill>
                <a:latin typeface="Carlito" pitchFamily="34" charset="0"/>
                <a:ea typeface="Carlito" pitchFamily="34" charset="-122"/>
                <a:cs typeface="Carlito" pitchFamily="34" charset="-120"/>
              </a:rPr>
              <a:t>LIMITS</a:t>
            </a:r>
            <a:endParaRPr lang="en-US" sz="800" dirty="0"/>
          </a:p>
        </p:txBody>
      </p:sp>
      <p:sp>
        <p:nvSpPr>
          <p:cNvPr id="51" name="Text 49"/>
          <p:cNvSpPr/>
          <p:nvPr/>
        </p:nvSpPr>
        <p:spPr>
          <a:xfrm>
            <a:off x="5886450" y="2638388"/>
            <a:ext cx="2650331" cy="139665"/>
          </a:xfrm>
          <a:prstGeom prst="rect">
            <a:avLst/>
          </a:prstGeom>
          <a:noFill/>
          <a:ln/>
        </p:spPr>
        <p:txBody>
          <a:bodyPr wrap="square" lIns="0" tIns="0" rIns="0" bIns="0" rtlCol="0" anchor="t">
            <a:normAutofit/>
          </a:bodyPr>
          <a:lstStyle/>
          <a:p>
            <a:pPr algn="l" indent="0" marL="0">
              <a:lnSpc>
                <a:spcPts val="979"/>
              </a:lnSpc>
              <a:buNone/>
            </a:pPr>
            <a:r>
              <a:rPr lang="en-US" sz="675" dirty="0">
                <a:solidFill>
                  <a:srgbClr val="1A1A1A"/>
                </a:solidFill>
                <a:latin typeface="Carlito" pitchFamily="34" charset="0"/>
                <a:ea typeface="Carlito" pitchFamily="34" charset="-122"/>
                <a:cs typeface="Carlito" pitchFamily="34" charset="-120"/>
              </a:rPr>
              <a:t>Coverage is the limit: PLFS state splits warn, never guess.</a:t>
            </a:r>
            <a:endParaRPr lang="en-US" sz="675" dirty="0"/>
          </a:p>
        </p:txBody>
      </p:sp>
      <p:sp>
        <p:nvSpPr>
          <p:cNvPr id="52" name="Text 50"/>
          <p:cNvSpPr/>
          <p:nvPr/>
        </p:nvSpPr>
        <p:spPr>
          <a:xfrm>
            <a:off x="5886450" y="2805485"/>
            <a:ext cx="2650331" cy="139665"/>
          </a:xfrm>
          <a:prstGeom prst="rect">
            <a:avLst/>
          </a:prstGeom>
          <a:noFill/>
          <a:ln/>
        </p:spPr>
        <p:txBody>
          <a:bodyPr wrap="square" lIns="0" tIns="0" rIns="0" bIns="0" rtlCol="0" anchor="t">
            <a:normAutofit/>
          </a:bodyPr>
          <a:lstStyle/>
          <a:p>
            <a:pPr algn="l" indent="0" marL="0">
              <a:lnSpc>
                <a:spcPts val="979"/>
              </a:lnSpc>
              <a:buNone/>
            </a:pPr>
            <a:r>
              <a:rPr lang="en-US" sz="675" dirty="0">
                <a:solidFill>
                  <a:srgbClr val="1A1A1A"/>
                </a:solidFill>
                <a:latin typeface="Carlito" pitchFamily="34" charset="0"/>
                <a:ea typeface="Carlito" pitchFamily="34" charset="-122"/>
                <a:cs typeface="Carlito" pitchFamily="34" charset="-120"/>
              </a:rPr>
              <a:t>Heuristic readers break on exotic phrasing; LLM port exists.</a:t>
            </a:r>
            <a:endParaRPr lang="en-US" sz="675" dirty="0"/>
          </a:p>
        </p:txBody>
      </p:sp>
      <p:sp>
        <p:nvSpPr>
          <p:cNvPr id="53" name="Text 51"/>
          <p:cNvSpPr/>
          <p:nvPr/>
        </p:nvSpPr>
        <p:spPr>
          <a:xfrm>
            <a:off x="5886450" y="2972581"/>
            <a:ext cx="2650331" cy="124234"/>
          </a:xfrm>
          <a:prstGeom prst="rect">
            <a:avLst/>
          </a:prstGeom>
          <a:noFill/>
          <a:ln/>
        </p:spPr>
        <p:txBody>
          <a:bodyPr wrap="square" lIns="0" tIns="0" rIns="0" bIns="0" rtlCol="0" anchor="t"/>
          <a:lstStyle/>
          <a:p>
            <a:pPr algn="l" indent="0" marL="0">
              <a:lnSpc>
                <a:spcPts val="979"/>
              </a:lnSpc>
              <a:buNone/>
            </a:pPr>
            <a:r>
              <a:rPr lang="en-US" sz="675" dirty="0">
                <a:solidFill>
                  <a:srgbClr val="1A1A1A"/>
                </a:solidFill>
                <a:latin typeface="Carlito" pitchFamily="34" charset="0"/>
                <a:ea typeface="Carlito" pitchFamily="34" charset="-122"/>
                <a:cs typeface="Carlito" pitchFamily="34" charset="-120"/>
              </a:rPr>
              <a:t>Scale path: curate PDF tables → truth JSON, no code change.</a:t>
            </a:r>
            <a:endParaRPr lang="en-US" sz="675" dirty="0"/>
          </a:p>
        </p:txBody>
      </p:sp>
      <p:sp>
        <p:nvSpPr>
          <p:cNvPr id="54" name="Shape 52"/>
          <p:cNvSpPr/>
          <p:nvPr/>
        </p:nvSpPr>
        <p:spPr>
          <a:xfrm>
            <a:off x="5886450" y="3200400"/>
            <a:ext cx="2650331" cy="0"/>
          </a:xfrm>
          <a:prstGeom prst="line">
            <a:avLst/>
          </a:prstGeom>
          <a:noFill/>
          <a:ln w="7144">
            <a:solidFill>
              <a:srgbClr val="D8D2CB"/>
            </a:solidFill>
            <a:prstDash val="solid"/>
          </a:ln>
        </p:spPr>
      </p:sp>
      <p:sp>
        <p:nvSpPr>
          <p:cNvPr id="55" name="Text 53"/>
          <p:cNvSpPr/>
          <p:nvPr/>
        </p:nvSpPr>
        <p:spPr>
          <a:xfrm>
            <a:off x="5886450" y="3303984"/>
            <a:ext cx="2650331" cy="142232"/>
          </a:xfrm>
          <a:prstGeom prst="rect">
            <a:avLst/>
          </a:prstGeom>
          <a:noFill/>
          <a:ln/>
        </p:spPr>
        <p:txBody>
          <a:bodyPr wrap="none" lIns="0" tIns="0" rIns="0" bIns="0" rtlCol="0" anchor="t">
            <a:normAutofit/>
          </a:bodyPr>
          <a:lstStyle/>
          <a:p>
            <a:pPr algn="l" indent="0" marL="0">
              <a:lnSpc>
                <a:spcPts val="886"/>
              </a:lnSpc>
              <a:buNone/>
            </a:pPr>
            <a:r>
              <a:rPr lang="en-US" sz="800" b="1" spc="106" kern="0" dirty="0">
                <a:solidFill>
                  <a:srgbClr val="E36414"/>
                </a:solidFill>
                <a:latin typeface="Carlito" pitchFamily="34" charset="0"/>
                <a:ea typeface="Carlito" pitchFamily="34" charset="-122"/>
                <a:cs typeface="Carlito" pitchFamily="34" charset="-120"/>
              </a:rPr>
              <a:t>REFUSALS (RAW)</a:t>
            </a:r>
            <a:endParaRPr lang="en-US" sz="800" dirty="0"/>
          </a:p>
        </p:txBody>
      </p:sp>
      <p:sp>
        <p:nvSpPr>
          <p:cNvPr id="56" name="Text 54"/>
          <p:cNvSpPr/>
          <p:nvPr/>
        </p:nvSpPr>
        <p:spPr>
          <a:xfrm>
            <a:off x="5886450" y="3473648"/>
            <a:ext cx="1392728" cy="150019"/>
          </a:xfrm>
          <a:prstGeom prst="rect">
            <a:avLst/>
          </a:prstGeom>
          <a:noFill/>
          <a:ln/>
        </p:spPr>
        <p:txBody>
          <a:bodyPr wrap="none" lIns="0" tIns="0" rIns="0" bIns="0" rtlCol="0" anchor="t"/>
          <a:lstStyle/>
          <a:p>
            <a:pPr algn="l" indent="0" marL="0">
              <a:lnSpc>
                <a:spcPts val="1181"/>
              </a:lnSpc>
              <a:buNone/>
            </a:pPr>
            <a:r>
              <a:rPr lang="en-US" sz="800" spc="32" kern="0" dirty="0">
                <a:solidFill>
                  <a:srgbClr val="0F4C5C"/>
                </a:solidFill>
                <a:latin typeface="Liberation Sans Narrow" pitchFamily="34" charset="0"/>
                <a:ea typeface="Liberation Sans Narrow" pitchFamily="34" charset="-122"/>
                <a:cs typeface="Liberation Sans Narrow" pitchFamily="34" charset="-120"/>
              </a:rPr>
              <a:t>tp = 8 fp = 0 fn = 0</a:t>
            </a:r>
            <a:endParaRPr lang="en-US" sz="800" dirty="0"/>
          </a:p>
        </p:txBody>
      </p:sp>
      <p:sp>
        <p:nvSpPr>
          <p:cNvPr id="57" name="Text 55"/>
          <p:cNvSpPr/>
          <p:nvPr/>
        </p:nvSpPr>
        <p:spPr>
          <a:xfrm>
            <a:off x="7038045" y="3502223"/>
            <a:ext cx="1498736" cy="121444"/>
          </a:xfrm>
          <a:prstGeom prst="rect">
            <a:avLst/>
          </a:prstGeom>
          <a:noFill/>
          <a:ln/>
        </p:spPr>
        <p:txBody>
          <a:bodyPr wrap="square" lIns="0" tIns="0" rIns="0" bIns="0" rtlCol="0" anchor="t"/>
          <a:lstStyle/>
          <a:p>
            <a:pPr algn="l" indent="0" marL="0">
              <a:lnSpc>
                <a:spcPts val="897"/>
              </a:lnSpc>
              <a:buNone/>
            </a:pPr>
            <a:r>
              <a:rPr lang="en-US" sz="800" dirty="0">
                <a:solidFill>
                  <a:srgbClr val="4A4A4A"/>
                </a:solidFill>
                <a:latin typeface="Liberation Sans Narrow" pitchFamily="34" charset="0"/>
                <a:ea typeface="Liberation Sans Narrow" pitchFamily="34" charset="-122"/>
                <a:cs typeface="Liberation Sans Narrow" pitchFamily="34" charset="-120"/>
              </a:rPr>
              <a:t>n = 8 · floor 0.68</a:t>
            </a:r>
            <a:endParaRPr lang="en-US" sz="800" dirty="0"/>
          </a:p>
        </p:txBody>
      </p:sp>
      <p:sp>
        <p:nvSpPr>
          <p:cNvPr id="58" name="Text 56"/>
          <p:cNvSpPr/>
          <p:nvPr/>
        </p:nvSpPr>
        <p:spPr>
          <a:xfrm>
            <a:off x="0" y="4943475"/>
            <a:ext cx="9144000" cy="200025"/>
          </a:xfrm>
          <a:prstGeom prst="rect">
            <a:avLst/>
          </a:prstGeom>
          <a:solidFill>
            <a:srgbClr val="FFFFFF"/>
          </a:solidFill>
          <a:ln/>
        </p:spPr>
        <p:txBody>
          <a:bodyPr wrap="square" rtlCol="0" anchor="ctr"/>
          <a:lstStyle/>
          <a:p>
            <a:pPr indent="0" marL="0">
              <a:buNone/>
            </a:pPr>
            <a:endParaRPr lang="en-US" dirty="0"/>
          </a:p>
        </p:txBody>
      </p:sp>
      <p:sp>
        <p:nvSpPr>
          <p:cNvPr id="59" name="Shape 57"/>
          <p:cNvSpPr/>
          <p:nvPr/>
        </p:nvSpPr>
        <p:spPr>
          <a:xfrm>
            <a:off x="0" y="4947047"/>
            <a:ext cx="9144000" cy="0"/>
          </a:xfrm>
          <a:prstGeom prst="line">
            <a:avLst/>
          </a:prstGeom>
          <a:noFill/>
          <a:ln w="7144">
            <a:solidFill>
              <a:srgbClr val="D8D2CB"/>
            </a:solidFill>
            <a:prstDash val="solid"/>
          </a:ln>
        </p:spPr>
      </p:sp>
      <p:sp>
        <p:nvSpPr>
          <p:cNvPr id="60" name="Text 58"/>
          <p:cNvSpPr/>
          <p:nvPr/>
        </p:nvSpPr>
        <p:spPr>
          <a:xfrm>
            <a:off x="342900" y="4990802"/>
            <a:ext cx="6235601" cy="152698"/>
          </a:xfrm>
          <a:prstGeom prst="rect">
            <a:avLst/>
          </a:prstGeom>
          <a:noFill/>
          <a:ln/>
        </p:spPr>
        <p:txBody>
          <a:bodyPr wrap="none" lIns="0" tIns="0" rIns="0" bIns="0" rtlCol="0" anchor="t"/>
          <a:lstStyle/>
          <a:p>
            <a:pPr algn="l" indent="0" marL="0">
              <a:lnSpc>
                <a:spcPts val="886"/>
              </a:lnSpc>
              <a:buNone/>
            </a:pPr>
            <a:r>
              <a:rPr lang="en-US" sz="800" spc="24" kern="0" dirty="0">
                <a:solidFill>
                  <a:srgbClr val="0F4C5C"/>
                </a:solidFill>
                <a:latin typeface="Carlito" pitchFamily="34" charset="0"/>
                <a:ea typeface="Carlito" pitchFamily="34" charset="-122"/>
                <a:cs typeface="Carlito" pitchFamily="34" charset="-120"/>
              </a:rPr>
              <a:t>Vidhi Guardian | Ajay Choudhary (MSAI @ Plaksha)</a:t>
            </a:r>
            <a:endParaRPr lang="en-US" sz="800" dirty="0"/>
          </a:p>
        </p:txBody>
      </p:sp>
      <p:sp>
        <p:nvSpPr>
          <p:cNvPr id="61" name="Text 59"/>
          <p:cNvSpPr/>
          <p:nvPr/>
        </p:nvSpPr>
        <p:spPr>
          <a:xfrm>
            <a:off x="6592788" y="4990802"/>
            <a:ext cx="2208312" cy="152698"/>
          </a:xfrm>
          <a:prstGeom prst="rect">
            <a:avLst/>
          </a:prstGeom>
          <a:noFill/>
          <a:ln/>
        </p:spPr>
        <p:txBody>
          <a:bodyPr wrap="square" lIns="0" tIns="0" rIns="0" bIns="0" rtlCol="0" anchor="t"/>
          <a:lstStyle/>
          <a:p>
            <a:pPr algn="l" indent="0" marL="0">
              <a:lnSpc>
                <a:spcPts val="886"/>
              </a:lnSpc>
              <a:buNone/>
            </a:pPr>
            <a:r>
              <a:rPr lang="en-US" sz="600" spc="24" kern="0" dirty="0">
                <a:solidFill>
                  <a:srgbClr val="0F4C5C"/>
                </a:solidFill>
                <a:latin typeface="Courier New" pitchFamily="34" charset="0"/>
                <a:ea typeface="Courier New" pitchFamily="34" charset="-122"/>
                <a:cs typeface="Courier New" pitchFamily="34" charset="-120"/>
              </a:rPr>
              <a:t>ConfAI 2026 · Track 06 Responsible &amp; Ethical AI | 6 / 7</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7175"/>
            <a:ext cx="2717440" cy="164592"/>
          </a:xfrm>
          <a:prstGeom prst="rect">
            <a:avLst/>
          </a:prstGeom>
          <a:noFill/>
          <a:ln/>
        </p:spPr>
        <p:txBody>
          <a:bodyPr wrap="square" lIns="0" tIns="0" rIns="0" bIns="0" rtlCol="0" anchor="t"/>
          <a:lstStyle/>
          <a:p>
            <a:pPr algn="l" indent="0" marL="0">
              <a:lnSpc>
                <a:spcPts val="886"/>
              </a:lnSpc>
              <a:buNone/>
            </a:pPr>
            <a:r>
              <a:rPr lang="en-US" sz="800" b="1" spc="106" kern="0" dirty="0">
                <a:solidFill>
                  <a:srgbClr val="E36414"/>
                </a:solidFill>
                <a:latin typeface="Carlito" pitchFamily="34" charset="0"/>
                <a:ea typeface="Carlito" pitchFamily="34" charset="-122"/>
                <a:cs typeface="Carlito" pitchFamily="34" charset="-120"/>
              </a:rPr>
              <a:t>ROADMAP · WHAT CONFAI FEEDBACK WOULD SHAPE</a:t>
            </a:r>
            <a:endParaRPr lang="en-US" sz="800" dirty="0"/>
          </a:p>
        </p:txBody>
      </p:sp>
      <p:sp>
        <p:nvSpPr>
          <p:cNvPr id="3" name="Text 1"/>
          <p:cNvSpPr/>
          <p:nvPr/>
        </p:nvSpPr>
        <p:spPr>
          <a:xfrm>
            <a:off x="457200" y="442913"/>
            <a:ext cx="6184836" cy="248335"/>
          </a:xfrm>
          <a:prstGeom prst="rect">
            <a:avLst/>
          </a:prstGeom>
          <a:noFill/>
          <a:ln/>
        </p:spPr>
        <p:txBody>
          <a:bodyPr wrap="square" lIns="0" tIns="0" rIns="0" bIns="0" rtlCol="0" anchor="t"/>
          <a:lstStyle/>
          <a:p>
            <a:pPr algn="l" indent="0" marL="0">
              <a:lnSpc>
                <a:spcPts val="1811"/>
              </a:lnSpc>
              <a:buNone/>
            </a:pPr>
            <a:r>
              <a:rPr lang="en-US" sz="1575" b="1" dirty="0">
                <a:solidFill>
                  <a:srgbClr val="0F4C5C"/>
                </a:solidFill>
                <a:latin typeface="Tinos" pitchFamily="34" charset="0"/>
                <a:ea typeface="Tinos" pitchFamily="34" charset="-122"/>
                <a:cs typeface="Tinos" pitchFamily="34" charset="-120"/>
              </a:rPr>
              <a:t>From 173 rows to national coverage without touching the firewall.</a:t>
            </a:r>
            <a:endParaRPr lang="en-US" sz="1575" dirty="0"/>
          </a:p>
        </p:txBody>
      </p:sp>
      <p:sp>
        <p:nvSpPr>
          <p:cNvPr id="4" name="Text 2"/>
          <p:cNvSpPr/>
          <p:nvPr/>
        </p:nvSpPr>
        <p:spPr>
          <a:xfrm>
            <a:off x="460772" y="775097"/>
            <a:ext cx="4200525" cy="260747"/>
          </a:xfrm>
          <a:prstGeom prst="roundRect">
            <a:avLst>
              <a:gd name="adj" fmla="val 14612"/>
            </a:avLst>
          </a:prstGeom>
          <a:solidFill>
            <a:srgbClr val="F6F4F1"/>
          </a:solidFill>
          <a:ln w="7144">
            <a:solidFill>
              <a:srgbClr val="D8D2CB"/>
            </a:solidFill>
            <a:prstDash val="solid"/>
          </a:ln>
        </p:spPr>
        <p:txBody>
          <a:bodyPr wrap="square" rtlCol="0" anchor="ctr"/>
          <a:lstStyle/>
          <a:p>
            <a:pPr indent="0" marL="0">
              <a:buNone/>
            </a:pPr>
            <a:endParaRPr lang="en-US" dirty="0"/>
          </a:p>
        </p:txBody>
      </p:sp>
      <p:sp>
        <p:nvSpPr>
          <p:cNvPr id="5" name="Text 3"/>
          <p:cNvSpPr/>
          <p:nvPr/>
        </p:nvSpPr>
        <p:spPr>
          <a:xfrm>
            <a:off x="457200" y="771525"/>
            <a:ext cx="4207669" cy="316523"/>
          </a:xfrm>
          <a:prstGeom prst="rect">
            <a:avLst/>
          </a:prstGeom>
          <a:noFill/>
          <a:ln/>
        </p:spPr>
        <p:txBody>
          <a:bodyPr wrap="square" lIns="100013" tIns="57150" rIns="100013" bIns="57150" rtlCol="0" anchor="t"/>
          <a:lstStyle/>
          <a:p>
            <a:pPr algn="l" indent="0" marL="0">
              <a:lnSpc>
                <a:spcPts val="1097"/>
              </a:lnSpc>
              <a:buNone/>
            </a:pPr>
            <a:r>
              <a:rPr lang="en-US" sz="800" dirty="0">
                <a:solidFill>
                  <a:srgbClr val="1A1A1A"/>
                </a:solidFill>
                <a:latin typeface="Courier New" pitchFamily="34" charset="0"/>
                <a:ea typeface="Courier New" pitchFamily="34" charset="-122"/>
                <a:cs typeface="Courier New" pitchFamily="34" charset="-120"/>
              </a:rPr>
              <a:t>Try it: uvicorn vidhi.service:app --port 8001 → /demo MCP: python -m vidhi.mcp_server</a:t>
            </a:r>
            <a:endParaRPr lang="en-US" sz="800" dirty="0"/>
          </a:p>
        </p:txBody>
      </p:sp>
      <p:sp>
        <p:nvSpPr>
          <p:cNvPr id="6" name="Shape 4"/>
          <p:cNvSpPr/>
          <p:nvPr/>
        </p:nvSpPr>
        <p:spPr>
          <a:xfrm>
            <a:off x="457200" y="1418034"/>
            <a:ext cx="1380530" cy="0"/>
          </a:xfrm>
          <a:prstGeom prst="line">
            <a:avLst/>
          </a:prstGeom>
          <a:noFill/>
          <a:ln w="14288">
            <a:solidFill>
              <a:srgbClr val="E36414"/>
            </a:solidFill>
            <a:prstDash val="solid"/>
          </a:ln>
        </p:spPr>
      </p:sp>
      <p:sp>
        <p:nvSpPr>
          <p:cNvPr id="7" name="Text 5"/>
          <p:cNvSpPr/>
          <p:nvPr/>
        </p:nvSpPr>
        <p:spPr>
          <a:xfrm>
            <a:off x="457200" y="1235869"/>
            <a:ext cx="1710778" cy="261890"/>
          </a:xfrm>
          <a:prstGeom prst="rect">
            <a:avLst/>
          </a:prstGeom>
          <a:noFill/>
          <a:ln/>
        </p:spPr>
        <p:txBody>
          <a:bodyPr wrap="none" lIns="0" tIns="0" rIns="0" bIns="57150" rtlCol="0" anchor="t">
            <a:normAutofit/>
          </a:bodyPr>
          <a:lstStyle/>
          <a:p>
            <a:pPr algn="l" indent="0" marL="0">
              <a:lnSpc>
                <a:spcPts val="928"/>
              </a:lnSpc>
              <a:buNone/>
            </a:pPr>
            <a:r>
              <a:rPr lang="en-US" sz="800" b="1" spc="111" kern="0" dirty="0">
                <a:solidFill>
                  <a:srgbClr val="7A7A7A"/>
                </a:solidFill>
                <a:latin typeface="Carlito" pitchFamily="34" charset="0"/>
                <a:ea typeface="Carlito" pitchFamily="34" charset="-122"/>
                <a:cs typeface="Carlito" pitchFamily="34" charset="-120"/>
              </a:rPr>
              <a:t>NEXT THREE MOVES, RANKED</a:t>
            </a:r>
            <a:endParaRPr lang="en-US" sz="800" dirty="0"/>
          </a:p>
        </p:txBody>
      </p:sp>
      <p:sp>
        <p:nvSpPr>
          <p:cNvPr id="8" name="Text 6"/>
          <p:cNvSpPr/>
          <p:nvPr/>
        </p:nvSpPr>
        <p:spPr>
          <a:xfrm>
            <a:off x="460772" y="1528763"/>
            <a:ext cx="8222456" cy="507206"/>
          </a:xfrm>
          <a:prstGeom prst="roundRect">
            <a:avLst>
              <a:gd name="adj" fmla="val 11268"/>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9" name="Shape 7"/>
          <p:cNvSpPr/>
          <p:nvPr/>
        </p:nvSpPr>
        <p:spPr>
          <a:xfrm>
            <a:off x="889397" y="1532334"/>
            <a:ext cx="0" cy="500063"/>
          </a:xfrm>
          <a:prstGeom prst="line">
            <a:avLst/>
          </a:prstGeom>
          <a:noFill/>
          <a:ln w="7144">
            <a:solidFill>
              <a:srgbClr val="D8D2CB"/>
            </a:solidFill>
            <a:prstDash val="solid"/>
          </a:ln>
        </p:spPr>
      </p:sp>
      <p:sp>
        <p:nvSpPr>
          <p:cNvPr id="10" name="Text 8"/>
          <p:cNvSpPr/>
          <p:nvPr/>
        </p:nvSpPr>
        <p:spPr>
          <a:xfrm>
            <a:off x="464344" y="1532334"/>
            <a:ext cx="428625" cy="500063"/>
          </a:xfrm>
          <a:prstGeom prst="rect">
            <a:avLst/>
          </a:prstGeom>
          <a:noFill/>
          <a:ln/>
        </p:spPr>
        <p:txBody>
          <a:bodyPr wrap="none" lIns="0" tIns="0" rIns="0" bIns="0" rtlCol="0" anchor="ctr"/>
          <a:lstStyle/>
          <a:p>
            <a:pPr algn="ctr" indent="0" marL="0">
              <a:lnSpc>
                <a:spcPts val="1575"/>
              </a:lnSpc>
              <a:buNone/>
            </a:pPr>
            <a:r>
              <a:rPr lang="en-US" sz="1575" b="1" dirty="0">
                <a:solidFill>
                  <a:srgbClr val="E36414"/>
                </a:solidFill>
                <a:latin typeface="Liberation Sans Narrow" pitchFamily="34" charset="0"/>
                <a:ea typeface="Liberation Sans Narrow" pitchFamily="34" charset="-122"/>
                <a:cs typeface="Liberation Sans Narrow" pitchFamily="34" charset="-120"/>
              </a:rPr>
              <a:t>1</a:t>
            </a:r>
            <a:endParaRPr lang="en-US" sz="1575" dirty="0"/>
          </a:p>
        </p:txBody>
      </p:sp>
      <p:sp>
        <p:nvSpPr>
          <p:cNvPr id="11" name="Text 9"/>
          <p:cNvSpPr/>
          <p:nvPr/>
        </p:nvSpPr>
        <p:spPr>
          <a:xfrm>
            <a:off x="1021556" y="1648085"/>
            <a:ext cx="6600825" cy="121136"/>
          </a:xfrm>
          <a:prstGeom prst="rect">
            <a:avLst/>
          </a:prstGeom>
          <a:noFill/>
          <a:ln/>
        </p:spPr>
        <p:txBody>
          <a:bodyPr wrap="square" lIns="0" tIns="0" rIns="0" bIns="0" rtlCol="0" anchor="t">
            <a:normAutofit/>
          </a:bodyPr>
          <a:lstStyle/>
          <a:p>
            <a:pPr algn="l" indent="0" marL="0">
              <a:lnSpc>
                <a:spcPts val="945"/>
              </a:lnSpc>
              <a:buNone/>
            </a:pPr>
            <a:r>
              <a:rPr lang="en-US" sz="800" b="1" dirty="0">
                <a:solidFill>
                  <a:srgbClr val="0F4C5C"/>
                </a:solidFill>
                <a:latin typeface="Carlito" pitchFamily="34" charset="0"/>
                <a:ea typeface="Carlito" pitchFamily="34" charset="-122"/>
                <a:cs typeface="Carlito" pitchFamily="34" charset="-120"/>
              </a:rPr>
              <a:t>Operating model: eSankhyiki adapter at release time</a:t>
            </a:r>
            <a:endParaRPr lang="en-US" sz="800" dirty="0"/>
          </a:p>
        </p:txBody>
      </p:sp>
      <p:sp>
        <p:nvSpPr>
          <p:cNvPr id="12" name="Text 10"/>
          <p:cNvSpPr/>
          <p:nvPr/>
        </p:nvSpPr>
        <p:spPr>
          <a:xfrm>
            <a:off x="1021556" y="1796653"/>
            <a:ext cx="6600825" cy="153591"/>
          </a:xfrm>
          <a:prstGeom prst="rect">
            <a:avLst/>
          </a:prstGeom>
          <a:noFill/>
          <a:ln/>
        </p:spPr>
        <p:txBody>
          <a:bodyPr wrap="square" lIns="0" tIns="0" rIns="0" bIns="0" rtlCol="0" anchor="t"/>
          <a:lstStyle/>
          <a:p>
            <a:pPr algn="l" indent="0" marL="0">
              <a:lnSpc>
                <a:spcPts val="945"/>
              </a:lnSpc>
              <a:buNone/>
            </a:pPr>
            <a:r>
              <a:rPr lang="en-US" sz="800" dirty="0">
                <a:solidFill>
                  <a:srgbClr val="4A4A4A"/>
                </a:solidFill>
                <a:latin typeface="Carlito" pitchFamily="34" charset="0"/>
                <a:ea typeface="Carlito" pitchFamily="34" charset="-122"/>
                <a:cs typeface="Carlito" pitchFamily="34" charset="-120"/>
              </a:rPr>
              <a:t>Machine ingestion → audit gate → frozen JSON. Human work per release: one comparability entry + diff review.</a:t>
            </a:r>
            <a:endParaRPr lang="en-US" sz="800" dirty="0"/>
          </a:p>
        </p:txBody>
      </p:sp>
      <p:sp>
        <p:nvSpPr>
          <p:cNvPr id="13" name="Text 11"/>
          <p:cNvSpPr/>
          <p:nvPr/>
        </p:nvSpPr>
        <p:spPr>
          <a:xfrm>
            <a:off x="8020985" y="1679353"/>
            <a:ext cx="388656" cy="206026"/>
          </a:xfrm>
          <a:prstGeom prst="roundRect">
            <a:avLst>
              <a:gd name="adj" fmla="val 4618580"/>
            </a:avLst>
          </a:prstGeom>
          <a:solidFill>
            <a:srgbClr val="E36414"/>
          </a:solidFill>
          <a:ln w="7144">
            <a:solidFill>
              <a:srgbClr val="E36414"/>
            </a:solidFill>
            <a:prstDash val="solid"/>
          </a:ln>
        </p:spPr>
        <p:txBody>
          <a:bodyPr wrap="square" rtlCol="0" anchor="ctr"/>
          <a:lstStyle/>
          <a:p>
            <a:pPr indent="0" marL="0">
              <a:buNone/>
            </a:pPr>
            <a:endParaRPr lang="en-US" dirty="0"/>
          </a:p>
        </p:txBody>
      </p:sp>
      <p:sp>
        <p:nvSpPr>
          <p:cNvPr id="14" name="Text 12"/>
          <p:cNvSpPr/>
          <p:nvPr/>
        </p:nvSpPr>
        <p:spPr>
          <a:xfrm>
            <a:off x="8035379" y="1690390"/>
            <a:ext cx="359866" cy="183952"/>
          </a:xfrm>
          <a:prstGeom prst="rect">
            <a:avLst/>
          </a:prstGeom>
          <a:noFill/>
          <a:ln/>
        </p:spPr>
        <p:txBody>
          <a:bodyPr wrap="none" lIns="0" tIns="0" rIns="0" bIns="0" rtlCol="0" anchor="ctr"/>
          <a:lstStyle/>
          <a:p>
            <a:pPr algn="ctr" indent="0" marL="0">
              <a:lnSpc>
                <a:spcPts val="886"/>
              </a:lnSpc>
              <a:buNone/>
            </a:pPr>
            <a:r>
              <a:rPr lang="en-US" sz="800" b="1" spc="47" kern="0" dirty="0">
                <a:solidFill>
                  <a:srgbClr val="FFFFFF"/>
                </a:solidFill>
                <a:latin typeface="Courier New" pitchFamily="34" charset="0"/>
                <a:ea typeface="Courier New" pitchFamily="34" charset="-122"/>
                <a:cs typeface="Courier New" pitchFamily="34" charset="-120"/>
              </a:rPr>
              <a:t>NEXT</a:t>
            </a:r>
            <a:endParaRPr lang="en-US" sz="800" dirty="0"/>
          </a:p>
        </p:txBody>
      </p:sp>
      <p:sp>
        <p:nvSpPr>
          <p:cNvPr id="15" name="Text 13"/>
          <p:cNvSpPr/>
          <p:nvPr/>
        </p:nvSpPr>
        <p:spPr>
          <a:xfrm>
            <a:off x="460772" y="2100263"/>
            <a:ext cx="8222456" cy="507206"/>
          </a:xfrm>
          <a:prstGeom prst="roundRect">
            <a:avLst>
              <a:gd name="adj" fmla="val 11268"/>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16" name="Shape 14"/>
          <p:cNvSpPr/>
          <p:nvPr/>
        </p:nvSpPr>
        <p:spPr>
          <a:xfrm>
            <a:off x="889397" y="2103834"/>
            <a:ext cx="0" cy="500063"/>
          </a:xfrm>
          <a:prstGeom prst="line">
            <a:avLst/>
          </a:prstGeom>
          <a:noFill/>
          <a:ln w="7144">
            <a:solidFill>
              <a:srgbClr val="D8D2CB"/>
            </a:solidFill>
            <a:prstDash val="solid"/>
          </a:ln>
        </p:spPr>
      </p:sp>
      <p:sp>
        <p:nvSpPr>
          <p:cNvPr id="17" name="Text 15"/>
          <p:cNvSpPr/>
          <p:nvPr/>
        </p:nvSpPr>
        <p:spPr>
          <a:xfrm>
            <a:off x="464344" y="2103834"/>
            <a:ext cx="428625" cy="500063"/>
          </a:xfrm>
          <a:prstGeom prst="rect">
            <a:avLst/>
          </a:prstGeom>
          <a:noFill/>
          <a:ln/>
        </p:spPr>
        <p:txBody>
          <a:bodyPr wrap="none" lIns="0" tIns="0" rIns="0" bIns="0" rtlCol="0" anchor="ctr"/>
          <a:lstStyle/>
          <a:p>
            <a:pPr algn="ctr" indent="0" marL="0">
              <a:lnSpc>
                <a:spcPts val="1575"/>
              </a:lnSpc>
              <a:buNone/>
            </a:pPr>
            <a:r>
              <a:rPr lang="en-US" sz="1575" b="1" dirty="0">
                <a:solidFill>
                  <a:srgbClr val="E36414"/>
                </a:solidFill>
                <a:latin typeface="Liberation Sans Narrow" pitchFamily="34" charset="0"/>
                <a:ea typeface="Liberation Sans Narrow" pitchFamily="34" charset="-122"/>
                <a:cs typeface="Liberation Sans Narrow" pitchFamily="34" charset="-120"/>
              </a:rPr>
              <a:t>2</a:t>
            </a:r>
            <a:endParaRPr lang="en-US" sz="1575" dirty="0"/>
          </a:p>
        </p:txBody>
      </p:sp>
      <p:sp>
        <p:nvSpPr>
          <p:cNvPr id="18" name="Text 16"/>
          <p:cNvSpPr/>
          <p:nvPr/>
        </p:nvSpPr>
        <p:spPr>
          <a:xfrm>
            <a:off x="1021556" y="2219585"/>
            <a:ext cx="7128891" cy="121136"/>
          </a:xfrm>
          <a:prstGeom prst="rect">
            <a:avLst/>
          </a:prstGeom>
          <a:noFill/>
          <a:ln/>
        </p:spPr>
        <p:txBody>
          <a:bodyPr wrap="square" lIns="0" tIns="0" rIns="0" bIns="0" rtlCol="0" anchor="t">
            <a:normAutofit/>
          </a:bodyPr>
          <a:lstStyle/>
          <a:p>
            <a:pPr algn="l" indent="0" marL="0">
              <a:lnSpc>
                <a:spcPts val="945"/>
              </a:lnSpc>
              <a:buNone/>
            </a:pPr>
            <a:r>
              <a:rPr lang="en-US" sz="800" b="1" dirty="0">
                <a:solidFill>
                  <a:srgbClr val="0F4C5C"/>
                </a:solidFill>
                <a:latin typeface="Carlito" pitchFamily="34" charset="0"/>
                <a:ea typeface="Carlito" pitchFamily="34" charset="-122"/>
                <a:cs typeface="Carlito" pitchFamily="34" charset="-120"/>
              </a:rPr>
              <a:t>One parser per table family</a:t>
            </a:r>
            <a:endParaRPr lang="en-US" sz="800" dirty="0"/>
          </a:p>
        </p:txBody>
      </p:sp>
      <p:sp>
        <p:nvSpPr>
          <p:cNvPr id="19" name="Text 17"/>
          <p:cNvSpPr/>
          <p:nvPr/>
        </p:nvSpPr>
        <p:spPr>
          <a:xfrm>
            <a:off x="1021556" y="2368153"/>
            <a:ext cx="6600825" cy="153591"/>
          </a:xfrm>
          <a:prstGeom prst="rect">
            <a:avLst/>
          </a:prstGeom>
          <a:noFill/>
          <a:ln/>
        </p:spPr>
        <p:txBody>
          <a:bodyPr wrap="square" lIns="0" tIns="0" rIns="0" bIns="0" rtlCol="0" anchor="t"/>
          <a:lstStyle/>
          <a:p>
            <a:pPr algn="l" indent="0" marL="0">
              <a:lnSpc>
                <a:spcPts val="945"/>
              </a:lnSpc>
              <a:buNone/>
            </a:pPr>
            <a:r>
              <a:rPr lang="en-US" sz="800" dirty="0">
                <a:solidFill>
                  <a:srgbClr val="4A4A4A"/>
                </a:solidFill>
                <a:latin typeface="Carlito" pitchFamily="34" charset="0"/>
                <a:ea typeface="Carlito" pitchFamily="34" charset="-122"/>
                <a:cs typeface="Carlito" pitchFamily="34" charset="-120"/>
              </a:rPr>
              <a:t>Statement 7 done: 37/37 pairs, 0 mismatches. TUS and MIS tables next.</a:t>
            </a:r>
            <a:endParaRPr lang="en-US" sz="800" dirty="0"/>
          </a:p>
        </p:txBody>
      </p:sp>
      <p:sp>
        <p:nvSpPr>
          <p:cNvPr id="20" name="Text 18"/>
          <p:cNvSpPr/>
          <p:nvPr/>
        </p:nvSpPr>
        <p:spPr>
          <a:xfrm>
            <a:off x="7860268" y="2250853"/>
            <a:ext cx="710089" cy="206026"/>
          </a:xfrm>
          <a:prstGeom prst="roundRect">
            <a:avLst>
              <a:gd name="adj" fmla="val 4618580"/>
            </a:avLst>
          </a:prstGeom>
          <a:solidFill>
            <a:srgbClr val="0F4C5C"/>
          </a:solidFill>
          <a:ln w="7144">
            <a:solidFill>
              <a:srgbClr val="0F4C5C"/>
            </a:solidFill>
            <a:prstDash val="solid"/>
          </a:ln>
        </p:spPr>
        <p:txBody>
          <a:bodyPr wrap="square" rtlCol="0" anchor="ctr"/>
          <a:lstStyle/>
          <a:p>
            <a:pPr indent="0" marL="0">
              <a:buNone/>
            </a:pPr>
            <a:endParaRPr lang="en-US" dirty="0"/>
          </a:p>
        </p:txBody>
      </p:sp>
      <p:sp>
        <p:nvSpPr>
          <p:cNvPr id="21" name="Text 19"/>
          <p:cNvSpPr/>
          <p:nvPr/>
        </p:nvSpPr>
        <p:spPr>
          <a:xfrm>
            <a:off x="7809095" y="2261890"/>
            <a:ext cx="812434" cy="183952"/>
          </a:xfrm>
          <a:prstGeom prst="rect">
            <a:avLst/>
          </a:prstGeom>
          <a:noFill/>
          <a:ln/>
        </p:spPr>
        <p:txBody>
          <a:bodyPr wrap="none" lIns="0" tIns="0" rIns="0" bIns="0" rtlCol="0" anchor="ctr"/>
          <a:lstStyle/>
          <a:p>
            <a:pPr algn="ctr" indent="0" marL="0">
              <a:lnSpc>
                <a:spcPts val="886"/>
              </a:lnSpc>
              <a:buNone/>
            </a:pPr>
            <a:r>
              <a:rPr lang="en-US" sz="800" b="1" spc="47" kern="0" dirty="0">
                <a:solidFill>
                  <a:srgbClr val="FFFFFF"/>
                </a:solidFill>
                <a:latin typeface="Courier New" pitchFamily="34" charset="0"/>
                <a:ea typeface="Courier New" pitchFamily="34" charset="-122"/>
                <a:cs typeface="Courier New" pitchFamily="34" charset="-120"/>
              </a:rPr>
              <a:t>IN PROGRESS</a:t>
            </a:r>
            <a:endParaRPr lang="en-US" sz="800" dirty="0"/>
          </a:p>
        </p:txBody>
      </p:sp>
      <p:sp>
        <p:nvSpPr>
          <p:cNvPr id="22" name="Text 20"/>
          <p:cNvSpPr/>
          <p:nvPr/>
        </p:nvSpPr>
        <p:spPr>
          <a:xfrm>
            <a:off x="460772" y="2671763"/>
            <a:ext cx="8222456" cy="507206"/>
          </a:xfrm>
          <a:prstGeom prst="roundRect">
            <a:avLst>
              <a:gd name="adj" fmla="val 11268"/>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23" name="Shape 21"/>
          <p:cNvSpPr/>
          <p:nvPr/>
        </p:nvSpPr>
        <p:spPr>
          <a:xfrm>
            <a:off x="889397" y="2675334"/>
            <a:ext cx="0" cy="500063"/>
          </a:xfrm>
          <a:prstGeom prst="line">
            <a:avLst/>
          </a:prstGeom>
          <a:noFill/>
          <a:ln w="7144">
            <a:solidFill>
              <a:srgbClr val="D8D2CB"/>
            </a:solidFill>
            <a:prstDash val="solid"/>
          </a:ln>
        </p:spPr>
      </p:sp>
      <p:sp>
        <p:nvSpPr>
          <p:cNvPr id="24" name="Text 22"/>
          <p:cNvSpPr/>
          <p:nvPr/>
        </p:nvSpPr>
        <p:spPr>
          <a:xfrm>
            <a:off x="464344" y="2675334"/>
            <a:ext cx="428625" cy="500063"/>
          </a:xfrm>
          <a:prstGeom prst="rect">
            <a:avLst/>
          </a:prstGeom>
          <a:noFill/>
          <a:ln/>
        </p:spPr>
        <p:txBody>
          <a:bodyPr wrap="none" lIns="0" tIns="0" rIns="0" bIns="0" rtlCol="0" anchor="ctr"/>
          <a:lstStyle/>
          <a:p>
            <a:pPr algn="ctr" indent="0" marL="0">
              <a:lnSpc>
                <a:spcPts val="1575"/>
              </a:lnSpc>
              <a:buNone/>
            </a:pPr>
            <a:r>
              <a:rPr lang="en-US" sz="1575" b="1" dirty="0">
                <a:solidFill>
                  <a:srgbClr val="E36414"/>
                </a:solidFill>
                <a:latin typeface="Liberation Sans Narrow" pitchFamily="34" charset="0"/>
                <a:ea typeface="Liberation Sans Narrow" pitchFamily="34" charset="-122"/>
                <a:cs typeface="Liberation Sans Narrow" pitchFamily="34" charset="-120"/>
              </a:rPr>
              <a:t>3</a:t>
            </a:r>
            <a:endParaRPr lang="en-US" sz="1575" dirty="0"/>
          </a:p>
        </p:txBody>
      </p:sp>
      <p:sp>
        <p:nvSpPr>
          <p:cNvPr id="25" name="Text 23"/>
          <p:cNvSpPr/>
          <p:nvPr/>
        </p:nvSpPr>
        <p:spPr>
          <a:xfrm>
            <a:off x="1021556" y="2791085"/>
            <a:ext cx="7128891" cy="121136"/>
          </a:xfrm>
          <a:prstGeom prst="rect">
            <a:avLst/>
          </a:prstGeom>
          <a:noFill/>
          <a:ln/>
        </p:spPr>
        <p:txBody>
          <a:bodyPr wrap="square" lIns="0" tIns="0" rIns="0" bIns="0" rtlCol="0" anchor="t">
            <a:normAutofit/>
          </a:bodyPr>
          <a:lstStyle/>
          <a:p>
            <a:pPr algn="l" indent="0" marL="0">
              <a:lnSpc>
                <a:spcPts val="945"/>
              </a:lnSpc>
              <a:buNone/>
            </a:pPr>
            <a:r>
              <a:rPr lang="en-US" sz="800" b="1" dirty="0">
                <a:solidFill>
                  <a:srgbClr val="0F4C5C"/>
                </a:solidFill>
                <a:latin typeface="Carlito" pitchFamily="34" charset="0"/>
                <a:ea typeface="Carlito" pitchFamily="34" charset="-122"/>
                <a:cs typeface="Carlito" pitchFamily="34" charset="-120"/>
              </a:rPr>
              <a:t>Verify-then-publish endpoint</a:t>
            </a:r>
            <a:endParaRPr lang="en-US" sz="800" dirty="0"/>
          </a:p>
        </p:txBody>
      </p:sp>
      <p:sp>
        <p:nvSpPr>
          <p:cNvPr id="26" name="Text 24"/>
          <p:cNvSpPr/>
          <p:nvPr/>
        </p:nvSpPr>
        <p:spPr>
          <a:xfrm>
            <a:off x="1021556" y="2939653"/>
            <a:ext cx="6600825" cy="153591"/>
          </a:xfrm>
          <a:prstGeom prst="rect">
            <a:avLst/>
          </a:prstGeom>
          <a:noFill/>
          <a:ln/>
        </p:spPr>
        <p:txBody>
          <a:bodyPr wrap="square" lIns="0" tIns="0" rIns="0" bIns="0" rtlCol="0" anchor="t"/>
          <a:lstStyle/>
          <a:p>
            <a:pPr algn="l" indent="0" marL="0">
              <a:lnSpc>
                <a:spcPts val="945"/>
              </a:lnSpc>
              <a:buNone/>
            </a:pPr>
            <a:r>
              <a:rPr lang="en-US" sz="800" dirty="0">
                <a:solidFill>
                  <a:srgbClr val="4A4A4A"/>
                </a:solidFill>
                <a:latin typeface="Carlito" pitchFamily="34" charset="0"/>
                <a:ea typeface="Carlito" pitchFamily="34" charset="-122"/>
                <a:cs typeface="Carlito" pitchFamily="34" charset="-120"/>
              </a:rPr>
              <a:t>For journalists and fact-checkers: submit a claim, get a cited verdict.</a:t>
            </a:r>
            <a:endParaRPr lang="en-US" sz="800" dirty="0"/>
          </a:p>
        </p:txBody>
      </p:sp>
      <p:sp>
        <p:nvSpPr>
          <p:cNvPr id="27" name="Text 25"/>
          <p:cNvSpPr/>
          <p:nvPr/>
        </p:nvSpPr>
        <p:spPr>
          <a:xfrm>
            <a:off x="7926959" y="2822353"/>
            <a:ext cx="576594" cy="206026"/>
          </a:xfrm>
          <a:prstGeom prst="roundRect">
            <a:avLst>
              <a:gd name="adj" fmla="val 4618580"/>
            </a:avLst>
          </a:prstGeom>
          <a:solidFill>
            <a:srgbClr val="F6F4F1"/>
          </a:solidFill>
          <a:ln w="7144">
            <a:solidFill>
              <a:srgbClr val="D8D2CB"/>
            </a:solidFill>
            <a:prstDash val="solid"/>
          </a:ln>
        </p:spPr>
        <p:txBody>
          <a:bodyPr wrap="square" rtlCol="0" anchor="ctr"/>
          <a:lstStyle/>
          <a:p>
            <a:pPr indent="0" marL="0">
              <a:buNone/>
            </a:pPr>
            <a:endParaRPr lang="en-US" dirty="0"/>
          </a:p>
        </p:txBody>
      </p:sp>
      <p:sp>
        <p:nvSpPr>
          <p:cNvPr id="28" name="Text 26"/>
          <p:cNvSpPr/>
          <p:nvPr/>
        </p:nvSpPr>
        <p:spPr>
          <a:xfrm>
            <a:off x="7900154" y="2833390"/>
            <a:ext cx="630204" cy="183952"/>
          </a:xfrm>
          <a:prstGeom prst="rect">
            <a:avLst/>
          </a:prstGeom>
          <a:noFill/>
          <a:ln/>
        </p:spPr>
        <p:txBody>
          <a:bodyPr wrap="none" lIns="0" tIns="0" rIns="0" bIns="0" rtlCol="0" anchor="ctr"/>
          <a:lstStyle/>
          <a:p>
            <a:pPr algn="ctr" indent="0" marL="0">
              <a:lnSpc>
                <a:spcPts val="886"/>
              </a:lnSpc>
              <a:buNone/>
            </a:pPr>
            <a:r>
              <a:rPr lang="en-US" sz="800" b="1" spc="47" kern="0" dirty="0">
                <a:solidFill>
                  <a:srgbClr val="0F4C5C"/>
                </a:solidFill>
                <a:latin typeface="Courier New" pitchFamily="34" charset="0"/>
                <a:ea typeface="Courier New" pitchFamily="34" charset="-122"/>
                <a:cs typeface="Courier New" pitchFamily="34" charset="-120"/>
              </a:rPr>
              <a:t>PROPOSED</a:t>
            </a:r>
            <a:endParaRPr lang="en-US" sz="800" dirty="0"/>
          </a:p>
        </p:txBody>
      </p:sp>
      <p:sp>
        <p:nvSpPr>
          <p:cNvPr id="29" name="Text 27"/>
          <p:cNvSpPr/>
          <p:nvPr/>
        </p:nvSpPr>
        <p:spPr>
          <a:xfrm>
            <a:off x="460772" y="3146822"/>
            <a:ext cx="8222456" cy="192881"/>
          </a:xfrm>
          <a:prstGeom prst="roundRect">
            <a:avLst>
              <a:gd name="adj" fmla="val 19753"/>
            </a:avLst>
          </a:prstGeom>
          <a:solidFill>
            <a:srgbClr val="F6F4F1"/>
          </a:solidFill>
          <a:ln w="7144">
            <a:solidFill>
              <a:srgbClr val="D8D2CB"/>
            </a:solidFill>
            <a:prstDash val="solid"/>
          </a:ln>
        </p:spPr>
        <p:txBody>
          <a:bodyPr wrap="square" rtlCol="0" anchor="ctr"/>
          <a:lstStyle/>
          <a:p>
            <a:pPr indent="0" marL="0">
              <a:buNone/>
            </a:pPr>
            <a:endParaRPr lang="en-US" dirty="0"/>
          </a:p>
        </p:txBody>
      </p:sp>
      <p:sp>
        <p:nvSpPr>
          <p:cNvPr id="30" name="Text 28"/>
          <p:cNvSpPr/>
          <p:nvPr/>
        </p:nvSpPr>
        <p:spPr>
          <a:xfrm>
            <a:off x="457200" y="3143250"/>
            <a:ext cx="8229600" cy="256032"/>
          </a:xfrm>
          <a:prstGeom prst="rect">
            <a:avLst/>
          </a:prstGeom>
          <a:noFill/>
          <a:ln/>
        </p:spPr>
        <p:txBody>
          <a:bodyPr wrap="square" lIns="100013" tIns="42863" rIns="100013" bIns="42863" rtlCol="0" anchor="t"/>
          <a:lstStyle/>
          <a:p>
            <a:pPr algn="l" indent="0" marL="0">
              <a:lnSpc>
                <a:spcPts val="1013"/>
              </a:lnSpc>
              <a:buNone/>
            </a:pPr>
            <a:r>
              <a:rPr lang="en-US" sz="800" dirty="0">
                <a:solidFill>
                  <a:srgbClr val="4A4A4A"/>
                </a:solidFill>
                <a:latin typeface="Carlito" pitchFamily="34" charset="0"/>
                <a:ea typeface="Carlito" pitchFamily="34" charset="-122"/>
                <a:cs typeface="Carlito" pitchFamily="34" charset="-120"/>
              </a:rPr>
              <a:t>Already built: MCP server (4 tools) + policy-briefing agent. Reproduce everything in 5 minutes.</a:t>
            </a:r>
            <a:endParaRPr lang="en-US" sz="800" dirty="0"/>
          </a:p>
        </p:txBody>
      </p:sp>
      <p:sp>
        <p:nvSpPr>
          <p:cNvPr id="31" name="Text 29"/>
          <p:cNvSpPr/>
          <p:nvPr/>
        </p:nvSpPr>
        <p:spPr>
          <a:xfrm>
            <a:off x="460772" y="3504009"/>
            <a:ext cx="2636044" cy="707231"/>
          </a:xfrm>
          <a:prstGeom prst="roundRect">
            <a:avLst>
              <a:gd name="adj" fmla="val 8081"/>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32" name="Text 30"/>
          <p:cNvSpPr/>
          <p:nvPr/>
        </p:nvSpPr>
        <p:spPr>
          <a:xfrm>
            <a:off x="564356" y="3711848"/>
            <a:ext cx="2428875" cy="144018"/>
          </a:xfrm>
          <a:prstGeom prst="rect">
            <a:avLst/>
          </a:prstGeom>
          <a:noFill/>
          <a:ln/>
        </p:spPr>
        <p:txBody>
          <a:bodyPr wrap="none" lIns="0" tIns="0" rIns="0" bIns="0" rtlCol="0" anchor="t">
            <a:normAutofit/>
          </a:bodyPr>
          <a:lstStyle/>
          <a:p>
            <a:pPr algn="l" indent="0" marL="0">
              <a:lnSpc>
                <a:spcPts val="1013"/>
              </a:lnSpc>
              <a:buNone/>
            </a:pPr>
            <a:r>
              <a:rPr lang="en-US" sz="800" spc="14" kern="0" dirty="0">
                <a:solidFill>
                  <a:srgbClr val="0F4C5C"/>
                </a:solidFill>
                <a:latin typeface="Courier New" pitchFamily="34" charset="0"/>
                <a:ea typeface="Courier New" pitchFamily="34" charset="-122"/>
                <a:cs typeface="Courier New" pitchFamily="34" charset="-120"/>
              </a:rPr>
              <a:t>pytest tests/ -q</a:t>
            </a:r>
            <a:endParaRPr lang="en-US" sz="800" dirty="0"/>
          </a:p>
        </p:txBody>
      </p:sp>
      <p:sp>
        <p:nvSpPr>
          <p:cNvPr id="33" name="Text 31"/>
          <p:cNvSpPr/>
          <p:nvPr/>
        </p:nvSpPr>
        <p:spPr>
          <a:xfrm>
            <a:off x="564356" y="3883298"/>
            <a:ext cx="2538603" cy="153591"/>
          </a:xfrm>
          <a:prstGeom prst="rect">
            <a:avLst/>
          </a:prstGeom>
          <a:noFill/>
          <a:ln/>
        </p:spPr>
        <p:txBody>
          <a:bodyPr wrap="square" lIns="0" tIns="0" rIns="0" bIns="0" rtlCol="0" anchor="t"/>
          <a:lstStyle/>
          <a:p>
            <a:pPr algn="l" indent="0" marL="0">
              <a:lnSpc>
                <a:spcPts val="945"/>
              </a:lnSpc>
              <a:buNone/>
            </a:pPr>
            <a:r>
              <a:rPr lang="en-US" sz="800" dirty="0">
                <a:solidFill>
                  <a:srgbClr val="1A1A1A"/>
                </a:solidFill>
                <a:latin typeface="Liberation Sans Narrow" pitchFamily="34" charset="0"/>
                <a:ea typeface="Liberation Sans Narrow" pitchFamily="34" charset="-122"/>
                <a:cs typeface="Liberation Sans Narrow" pitchFamily="34" charset="-120"/>
              </a:rPr>
              <a:t>→ 90 passed, offline, no key</a:t>
            </a:r>
            <a:endParaRPr lang="en-US" sz="800" dirty="0"/>
          </a:p>
        </p:txBody>
      </p:sp>
      <p:sp>
        <p:nvSpPr>
          <p:cNvPr id="34" name="Text 32"/>
          <p:cNvSpPr/>
          <p:nvPr/>
        </p:nvSpPr>
        <p:spPr>
          <a:xfrm>
            <a:off x="3253978" y="3504009"/>
            <a:ext cx="2636044" cy="707231"/>
          </a:xfrm>
          <a:prstGeom prst="roundRect">
            <a:avLst>
              <a:gd name="adj" fmla="val 8081"/>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35" name="Text 33"/>
          <p:cNvSpPr/>
          <p:nvPr/>
        </p:nvSpPr>
        <p:spPr>
          <a:xfrm>
            <a:off x="3357563" y="3711848"/>
            <a:ext cx="2428875" cy="144018"/>
          </a:xfrm>
          <a:prstGeom prst="rect">
            <a:avLst/>
          </a:prstGeom>
          <a:noFill/>
          <a:ln/>
        </p:spPr>
        <p:txBody>
          <a:bodyPr wrap="none" lIns="0" tIns="0" rIns="0" bIns="0" rtlCol="0" anchor="t">
            <a:normAutofit/>
          </a:bodyPr>
          <a:lstStyle/>
          <a:p>
            <a:pPr algn="l" indent="0" marL="0">
              <a:lnSpc>
                <a:spcPts val="1013"/>
              </a:lnSpc>
              <a:buNone/>
            </a:pPr>
            <a:r>
              <a:rPr lang="en-US" sz="800" spc="14" kern="0" dirty="0">
                <a:solidFill>
                  <a:srgbClr val="0F4C5C"/>
                </a:solidFill>
                <a:latin typeface="Courier New" pitchFamily="34" charset="0"/>
                <a:ea typeface="Courier New" pitchFamily="34" charset="-122"/>
                <a:cs typeface="Courier New" pitchFamily="34" charset="-120"/>
              </a:rPr>
              <a:t>vidhi/eval.py</a:t>
            </a:r>
            <a:endParaRPr lang="en-US" sz="800" dirty="0"/>
          </a:p>
        </p:txBody>
      </p:sp>
      <p:sp>
        <p:nvSpPr>
          <p:cNvPr id="36" name="Text 34"/>
          <p:cNvSpPr/>
          <p:nvPr/>
        </p:nvSpPr>
        <p:spPr>
          <a:xfrm>
            <a:off x="3357563" y="3883298"/>
            <a:ext cx="2538603" cy="153591"/>
          </a:xfrm>
          <a:prstGeom prst="rect">
            <a:avLst/>
          </a:prstGeom>
          <a:noFill/>
          <a:ln/>
        </p:spPr>
        <p:txBody>
          <a:bodyPr wrap="square" lIns="0" tIns="0" rIns="0" bIns="0" rtlCol="0" anchor="t"/>
          <a:lstStyle/>
          <a:p>
            <a:pPr algn="l" indent="0" marL="0">
              <a:lnSpc>
                <a:spcPts val="945"/>
              </a:lnSpc>
              <a:buNone/>
            </a:pPr>
            <a:r>
              <a:rPr lang="en-US" sz="800" dirty="0">
                <a:solidFill>
                  <a:srgbClr val="1A1A1A"/>
                </a:solidFill>
                <a:latin typeface="Liberation Sans Narrow" pitchFamily="34" charset="0"/>
                <a:ea typeface="Liberation Sans Narrow" pitchFamily="34" charset="-122"/>
                <a:cs typeface="Liberation Sans Narrow" pitchFamily="34" charset="-120"/>
              </a:rPr>
              <a:t>→ 100/100 · 0/19 · Safety-B ok</a:t>
            </a:r>
            <a:endParaRPr lang="en-US" sz="800" dirty="0"/>
          </a:p>
        </p:txBody>
      </p:sp>
      <p:sp>
        <p:nvSpPr>
          <p:cNvPr id="37" name="Text 35"/>
          <p:cNvSpPr/>
          <p:nvPr/>
        </p:nvSpPr>
        <p:spPr>
          <a:xfrm>
            <a:off x="6047184" y="3504009"/>
            <a:ext cx="2636044" cy="707231"/>
          </a:xfrm>
          <a:prstGeom prst="roundRect">
            <a:avLst>
              <a:gd name="adj" fmla="val 8081"/>
            </a:avLst>
          </a:prstGeom>
          <a:solidFill>
            <a:srgbClr val="FFFFFF"/>
          </a:solidFill>
          <a:ln w="7144">
            <a:solidFill>
              <a:srgbClr val="D8D2CB"/>
            </a:solidFill>
            <a:prstDash val="solid"/>
          </a:ln>
        </p:spPr>
        <p:txBody>
          <a:bodyPr wrap="square" rtlCol="0" anchor="ctr"/>
          <a:lstStyle/>
          <a:p>
            <a:pPr indent="0" marL="0">
              <a:buNone/>
            </a:pPr>
            <a:endParaRPr lang="en-US" dirty="0"/>
          </a:p>
        </p:txBody>
      </p:sp>
      <p:sp>
        <p:nvSpPr>
          <p:cNvPr id="38" name="Text 36"/>
          <p:cNvSpPr/>
          <p:nvPr/>
        </p:nvSpPr>
        <p:spPr>
          <a:xfrm>
            <a:off x="6150769" y="3711848"/>
            <a:ext cx="2428875" cy="144018"/>
          </a:xfrm>
          <a:prstGeom prst="rect">
            <a:avLst/>
          </a:prstGeom>
          <a:noFill/>
          <a:ln/>
        </p:spPr>
        <p:txBody>
          <a:bodyPr wrap="none" lIns="0" tIns="0" rIns="0" bIns="0" rtlCol="0" anchor="t">
            <a:normAutofit/>
          </a:bodyPr>
          <a:lstStyle/>
          <a:p>
            <a:pPr algn="l" indent="0" marL="0">
              <a:lnSpc>
                <a:spcPts val="1013"/>
              </a:lnSpc>
              <a:buNone/>
            </a:pPr>
            <a:r>
              <a:rPr lang="en-US" sz="800" spc="14" kern="0" dirty="0">
                <a:solidFill>
                  <a:srgbClr val="0F4C5C"/>
                </a:solidFill>
                <a:latin typeface="Courier New" pitchFamily="34" charset="0"/>
                <a:ea typeface="Courier New" pitchFamily="34" charset="-122"/>
                <a:cs typeface="Courier New" pitchFamily="34" charset="-120"/>
              </a:rPr>
              <a:t>Ask the hard question</a:t>
            </a:r>
            <a:endParaRPr lang="en-US" sz="800" dirty="0"/>
          </a:p>
        </p:txBody>
      </p:sp>
      <p:sp>
        <p:nvSpPr>
          <p:cNvPr id="39" name="Text 37"/>
          <p:cNvSpPr/>
          <p:nvPr/>
        </p:nvSpPr>
        <p:spPr>
          <a:xfrm>
            <a:off x="6150769" y="3883298"/>
            <a:ext cx="2538603" cy="153591"/>
          </a:xfrm>
          <a:prstGeom prst="rect">
            <a:avLst/>
          </a:prstGeom>
          <a:noFill/>
          <a:ln/>
        </p:spPr>
        <p:txBody>
          <a:bodyPr wrap="square" lIns="0" tIns="0" rIns="0" bIns="0" rtlCol="0" anchor="t"/>
          <a:lstStyle/>
          <a:p>
            <a:pPr algn="l" indent="0" marL="0">
              <a:lnSpc>
                <a:spcPts val="945"/>
              </a:lnSpc>
              <a:buNone/>
            </a:pPr>
            <a:r>
              <a:rPr lang="en-US" sz="800" dirty="0">
                <a:solidFill>
                  <a:srgbClr val="1A1A1A"/>
                </a:solidFill>
                <a:latin typeface="Carlito" pitchFamily="34" charset="0"/>
                <a:ea typeface="Carlito" pitchFamily="34" charset="-122"/>
                <a:cs typeface="Carlito" pitchFamily="34" charset="-120"/>
              </a:rPr>
              <a:t>→ expect WARN_NO_DATA + coverage note.</a:t>
            </a:r>
            <a:endParaRPr lang="en-US" sz="800" dirty="0"/>
          </a:p>
        </p:txBody>
      </p:sp>
      <p:sp>
        <p:nvSpPr>
          <p:cNvPr id="40" name="Text 38"/>
          <p:cNvSpPr/>
          <p:nvPr/>
        </p:nvSpPr>
        <p:spPr>
          <a:xfrm>
            <a:off x="457200" y="4357688"/>
            <a:ext cx="8229600" cy="428625"/>
          </a:xfrm>
          <a:prstGeom prst="rect">
            <a:avLst/>
          </a:prstGeom>
          <a:solidFill>
            <a:srgbClr val="FFFFFF"/>
          </a:solidFill>
          <a:ln/>
        </p:spPr>
        <p:txBody>
          <a:bodyPr wrap="square" rtlCol="0" anchor="ctr"/>
          <a:lstStyle/>
          <a:p>
            <a:pPr indent="0" marL="0">
              <a:buNone/>
            </a:pPr>
            <a:endParaRPr lang="en-US" dirty="0"/>
          </a:p>
        </p:txBody>
      </p:sp>
      <p:sp>
        <p:nvSpPr>
          <p:cNvPr id="41" name="Shape 39"/>
          <p:cNvSpPr/>
          <p:nvPr/>
        </p:nvSpPr>
        <p:spPr>
          <a:xfrm>
            <a:off x="471488" y="4357688"/>
            <a:ext cx="0" cy="428625"/>
          </a:xfrm>
          <a:prstGeom prst="line">
            <a:avLst/>
          </a:prstGeom>
          <a:noFill/>
          <a:ln w="28575">
            <a:solidFill>
              <a:srgbClr val="E36414"/>
            </a:solidFill>
            <a:prstDash val="solid"/>
          </a:ln>
        </p:spPr>
      </p:sp>
      <p:sp>
        <p:nvSpPr>
          <p:cNvPr id="42" name="Text 40"/>
          <p:cNvSpPr/>
          <p:nvPr/>
        </p:nvSpPr>
        <p:spPr>
          <a:xfrm>
            <a:off x="457200" y="4357688"/>
            <a:ext cx="8229600" cy="462915"/>
          </a:xfrm>
          <a:prstGeom prst="rect">
            <a:avLst/>
          </a:prstGeom>
          <a:noFill/>
          <a:ln/>
        </p:spPr>
        <p:txBody>
          <a:bodyPr wrap="square" lIns="142875" tIns="85725" rIns="142875" bIns="85725" rtlCol="0" anchor="t"/>
          <a:lstStyle/>
          <a:p>
            <a:pPr algn="l" indent="0" marL="0">
              <a:lnSpc>
                <a:spcPts val="1485"/>
              </a:lnSpc>
              <a:buNone/>
            </a:pPr>
            <a:r>
              <a:rPr lang="en-US" sz="1238" b="1" i="1" dirty="0">
                <a:solidFill>
                  <a:srgbClr val="0F4C5C"/>
                </a:solidFill>
                <a:latin typeface="Tinos" pitchFamily="34" charset="0"/>
                <a:ea typeface="Tinos" pitchFamily="34" charset="-122"/>
                <a:cs typeface="Tinos" pitchFamily="34" charset="-120"/>
              </a:rPr>
              <a:t>Thank you — questions and red-team attempts welcome.</a:t>
            </a:r>
            <a:endParaRPr lang="en-US" sz="1238" dirty="0"/>
          </a:p>
        </p:txBody>
      </p:sp>
      <p:sp>
        <p:nvSpPr>
          <p:cNvPr id="43" name="Text 41"/>
          <p:cNvSpPr/>
          <p:nvPr/>
        </p:nvSpPr>
        <p:spPr>
          <a:xfrm>
            <a:off x="0" y="4943475"/>
            <a:ext cx="9144000" cy="200025"/>
          </a:xfrm>
          <a:prstGeom prst="rect">
            <a:avLst/>
          </a:prstGeom>
          <a:solidFill>
            <a:srgbClr val="FFFFFF"/>
          </a:solidFill>
          <a:ln/>
        </p:spPr>
        <p:txBody>
          <a:bodyPr wrap="square" rtlCol="0" anchor="ctr"/>
          <a:lstStyle/>
          <a:p>
            <a:pPr indent="0" marL="0">
              <a:buNone/>
            </a:pPr>
            <a:endParaRPr lang="en-US" dirty="0"/>
          </a:p>
        </p:txBody>
      </p:sp>
      <p:sp>
        <p:nvSpPr>
          <p:cNvPr id="44" name="Shape 42"/>
          <p:cNvSpPr/>
          <p:nvPr/>
        </p:nvSpPr>
        <p:spPr>
          <a:xfrm>
            <a:off x="0" y="4947047"/>
            <a:ext cx="9144000" cy="0"/>
          </a:xfrm>
          <a:prstGeom prst="line">
            <a:avLst/>
          </a:prstGeom>
          <a:noFill/>
          <a:ln w="7144">
            <a:solidFill>
              <a:srgbClr val="D8D2CB"/>
            </a:solidFill>
            <a:prstDash val="solid"/>
          </a:ln>
        </p:spPr>
      </p:sp>
      <p:sp>
        <p:nvSpPr>
          <p:cNvPr id="45" name="Text 43"/>
          <p:cNvSpPr/>
          <p:nvPr/>
        </p:nvSpPr>
        <p:spPr>
          <a:xfrm>
            <a:off x="342900" y="4990802"/>
            <a:ext cx="6235601" cy="152698"/>
          </a:xfrm>
          <a:prstGeom prst="rect">
            <a:avLst/>
          </a:prstGeom>
          <a:noFill/>
          <a:ln/>
        </p:spPr>
        <p:txBody>
          <a:bodyPr wrap="none" lIns="0" tIns="0" rIns="0" bIns="0" rtlCol="0" anchor="t"/>
          <a:lstStyle/>
          <a:p>
            <a:pPr algn="l" indent="0" marL="0">
              <a:lnSpc>
                <a:spcPts val="886"/>
              </a:lnSpc>
              <a:buNone/>
            </a:pPr>
            <a:r>
              <a:rPr lang="en-US" sz="800" spc="24" kern="0" dirty="0">
                <a:solidFill>
                  <a:srgbClr val="0F4C5C"/>
                </a:solidFill>
                <a:latin typeface="Carlito" pitchFamily="34" charset="0"/>
                <a:ea typeface="Carlito" pitchFamily="34" charset="-122"/>
                <a:cs typeface="Carlito" pitchFamily="34" charset="-120"/>
              </a:rPr>
              <a:t>Vidhi Guardian | Ajay Choudhary (MSAI @ Plaksha)</a:t>
            </a:r>
            <a:endParaRPr lang="en-US" sz="800" dirty="0"/>
          </a:p>
        </p:txBody>
      </p:sp>
      <p:sp>
        <p:nvSpPr>
          <p:cNvPr id="46" name="Text 44"/>
          <p:cNvSpPr/>
          <p:nvPr/>
        </p:nvSpPr>
        <p:spPr>
          <a:xfrm>
            <a:off x="6592788" y="4990802"/>
            <a:ext cx="2208312" cy="152698"/>
          </a:xfrm>
          <a:prstGeom prst="rect">
            <a:avLst/>
          </a:prstGeom>
          <a:noFill/>
          <a:ln/>
        </p:spPr>
        <p:txBody>
          <a:bodyPr wrap="square" lIns="0" tIns="0" rIns="0" bIns="0" rtlCol="0" anchor="t"/>
          <a:lstStyle/>
          <a:p>
            <a:pPr algn="l" indent="0" marL="0">
              <a:lnSpc>
                <a:spcPts val="886"/>
              </a:lnSpc>
              <a:buNone/>
            </a:pPr>
            <a:r>
              <a:rPr lang="en-US" sz="600" spc="24" kern="0" dirty="0">
                <a:solidFill>
                  <a:srgbClr val="0F4C5C"/>
                </a:solidFill>
                <a:latin typeface="Courier New" pitchFamily="34" charset="0"/>
                <a:ea typeface="Courier New" pitchFamily="34" charset="-122"/>
                <a:cs typeface="Courier New" pitchFamily="34" charset="-120"/>
              </a:rPr>
              <a:t>ConfAI 2026 · Track 06 Responsible &amp; Ethical AI | 7 / 7</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2026-10-15T21:13:06Z</dcterms:created>
  <dcterms:modified xsi:type="dcterms:W3CDTF">2026-10-15T21:13:06Z</dcterms:modified>
</cp:coreProperties>
</file>