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4530A"/>
                </a:solidFill>
                <a:latin typeface="Calibri"/>
              </a:defRPr>
            </a:pPr>
            <a:r>
              <a:t>CONFAI 2026 · PLAKSHA UNIVERSITY · TRACK 06 RESPONSIBLE &amp; ETHICAL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34E4A"/>
                </a:solidFill>
                <a:latin typeface="Georgia"/>
              </a:defRPr>
            </a:pPr>
            <a:r>
              <a:t>Refuse to Hallucinate: a Deterministic Validity Firewall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B7280"/>
                </a:solidFill>
                <a:latin typeface="Calibri"/>
              </a:defRPr>
            </a:pPr>
            <a:r>
              <a:t>for Indian Official Survey Statistics (MoSPI · PLFS · HCES · TUS · MIS)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B45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B7280"/>
                </a:solidFill>
                <a:latin typeface="Calibri"/>
              </a:defRPr>
            </a:pPr>
            <a:r>
              <a:t>Vidhi Guardian  |  Ajay Choudhary (MSAI @ Plaksha)  |  ConfAI 2026 · Track 06 Responsible &amp; Ethical AI  |  1 of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 b="0">
                <a:solidFill>
                  <a:srgbClr val="22302B"/>
                </a:solidFill>
                <a:latin typeface="Calibri"/>
              </a:defRPr>
            </a:pPr>
            <a:r>
              <a:t>MoSPI's tools help you find the number. This firewall checks whether you are allowed to say what you want to say with it — and stops you, with a cited rule, when you are not.</a:t>
            </a:r>
          </a:p>
          <a:p>
            <a:pPr>
              <a:spcAft>
                <a:spcPts val="300"/>
              </a:spcAft>
              <a:defRPr sz="1100" b="0">
                <a:solidFill>
                  <a:srgbClr val="6B7280"/>
                </a:solidFill>
                <a:latin typeface="Calibri"/>
              </a:defRPr>
            </a:pPr>
            <a:r>
              <a:t>Ajay Choudhary · MSAI @ Plaksha University · offline demo localhost:8001/demo · $0.00 marginal cost · no GPU · MCP server + policy agent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931920"/>
            <a:ext cx="25603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02336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2200" b="1">
                <a:solidFill>
                  <a:srgbClr val="B4530A"/>
                </a:solidFill>
                <a:latin typeface="Calibri"/>
              </a:defRPr>
            </a:pPr>
            <a:r>
              <a:t>100 / 100</a:t>
            </a:r>
          </a:p>
          <a:p>
            <a:pPr>
              <a:spcAft>
                <a:spcPts val="300"/>
              </a:spcAft>
              <a:defRPr sz="1100" b="0">
                <a:solidFill>
                  <a:srgbClr val="6B7280"/>
                </a:solidFill>
                <a:latin typeface="Calibri"/>
              </a:defRPr>
            </a:pPr>
            <a:r>
              <a:t>golden verdicts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3931920"/>
            <a:ext cx="25603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402336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2200" b="1">
                <a:solidFill>
                  <a:srgbClr val="B4530A"/>
                </a:solidFill>
                <a:latin typeface="Calibri"/>
              </a:defRPr>
            </a:pPr>
            <a:r>
              <a:t>59 / 59</a:t>
            </a:r>
          </a:p>
          <a:p>
            <a:pPr>
              <a:spcAft>
                <a:spcPts val="300"/>
              </a:spcAft>
              <a:defRPr sz="1100" b="0">
                <a:solidFill>
                  <a:srgbClr val="6B7280"/>
                </a:solidFill>
                <a:latin typeface="Calibri"/>
              </a:defRPr>
            </a:pPr>
            <a:r>
              <a:t>figures exact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31920"/>
            <a:ext cx="25603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402336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2200" b="1">
                <a:solidFill>
                  <a:srgbClr val="B4530A"/>
                </a:solidFill>
                <a:latin typeface="Calibri"/>
              </a:defRPr>
            </a:pPr>
            <a:r>
              <a:t>0 / 19</a:t>
            </a:r>
          </a:p>
          <a:p>
            <a:pPr>
              <a:spcAft>
                <a:spcPts val="300"/>
              </a:spcAft>
              <a:defRPr sz="1100" b="0">
                <a:solidFill>
                  <a:srgbClr val="6B7280"/>
                </a:solidFill>
                <a:latin typeface="Calibri"/>
              </a:defRPr>
            </a:pPr>
            <a:r>
              <a:t>cache collisions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39" y="3931920"/>
            <a:ext cx="25603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6839" y="402336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2200" b="1">
                <a:solidFill>
                  <a:srgbClr val="B4530A"/>
                </a:solidFill>
                <a:latin typeface="Calibri"/>
              </a:defRPr>
            </a:pPr>
            <a:r>
              <a:t>SHA-256</a:t>
            </a:r>
          </a:p>
          <a:p>
            <a:pPr>
              <a:spcAft>
                <a:spcPts val="300"/>
              </a:spcAft>
              <a:defRPr sz="1100" b="0">
                <a:solidFill>
                  <a:srgbClr val="6B7280"/>
                </a:solidFill>
                <a:latin typeface="Calibri"/>
              </a:defRPr>
            </a:pPr>
            <a:r>
              <a:t>verdict frozen pre-retrieval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6692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22302B"/>
                </a:solidFill>
                <a:latin typeface="Calibri"/>
              </a:defRPr>
            </a:pPr>
            <a:r>
              <a:t>Live question for the room: “What was female LFPR in Bihar in PLFS 2025?” — it refuses to guess and shows exactly why (slide 5).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4530A"/>
                </a:solidFill>
                <a:latin typeface="Calibri"/>
              </a:defRPr>
            </a:pPr>
            <a:r>
              <a:t>PROBLEM · STATSDOC FAILURE MODES FROM LIVE PROBING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34E4A"/>
                </a:solidFill>
                <a:latin typeface="Georgia"/>
              </a:defRPr>
            </a:pPr>
            <a:r>
              <a:t>Retrieval is solved. Governance is not.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B7280"/>
                </a:solidFill>
                <a:latin typeface="Calibri"/>
              </a:defRPr>
            </a:pPr>
            <a:r>
              <a:t>Archived transcripts, chats 2472-2480 (evaluation/statsdoc_audit/sessions/2026-10-20/) — one session, one prompt set; an observation, not a benchmark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B45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B7280"/>
                </a:solidFill>
                <a:latin typeface="Calibri"/>
              </a:defRPr>
            </a:pPr>
            <a:r>
              <a:t>Vidhi Guardian  |  Ajay Choudhary (MSAI @ Plaksha)  |  ConfAI 2026 · Track 06 Responsible &amp; Ethical AI  |  2 of 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828800"/>
          <a:ext cx="1088136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343400"/>
                <a:gridCol w="4343400"/>
              </a:tblGrid>
              <a:tr h="7162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Check</a:t>
                      </a:r>
                    </a:p>
                  </a:txBody>
                  <a:tcPr>
                    <a:solidFill>
                      <a:srgbClr val="B4530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StatsDoc pilot (observed)</a:t>
                      </a:r>
                    </a:p>
                  </a:txBody>
                  <a:tcPr>
                    <a:solidFill>
                      <a:srgbClr val="B4530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Vidhi Guardian (measured)</a:t>
                      </a:r>
                    </a:p>
                  </a:txBody>
                  <a:tcPr>
                    <a:solidFill>
                      <a:srgbClr val="B4530A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MPCE definition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✕ expands “Mean …” (wrong)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✓ enforces statutory “Monthly …”, cites ₹4,122</a:t>
                      </a:r>
                    </a:p>
                  </a:txBody>
                  <a:tcPr/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2011-12 vs 2023-24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✕ quotes ~40% growth, no warning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✓ halts with R_COMPARABILITY_HCES_METHOD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Multi-period math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✕ 40% then 4%, chained unsoundly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✓ refuses unsound synthesis; no number</a:t>
                      </a:r>
                    </a:p>
                  </a:txBody>
                  <a:tcPr/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Poisoned context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✕ retrieved text overrides guardrails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✓ verdict frozen pre-retrieval; hash identical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Cost /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✕ ~$0.02–0.05 · 3.5–8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✓ $0.00 marginal · p50 &lt; 200 ms warm, CPU-only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4530A"/>
                </a:solidFill>
                <a:latin typeface="Calibri"/>
              </a:defRPr>
            </a:pPr>
            <a:r>
              <a:t>SOLUTION · MODELS TRANSLATE, VERSIONED RULES JUDGE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34E4A"/>
                </a:solidFill>
                <a:latin typeface="Georgia"/>
              </a:defRPr>
            </a:pPr>
            <a:r>
              <a:t>Five stages. Fixed order. First rule to fire wins.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B7280"/>
                </a:solidFill>
                <a:latin typeface="Calibri"/>
              </a:defRPr>
            </a:pPr>
            <a:r>
              <a:t>Question → exact cache → claim extraction → field-guard cache → firewall → SHA-256 freeze → untrusted retrieval → templated prose → citation check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B45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B7280"/>
                </a:solidFill>
                <a:latin typeface="Calibri"/>
              </a:defRPr>
            </a:pPr>
            <a:r>
              <a:t>Vidhi Guardian  |  Ajay Choudhary (MSAI @ Plaksha)  |  ConfAI 2026 · Track 06 Responsible &amp; Ethical AI  |  3 of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210312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A93226"/>
                </a:solidFill>
                <a:latin typeface="Calibri"/>
              </a:defRPr>
            </a:pPr>
            <a:r>
              <a:t>1 · Safety</a:t>
            </a:r>
          </a:p>
          <a:p>
            <a:pPr>
              <a:spcAft>
                <a:spcPts val="30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REFUSE injections</a:t>
            </a:r>
            <a:br/>
            <a:r>
              <a:t>(EN, Hindi, Hinglish)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9504" y="1783080"/>
            <a:ext cx="210312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9504" y="182880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A93226"/>
                </a:solidFill>
                <a:latin typeface="Calibri"/>
              </a:defRPr>
            </a:pPr>
            <a:r>
              <a:t>2 · Scope</a:t>
            </a:r>
          </a:p>
          <a:p>
            <a:pPr>
              <a:spcAft>
                <a:spcPts val="30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REFUSE forecasts,</a:t>
            </a:r>
            <a:br/>
            <a:r>
              <a:t>politics, causality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38928" y="1783080"/>
            <a:ext cx="210312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38928" y="182880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8A5A00"/>
                </a:solidFill>
                <a:latin typeface="Calibri"/>
              </a:defRPr>
            </a:pPr>
            <a:r>
              <a:t>3 · Comparability</a:t>
            </a:r>
          </a:p>
          <a:p>
            <a:pPr>
              <a:spcAft>
                <a:spcPts val="30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WARN on HCES-CAPI /</a:t>
            </a:r>
            <a:br/>
            <a:r>
              <a:t>PLFS-revamp breaks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88352" y="1783080"/>
            <a:ext cx="210312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88352" y="182880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8A5A00"/>
                </a:solidFill>
                <a:latin typeface="Calibri"/>
              </a:defRPr>
            </a:pPr>
            <a:r>
              <a:t>4 · Metadata</a:t>
            </a:r>
          </a:p>
          <a:p>
            <a:pPr>
              <a:spcAft>
                <a:spcPts val="30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WARN on unknown</a:t>
            </a:r>
            <a:br/>
            <a:r>
              <a:t>geo / sex / round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37776" y="1783080"/>
            <a:ext cx="210312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37776" y="182880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1E6B34"/>
                </a:solidFill>
                <a:latin typeface="Calibri"/>
              </a:defRPr>
            </a:pPr>
            <a:r>
              <a:t>5 · Numeric</a:t>
            </a:r>
          </a:p>
          <a:p>
            <a:pPr>
              <a:spcAft>
                <a:spcPts val="30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PASS only on a</a:t>
            </a:r>
            <a:br/>
            <a:r>
              <a:t>verified truth row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703320"/>
            <a:ext cx="1088136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794760"/>
            <a:ext cx="10424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B4530A"/>
                </a:solidFill>
                <a:latin typeface="Calibri"/>
              </a:defRPr>
            </a:pPr>
            <a:r>
              <a:t>Two guarantees that make demos boring (in a good way).</a:t>
            </a:r>
          </a:p>
          <a:p>
            <a:pPr>
              <a:spcAft>
                <a:spcPts val="300"/>
              </a:spcAft>
              <a:defRPr sz="1000" b="0">
                <a:solidFill>
                  <a:srgbClr val="22302B"/>
                </a:solidFill>
                <a:latin typeface="Calibri"/>
              </a:defRPr>
            </a:pPr>
            <a:r>
              <a:t>Safety-B: hash = SHA-256(claim + decision + reason + rule-version), computed before any document text is read. A planted “ignore the caveat” chunk changes nothing.</a:t>
            </a:r>
          </a:p>
          <a:p>
            <a:pPr>
              <a:spcAft>
                <a:spcPts val="300"/>
              </a:spcAft>
              <a:defRPr sz="1000" b="0">
                <a:solidFill>
                  <a:srgbClr val="22302B"/>
                </a:solidFill>
                <a:latin typeface="Calibri"/>
              </a:defRPr>
            </a:pPr>
            <a:r>
              <a:t>Field-guard: no cosine threshold is safe on either embedder, so the cache reuses an answer only on exact critical-field match. Zero collisions across 19 danger pairs.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4530A"/>
                </a:solidFill>
                <a:latin typeface="Calibri"/>
              </a:defRPr>
            </a:pPr>
            <a:r>
              <a:t>LIVE DEMO · SCREENSHOTS FROM LOCALHOST:8001/DEMO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34E4A"/>
                </a:solidFill>
                <a:latin typeface="Georgia"/>
              </a:defRPr>
            </a:pPr>
            <a:r>
              <a:t>Verified answers: a PASS and a 4-slice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B7280"/>
                </a:solidFill>
                <a:latin typeface="Calibri"/>
              </a:defRPr>
            </a:pPr>
            <a:r>
              <a:t>Captured live from vidhi/demo.html while building this deck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B45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B7280"/>
                </a:solidFill>
                <a:latin typeface="Calibri"/>
              </a:defRPr>
            </a:pPr>
            <a:r>
              <a:t>Vidhi Guardian  |  Ajay Choudhary (MSAI @ Plaksha)  |  ConfAI 2026 · Track 06 Responsible &amp; Ethical AI  |  4 of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349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1E6B34"/>
                </a:solidFill>
                <a:latin typeface="Calibri"/>
              </a:defRPr>
            </a:pPr>
            <a:r>
              <a:t>PASS_WITH_NUMBER — LFPR 59.3%</a:t>
            </a:r>
          </a:p>
        </p:txBody>
      </p:sp>
      <p:pic>
        <p:nvPicPr>
          <p:cNvPr id="8" name="Picture 7" descr="shot_p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581" y="2148840"/>
            <a:ext cx="5304237" cy="3931920"/>
          </a:xfrm>
          <a:prstGeom prst="rect">
            <a:avLst/>
          </a:prstGeom>
          <a:ln w="12700">
            <a:solidFill>
              <a:srgbClr val="E3DCCB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40080" y="6126480"/>
            <a:ext cx="5349240" cy="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Q: What was all-India LFPR for age 15+ in usual status in PLFS 2025?  ·  hash efb76eb2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691640"/>
            <a:ext cx="5349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1E6B34"/>
                </a:solidFill>
                <a:latin typeface="Calibri"/>
              </a:defRPr>
            </a:pPr>
            <a:r>
              <a:t>PASS — 4 verified slices, Export CSV</a:t>
            </a:r>
          </a:p>
        </p:txBody>
      </p:sp>
      <p:pic>
        <p:nvPicPr>
          <p:cNvPr id="11" name="Picture 10" descr="shot_bih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340" y="2148840"/>
            <a:ext cx="3002398" cy="3931920"/>
          </a:xfrm>
          <a:prstGeom prst="rect">
            <a:avLst/>
          </a:prstGeom>
          <a:ln w="12700">
            <a:solidFill>
              <a:srgbClr val="E3DCCB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217920" y="6126480"/>
            <a:ext cx="5349240" cy="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mpce for bihar: rural/urban × with/without imputation, each with its row_id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22302B"/>
                </a:solidFill>
                <a:latin typeface="Calibri"/>
              </a:defRPr>
            </a:pPr>
            <a:r>
              <a:t>Generalised, not hard-coded: any state, any spelling — “mp”, “up”, “m.p.”, “orissa”, “maharastra”; several states at once; an open slice returns every published cell, never one narrowed figure.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4530A"/>
                </a:solidFill>
                <a:latin typeface="Calibri"/>
              </a:defRPr>
            </a:pPr>
            <a:r>
              <a:t>LIVE DEMO · THE QUESTION THIS WORK WILL NOT HALLUCINATE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34E4A"/>
                </a:solidFill>
                <a:latin typeface="Georgia"/>
              </a:defRPr>
            </a:pPr>
            <a:r>
              <a:t>Honesty for uncovered slices, refusal for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B7280"/>
                </a:solidFill>
                <a:latin typeface="Calibri"/>
              </a:defRPr>
            </a:pPr>
            <a:r>
              <a:t>SOURCED tier (online): exact live figure, verdict stays WARN — never silently PASS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B45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B7280"/>
                </a:solidFill>
                <a:latin typeface="Calibri"/>
              </a:defRPr>
            </a:pPr>
            <a:r>
              <a:t>Vidhi Guardian  |  Ajay Choudhary (MSAI @ Plaksha)  |  ConfAI 2026 · Track 06 Responsible &amp; Ethical AI  |  5 of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349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8A5A00"/>
                </a:solidFill>
                <a:latin typeface="Calibri"/>
              </a:defRPr>
            </a:pPr>
            <a:r>
              <a:t>WARN_NO_DATA — female LFPR in Bihar (state splits, coverage note)</a:t>
            </a:r>
          </a:p>
        </p:txBody>
      </p:sp>
      <p:pic>
        <p:nvPicPr>
          <p:cNvPr id="8" name="Picture 7" descr="shot_wa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354" y="2148840"/>
            <a:ext cx="4434690" cy="3931920"/>
          </a:xfrm>
          <a:prstGeom prst="rect">
            <a:avLst/>
          </a:prstGeom>
          <a:ln w="12700">
            <a:solidFill>
              <a:srgbClr val="E3DCCB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40080" y="6126480"/>
            <a:ext cx="5349240" cy="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Offline twin: coverage note + NOT-the-figure guard, tier 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691640"/>
            <a:ext cx="5349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A93226"/>
                </a:solidFill>
                <a:latin typeface="Calibri"/>
              </a:defRPr>
            </a:pPr>
            <a:r>
              <a:t>REFUSE_SCOPE / R_FORECAST</a:t>
            </a:r>
          </a:p>
        </p:txBody>
      </p:sp>
      <p:pic>
        <p:nvPicPr>
          <p:cNvPr id="11" name="Picture 10" descr="shot_refu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7036" y="2148840"/>
            <a:ext cx="4771006" cy="3931920"/>
          </a:xfrm>
          <a:prstGeom prst="rect">
            <a:avLst/>
          </a:prstGeom>
          <a:ln w="12700">
            <a:solidFill>
              <a:srgbClr val="E3DCCB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217920" y="6126480"/>
            <a:ext cx="5349240" cy="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Q: Will unemployment fall in 2027?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4530A"/>
                </a:solidFill>
                <a:latin typeface="Calibri"/>
              </a:defRPr>
            </a:pPr>
            <a:r>
              <a:t>MEASURED, OFFLINE, REPRODUCIBLE · PYTHON VIDHI/EVAL.PY + PYTEST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34E4A"/>
                </a:solidFill>
                <a:latin typeface="Georgia"/>
              </a:defRPr>
            </a:pPr>
            <a:r>
              <a:t>Every number below is a test output, not a slide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B7280"/>
                </a:solidFill>
                <a:latin typeface="Calibri"/>
              </a:defRPr>
            </a:pPr>
            <a:r>
              <a:t>1708 verified rows · 100 golden · 19 danger · 28 red-team · offline unit tests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B45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B7280"/>
                </a:solidFill>
                <a:latin typeface="Calibri"/>
              </a:defRPr>
            </a:pPr>
            <a:r>
              <a:t>Vidhi Guardian  |  Ajay Choudhary (MSAI @ Plaksha)  |  ConfAI 2026 · Track 06 Responsible &amp; Ethical AI  |  6 of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91640"/>
            <a:ext cx="534924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B4530A"/>
                </a:solidFill>
                <a:latin typeface="Calibri"/>
              </a:defRPr>
            </a:pPr>
            <a:r>
              <a:t>Correctness gates (all must pass)</a:t>
            </a:r>
          </a:p>
          <a:p>
            <a:pPr>
              <a:spcAft>
                <a:spcPts val="300"/>
              </a:spcAft>
              <a:defRPr sz="1100" b="1">
                <a:solidFill>
                  <a:srgbClr val="22302B"/>
                </a:solidFill>
                <a:latin typeface="Calibri"/>
              </a:defRPr>
            </a:pPr>
            <a:r>
              <a:t>Golden verdicts 100/100 [0.963–1.000]</a:t>
            </a:r>
          </a:p>
          <a:p>
            <a:pPr>
              <a:spcAft>
                <a:spcPts val="300"/>
              </a:spcAft>
              <a:defRPr sz="1100" b="0">
                <a:solidFill>
                  <a:srgbClr val="22302B"/>
                </a:solidFill>
                <a:latin typeface="Calibri"/>
              </a:defRPr>
            </a:pPr>
            <a:r>
              <a:t>Reason codes 100/100 · figures 60/60 [0.940–1.000]</a:t>
            </a:r>
          </a:p>
          <a:p>
            <a:pPr>
              <a:spcAft>
                <a:spcPts val="300"/>
              </a:spcAft>
              <a:defRPr sz="1100" b="0">
                <a:solidFill>
                  <a:srgbClr val="22302B"/>
                </a:solidFill>
                <a:latin typeface="Calibri"/>
              </a:defRPr>
            </a:pPr>
            <a:r>
              <a:t>Citations valid 1.000 · danger collisions 0/19</a:t>
            </a:r>
          </a:p>
          <a:p>
            <a:pPr>
              <a:spcAft>
                <a:spcPts val="300"/>
              </a:spcAft>
              <a:defRPr sz="1100" b="1">
                <a:solidFill>
                  <a:srgbClr val="22302B"/>
                </a:solidFill>
                <a:latin typeface="Calibri"/>
              </a:defRPr>
            </a:pPr>
            <a:r>
              <a:t>Abstention recall 1.000 · hallucination rate 0.000</a:t>
            </a:r>
          </a:p>
          <a:p>
            <a:pPr>
              <a:spcAft>
                <a:spcPts val="300"/>
              </a:spcAft>
              <a:defRPr sz="1100" b="1">
                <a:solidFill>
                  <a:srgbClr val="22302B"/>
                </a:solidFill>
                <a:latin typeface="Calibri"/>
              </a:defRPr>
            </a:pPr>
            <a:r>
              <a:t>Safety-A P/R/F1 1.000 · n=28 (en/hi/hi-en, 0 FP/FN)</a:t>
            </a:r>
          </a:p>
          <a:p>
            <a:pPr>
              <a:spcAft>
                <a:spcPts val="300"/>
              </a:spcAft>
              <a:defRPr sz="1100" b="0">
                <a:solidFill>
                  <a:srgbClr val="22302B"/>
                </a:solidFill>
                <a:latin typeface="Calibri"/>
              </a:defRPr>
            </a:pPr>
            <a:r>
              <a:t>Safety-B: frozen hash unchanged under injection</a:t>
            </a:r>
          </a:p>
          <a:p>
            <a:pPr>
              <a:spcAft>
                <a:spcPts val="300"/>
              </a:spcAft>
              <a:defRPr sz="1100" b="0">
                <a:solidFill>
                  <a:srgbClr val="22302B"/>
                </a:solidFill>
                <a:latin typeface="Calibri"/>
              </a:defRPr>
            </a:pPr>
            <a:r>
              <a:t>Unit tests: 110 passed, offline, no key</a:t>
            </a:r>
          </a:p>
          <a:p>
            <a:pPr>
              <a:spcAft>
                <a:spcPts val="300"/>
              </a:spcAft>
              <a:defRPr sz="1100" b="0">
                <a:solidFill>
                  <a:srgbClr val="22302B"/>
                </a:solidFill>
                <a:latin typeface="Calibri"/>
              </a:defRPr>
            </a:pPr>
            <a:r>
              <a:t>Refusals: tp=8 fp=0 fn=0, raw counts (n=8)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34924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78308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134E4A"/>
                </a:solidFill>
                <a:latin typeface="Calibri"/>
              </a:defRPr>
            </a:pPr>
            <a:r>
              <a:t>Economics and limits, stated plainly</a:t>
            </a:r>
          </a:p>
          <a:p>
            <a:pPr>
              <a:spcAft>
                <a:spcPts val="300"/>
              </a:spcAft>
              <a:defRPr sz="1100" b="0">
                <a:solidFill>
                  <a:srgbClr val="22302B"/>
                </a:solidFill>
                <a:latin typeface="Calibri"/>
              </a:defRPr>
            </a:pPr>
            <a:r>
              <a:t>$0.00 marginal model cost (0 model calls) plus hosting</a:t>
            </a:r>
          </a:p>
          <a:p>
            <a:pPr>
              <a:spcAft>
                <a:spcPts val="300"/>
              </a:spcAft>
              <a:defRPr sz="1100" b="0">
                <a:solidFill>
                  <a:srgbClr val="22302B"/>
                </a:solidFill>
                <a:latin typeface="Calibri"/>
              </a:defRPr>
            </a:pPr>
            <a:r>
              <a:t>p50 &lt; 200 ms warm · one-time cold model load at startup</a:t>
            </a:r>
          </a:p>
          <a:p>
            <a:pPr>
              <a:spcAft>
                <a:spcPts val="300"/>
              </a:spcAft>
              <a:defRPr sz="1100" b="0">
                <a:solidFill>
                  <a:srgbClr val="22302B"/>
                </a:solidFill>
                <a:latin typeface="Calibri"/>
              </a:defRPr>
            </a:pPr>
            <a:r>
              <a:t>Limit is coverage: PLFS state splits warn, never guess</a:t>
            </a:r>
          </a:p>
          <a:p>
            <a:pPr>
              <a:spcAft>
                <a:spcPts val="300"/>
              </a:spcAft>
              <a:defRPr sz="1100" b="0">
                <a:solidFill>
                  <a:srgbClr val="22302B"/>
                </a:solidFill>
                <a:latin typeface="Calibri"/>
              </a:defRPr>
            </a:pPr>
            <a:r>
              <a:t>Heuristic reads break on exotic phrasing; LLM port exists</a:t>
            </a:r>
          </a:p>
          <a:p>
            <a:pPr>
              <a:spcAft>
                <a:spcPts val="300"/>
              </a:spcAft>
              <a:defRPr sz="1100" b="1">
                <a:solidFill>
                  <a:srgbClr val="22302B"/>
                </a:solidFill>
                <a:latin typeface="Calibri"/>
              </a:defRPr>
            </a:pPr>
            <a:r>
              <a:t>Scale path: curate PDF tables → truth JSON, no code change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4530A"/>
                </a:solidFill>
                <a:latin typeface="Calibri"/>
              </a:defRPr>
            </a:pPr>
            <a:r>
              <a:t>ROADMAP · WHAT CONFAI FEEDBACK WOULD SHAPE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34E4A"/>
                </a:solidFill>
                <a:latin typeface="Georgia"/>
              </a:defRPr>
            </a:pPr>
            <a:r>
              <a:t>From 1708 verified rows to national coverage without touching the firewall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B7280"/>
                </a:solidFill>
                <a:latin typeface="Calibri"/>
              </a:defRPr>
            </a:pPr>
            <a:r>
              <a:t>Try it: uvicorn vidhi.service:app --port 8001 → /demo · MCP: python -m vidhi.mcp_server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B45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B7280"/>
                </a:solidFill>
                <a:latin typeface="Calibri"/>
              </a:defRPr>
            </a:pPr>
            <a:r>
              <a:t>Vidhi Guardian  |  Ajay Choudhary (MSAI @ Plaksha)  |  ConfAI 2026 · Track 06 Responsible &amp; Ethical AI  |  7 of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91640"/>
            <a:ext cx="534924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B4530A"/>
                </a:solidFill>
                <a:latin typeface="Calibri"/>
              </a:defRPr>
            </a:pPr>
            <a:r>
              <a:t>Next three moves, ranked</a:t>
            </a:r>
          </a:p>
          <a:p>
            <a:pPr>
              <a:spcAft>
                <a:spcPts val="300"/>
              </a:spcAft>
              <a:defRPr sz="1000" b="0">
                <a:solidFill>
                  <a:srgbClr val="22302B"/>
                </a:solidFill>
                <a:latin typeface="Calibri"/>
              </a:defRPr>
            </a:pPr>
            <a:r>
              <a:t>1. Operating model: eSankhyiki adapter at release time → machine ingestion → audit gate → frozen JSON. Human work per release: one comparability entry plus diff review.</a:t>
            </a:r>
          </a:p>
          <a:p>
            <a:pPr>
              <a:spcAft>
                <a:spcPts val="300"/>
              </a:spcAft>
              <a:defRPr sz="1000" b="0">
                <a:solidFill>
                  <a:srgbClr val="22302B"/>
                </a:solidFill>
                <a:latin typeface="Calibri"/>
              </a:defRPr>
            </a:pPr>
            <a:r>
              <a:t>2. One parser per table family: PLFS Highlights battery (both annual reports), TUS tables/battery and HCES Statement 10 done; MIS tables next.</a:t>
            </a:r>
          </a:p>
          <a:p>
            <a:pPr>
              <a:spcAft>
                <a:spcPts val="300"/>
              </a:spcAft>
              <a:defRPr sz="1000" b="0">
                <a:solidFill>
                  <a:srgbClr val="22302B"/>
                </a:solidFill>
                <a:latin typeface="Calibri"/>
              </a:defRPr>
            </a:pPr>
            <a:r>
              <a:t>3. Verify-then-publish endpoint for journalists and fact-checkers.</a:t>
            </a:r>
          </a:p>
          <a:p>
            <a:pPr>
              <a:spcAft>
                <a:spcPts val="300"/>
              </a:spcAft>
              <a:defRPr sz="1000" b="1">
                <a:solidFill>
                  <a:srgbClr val="22302B"/>
                </a:solidFill>
                <a:latin typeface="Calibri"/>
              </a:defRPr>
            </a:pPr>
            <a:r>
              <a:t>Already built: MCP server (4 tools) + policy-briefing agent.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34924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78308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134E4A"/>
                </a:solidFill>
                <a:latin typeface="Calibri"/>
              </a:defRPr>
            </a:pPr>
            <a:r>
              <a:t>Reproduce everything in 5 minutes</a:t>
            </a:r>
          </a:p>
          <a:p>
            <a:pPr>
              <a:spcAft>
                <a:spcPts val="300"/>
              </a:spcAft>
              <a:defRPr sz="1050" b="0">
                <a:solidFill>
                  <a:srgbClr val="22302B"/>
                </a:solidFill>
                <a:latin typeface="Calibri"/>
              </a:defRPr>
            </a:pPr>
            <a:r>
              <a:t>pytest tests/ -q  →  110 passed, offline, no key</a:t>
            </a:r>
          </a:p>
          <a:p>
            <a:pPr>
              <a:spcAft>
                <a:spcPts val="300"/>
              </a:spcAft>
              <a:defRPr sz="1050" b="0">
                <a:solidFill>
                  <a:srgbClr val="22302B"/>
                </a:solidFill>
                <a:latin typeface="Calibri"/>
              </a:defRPr>
            </a:pPr>
            <a:r>
              <a:t>vidhi/eval.py  →  100/100 · 0/19 · Safety-B ok</a:t>
            </a:r>
          </a:p>
          <a:p>
            <a:pPr>
              <a:spcAft>
                <a:spcPts val="300"/>
              </a:spcAft>
              <a:defRPr sz="1050" b="1">
                <a:solidFill>
                  <a:srgbClr val="22302B"/>
                </a:solidFill>
                <a:latin typeface="Calibri"/>
              </a:defRPr>
            </a:pPr>
            <a:r>
              <a:t>Ask the hard question; expect WARN_NO_DATA + coverage note.</a:t>
            </a:r>
          </a:p>
          <a:p>
            <a:pPr>
              <a:spcAft>
                <a:spcPts val="300"/>
              </a:spcAft>
              <a:defRPr sz="1050" b="1">
                <a:solidFill>
                  <a:srgbClr val="B4530A"/>
                </a:solidFill>
                <a:latin typeface="Calibri"/>
              </a:defRPr>
            </a:pPr>
            <a:r>
              <a:t>Thank you — questions and red-team attempts welcome.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