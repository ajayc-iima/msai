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FA5"/>
                </a:solidFill>
                <a:latin typeface="Segoe UI"/>
              </a:defRPr>
            </a:pPr>
            <a:r>
              <a:t>CONFAI 2026 · PLAKSHA UNIVERSITY · TRACK 06 RESPONSIBLE &amp; ETHICAL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Refuse to Hallucinate: a Deterministic Validity Firewall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8D7EB"/>
                </a:solidFill>
                <a:latin typeface="Segoe UI"/>
              </a:defRPr>
            </a:pPr>
            <a:r>
              <a:t>for Indian Official Survey Statistics (MoSPI · PLFS · HCES · TUS · MIS)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8CA0BE"/>
                </a:solidFill>
                <a:latin typeface="Segoe UI"/>
              </a:defRPr>
            </a:pPr>
            <a:r>
              <a:t>Refuse to Hallucinate: Deterministic Validity Firewall  |  Ajay Choudhary (MSAI @ Plaksha)  |  ConfAI 2026 · Track 06 Responsible &amp; Ethical AI  |  1 of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881360" cy="228600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24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One-liner: MoSPI's tools help you FIND the number; this firewall checks whether you are ALLOWED TO SAY what you want to say with it — and stops you, with a cited rule, when you are not.</a:t>
            </a:r>
          </a:p>
          <a:p>
            <a:pPr>
              <a:spcAft>
                <a:spcPts val="300"/>
              </a:spcAft>
              <a:defRPr sz="1000" b="0">
                <a:solidFill>
                  <a:srgbClr val="C8D7EB"/>
                </a:solidFill>
                <a:latin typeface="Segoe UI"/>
              </a:defRPr>
            </a:pPr>
            <a:r>
              <a:t>Ajay Choudhary · MSAI @ Plaksha University · AI in Practice – 1 (Policy Track) · offline demo localhost:8001/demo · $0.00/query · no GPU · MCP server + policy agent</a:t>
            </a:r>
          </a:p>
          <a:p>
            <a:pPr>
              <a:spcAft>
                <a:spcPts val="300"/>
              </a:spcAft>
              <a:defRPr sz="1000" b="1">
                <a:solidFill>
                  <a:srgbClr val="00BFA5"/>
                </a:solidFill>
                <a:latin typeface="Segoe UI"/>
              </a:defRPr>
            </a:pPr>
            <a:r>
              <a:t>Ask it the hard question live: “What was urban female LFPR in PLFS 2025?” — it refuses to guess and shows you exactly why (Slide 5).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06240"/>
            <a:ext cx="2560320" cy="146304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519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00BFA5"/>
                </a:solidFill>
                <a:latin typeface="Segoe UI"/>
              </a:defRPr>
            </a:pPr>
            <a:r>
              <a:t>$0.00</a:t>
            </a:r>
          </a:p>
          <a:p>
            <a:pPr>
              <a:spcAft>
                <a:spcPts val="3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per query</a:t>
            </a:r>
          </a:p>
          <a:p>
            <a:pPr>
              <a:spcAft>
                <a:spcPts val="300"/>
              </a:spcAft>
              <a:defRPr sz="850" b="0">
                <a:solidFill>
                  <a:srgbClr val="8CA0BE"/>
                </a:solidFill>
                <a:latin typeface="Segoe UI"/>
              </a:defRPr>
            </a:pPr>
            <a:r>
              <a:t>0 model calls on core path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4206240"/>
            <a:ext cx="2560320" cy="146304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42519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00BFA5"/>
                </a:solidFill>
                <a:latin typeface="Segoe UI"/>
              </a:defRPr>
            </a:pPr>
            <a:r>
              <a:t>42/42</a:t>
            </a:r>
          </a:p>
          <a:p>
            <a:pPr>
              <a:spcAft>
                <a:spcPts val="3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golden verdicts</a:t>
            </a:r>
          </a:p>
          <a:p>
            <a:pPr>
              <a:spcAft>
                <a:spcPts val="300"/>
              </a:spcAft>
              <a:defRPr sz="850" b="0">
                <a:solidFill>
                  <a:srgbClr val="8CA0BE"/>
                </a:solidFill>
                <a:latin typeface="Segoe UI"/>
              </a:defRPr>
            </a:pPr>
            <a:r>
              <a:t>reason codes 42/42 · numerics 12/12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206240"/>
            <a:ext cx="2560320" cy="146304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42519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00BFA5"/>
                </a:solidFill>
                <a:latin typeface="Segoe UI"/>
              </a:defRPr>
            </a:pPr>
            <a:r>
              <a:t>0/5</a:t>
            </a:r>
          </a:p>
          <a:p>
            <a:pPr>
              <a:spcAft>
                <a:spcPts val="3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cache collisions</a:t>
            </a:r>
          </a:p>
          <a:p>
            <a:pPr>
              <a:spcAft>
                <a:spcPts val="300"/>
              </a:spcAft>
              <a:defRPr sz="850" b="0">
                <a:solidFill>
                  <a:srgbClr val="8CA0BE"/>
                </a:solidFill>
                <a:latin typeface="Segoe UI"/>
              </a:defRPr>
            </a:pPr>
            <a:r>
              <a:t>danger/para overlap on 2 embedders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39" y="4206240"/>
            <a:ext cx="2560320" cy="146304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39" y="42519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00BFA5"/>
                </a:solidFill>
                <a:latin typeface="Segoe UI"/>
              </a:defRPr>
            </a:pPr>
            <a:r>
              <a:t>SHA-256</a:t>
            </a:r>
          </a:p>
          <a:p>
            <a:pPr>
              <a:spcAft>
                <a:spcPts val="3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frozen verdict</a:t>
            </a:r>
          </a:p>
          <a:p>
            <a:pPr>
              <a:spcAft>
                <a:spcPts val="300"/>
              </a:spcAft>
              <a:defRPr sz="850" b="0">
                <a:solidFill>
                  <a:srgbClr val="8CA0BE"/>
                </a:solidFill>
                <a:latin typeface="Segoe UI"/>
              </a:defRPr>
            </a:pPr>
            <a:r>
              <a:t>locked BEFORE retrieval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FA5"/>
                </a:solidFill>
                <a:latin typeface="Segoe UI"/>
              </a:defRPr>
            </a:pPr>
            <a:r>
              <a:t>PROBLEM · OBSERVED STATSDOC FAILURE MODES (RE-RUNNABLE PROMPTS)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Retrieval is solved. Governance is not.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8D7EB"/>
                </a:solidFill>
                <a:latin typeface="Segoe UI"/>
              </a:defRPr>
            </a:pPr>
            <a:r>
              <a:t>statsdoc.ai.mospi.gov.in observations vs. what policy needs (see evaluation/statsdoc_audit/PROTOCOL.md)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8CA0BE"/>
                </a:solidFill>
                <a:latin typeface="Segoe UI"/>
              </a:defRPr>
            </a:pPr>
            <a:r>
              <a:t>Refuse to Hallucinate: Deterministic Validity Firewall  |  Ajay Choudhary (MSAI @ Plaksha)  |  ConfAI 2026 · Track 06 Responsible &amp; Ethical AI  |  2 of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0881360" cy="804672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MPCE definition   ❌ Expands “Mean Per Capita…” (wrong)   ✔ Enforces statutory “Monthly Per Capita Consumption Expenditure”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78608"/>
            <a:ext cx="10881360" cy="804672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24328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  <a:r>
              <a:t>HCES 2011-12 vs 2023-24   ❌ Quotes ~40% growth, no survey-break warning   ✔ Fires R_COMPARABILITY_HCES_METHOD; halts the math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65576"/>
            <a:ext cx="10881360" cy="804672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511296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Multi-period arithmetic   ❌ Quotes 40% &amp; 4% but can't compound safely   ✔ Refuses unsound synthesis; no chained index, no number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52544"/>
            <a:ext cx="10881360" cy="804672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398264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  <a:r>
              <a:t>Poisoned context   ❌ Retrieved text can override guardrails   ✔ Verdict frozen pre-retrieval; injection can't move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39512"/>
            <a:ext cx="10881360" cy="804672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285231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  <a:r>
              <a:t>Cost / latency   ❌ ~$0.02–$0.05 · 3.5–8 s per query   ✔ $0.00 · p50 ~14 ms in-process, CPU-only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FA5"/>
                </a:solidFill>
                <a:latin typeface="Segoe UI"/>
              </a:defRPr>
            </a:pPr>
            <a:r>
              <a:t>SOLUTION · LLM TRANSLATES, VERSIONED RULES 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Five stages. Fixed order. First rule to fire wins.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8D7EB"/>
                </a:solidFill>
                <a:latin typeface="Segoe UI"/>
              </a:defRPr>
            </a:pPr>
            <a:r>
              <a:t>Question → exact cache → claim extraction → semantic field-guard → firewall → SHA-256 freeze → untrusted RAG → templated prose → citation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8CA0BE"/>
                </a:solidFill>
                <a:latin typeface="Segoe UI"/>
              </a:defRPr>
            </a:pPr>
            <a:r>
              <a:t>Refuse to Hallucinate: Deterministic Validity Firewall  |  Ajay Choudhary (MSAI @ Plaksha)  |  ConfAI 2026 · Track 06 Responsible &amp; Ethical AI  |  3 of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103120" cy="192024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EF4444"/>
                </a:solidFill>
                <a:latin typeface="Segoe UI"/>
              </a:defRPr>
            </a:pPr>
            <a:r>
              <a:t>1 Scope</a:t>
            </a:r>
          </a:p>
          <a:p>
            <a:pPr>
              <a:spcAft>
                <a:spcPts val="300"/>
              </a:spcAft>
              <a:defRPr sz="1000" b="0">
                <a:solidFill>
                  <a:srgbClr val="C8D7EB"/>
                </a:solidFill>
                <a:latin typeface="Segoe UI"/>
              </a:defRPr>
            </a:pPr>
            <a:r>
              <a:t>REFUSE forecasts,</a:t>
            </a:r>
            <a:br/>
            <a:r>
              <a:t>politics, causality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9504" y="1783080"/>
            <a:ext cx="2103120" cy="192024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9504" y="182880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EF4444"/>
                </a:solidFill>
                <a:latin typeface="Segoe UI"/>
              </a:defRPr>
            </a:pPr>
            <a:r>
              <a:t>2 Safety-A</a:t>
            </a:r>
          </a:p>
          <a:p>
            <a:pPr>
              <a:spcAft>
                <a:spcPts val="300"/>
              </a:spcAft>
              <a:defRPr sz="1000" b="0">
                <a:solidFill>
                  <a:srgbClr val="C8D7EB"/>
                </a:solidFill>
                <a:latin typeface="Segoe UI"/>
              </a:defRPr>
            </a:pPr>
            <a:r>
              <a:t>REFUSE injections</a:t>
            </a:r>
            <a:br/>
            <a:r>
              <a:t>&amp; jailbreaks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38928" y="1783080"/>
            <a:ext cx="2103120" cy="192024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38928" y="182880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3 Comparability</a:t>
            </a:r>
          </a:p>
          <a:p>
            <a:pPr>
              <a:spcAft>
                <a:spcPts val="300"/>
              </a:spcAft>
              <a:defRPr sz="1000" b="0">
                <a:solidFill>
                  <a:srgbClr val="C8D7EB"/>
                </a:solidFill>
                <a:latin typeface="Segoe UI"/>
              </a:defRPr>
            </a:pPr>
            <a:r>
              <a:t>WARN on HCES-CAPI /</a:t>
            </a:r>
            <a:br/>
            <a:r>
              <a:t>PLFS-revamp breaks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88352" y="1783080"/>
            <a:ext cx="2103120" cy="192024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88352" y="182880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4 Metadata</a:t>
            </a:r>
          </a:p>
          <a:p>
            <a:pPr>
              <a:spcAft>
                <a:spcPts val="300"/>
              </a:spcAft>
              <a:defRPr sz="1000" b="0">
                <a:solidFill>
                  <a:srgbClr val="C8D7EB"/>
                </a:solidFill>
                <a:latin typeface="Segoe UI"/>
              </a:defRPr>
            </a:pPr>
            <a:r>
              <a:t>WARN on unknown</a:t>
            </a:r>
            <a:br/>
            <a:r>
              <a:t>geo/sex/round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37776" y="1783080"/>
            <a:ext cx="2103120" cy="192024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37776" y="182880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5 Numeric</a:t>
            </a:r>
          </a:p>
          <a:p>
            <a:pPr>
              <a:spcAft>
                <a:spcPts val="300"/>
              </a:spcAft>
              <a:defRPr sz="1000" b="0">
                <a:solidFill>
                  <a:srgbClr val="C8D7EB"/>
                </a:solidFill>
                <a:latin typeface="Segoe UI"/>
              </a:defRPr>
            </a:pPr>
            <a:r>
              <a:t>PASS only on a</a:t>
            </a:r>
            <a:br/>
            <a:r>
              <a:t>verified truth row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40480"/>
            <a:ext cx="10881360" cy="228600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931920"/>
            <a:ext cx="10424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6C6DA"/>
                </a:solidFill>
                <a:latin typeface="Segoe UI"/>
              </a:defRPr>
            </a:pPr>
            <a:r>
              <a:t>Two guarantees that make demos boring (in a good way).</a:t>
            </a:r>
          </a:p>
          <a:p>
            <a:pPr>
              <a:spcAft>
                <a:spcPts val="3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  <a:r>
              <a:t>Safety-B: hash = SHA256(claim + decision + reason + rule-version), computed BEFORE any document text is read. The planted “ignore the caveat” chunk changes nothing — byte-identical hash.</a:t>
            </a:r>
          </a:p>
          <a:p>
            <a:pPr>
              <a:spcAft>
                <a:spcPts val="3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  <a:r>
              <a:t>Field-guard: no cosine threshold is safe on either embedder (bge 0.80-0.97 vs 0.78-0.95; nemotron 0.56-0.93 vs 0.69-0.95), so the cache reuses an answer only when survey/indicator/geography/state/residence/sex/round all match. 0/5 collisions.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FA5"/>
                </a:solidFill>
                <a:latin typeface="Segoe UI"/>
              </a:defRPr>
            </a:pPr>
            <a:r>
              <a:t>LIVE DEMO SCREENS · SCREENSHOTS FROM LOCALHOST:8001/DEMO (REAL OUTPUTS)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Demo 1 — a PASS and a WARN that saves you from a wrong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8D7EB"/>
                </a:solidFill>
                <a:latin typeface="Segoe UI"/>
              </a:defRPr>
            </a:pPr>
            <a:r>
              <a:t>Both answers below were generated live by vidhi/pipeline.py while building 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8CA0BE"/>
                </a:solidFill>
                <a:latin typeface="Segoe UI"/>
              </a:defRPr>
            </a:pPr>
            <a:r>
              <a:t>Refuse to Hallucinate: Deterministic Validity Firewall  |  Ajay Choudhary (MSAI @ Plaksha)  |  ConfAI 2026 · Track 06 Responsible &amp; Ethical AI  |  4 of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349240" cy="448056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64792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● PASS_WITH_NUMBER / R_OK</a:t>
            </a:r>
          </a:p>
          <a:p>
            <a:pPr>
              <a:spcAft>
                <a:spcPts val="300"/>
              </a:spcAft>
              <a:defRPr sz="950" b="1">
                <a:solidFill>
                  <a:srgbClr val="FFFFFF"/>
                </a:solidFill>
                <a:latin typeface="Segoe UI"/>
              </a:defRPr>
            </a:pPr>
            <a:r>
              <a:t>Q: What was all-India LFPR for age 15+ in usual status in PLFS 2025?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50749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C8D7EB"/>
                </a:solidFill>
                <a:latin typeface="Consolas"/>
              </a:defRPr>
            </a:pPr>
            <a:r>
              <a:t>A: [PASS/PASS_WITH_NUMBER/R_OK] LFPR (usual status (ps+ss)): 59.3 percent [PLFS_2025, 2025]. [1] [2] [3]  value=59.3  hash=66318a6e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349240" cy="448056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64792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F59E0B"/>
                </a:solidFill>
                <a:latin typeface="Segoe UI"/>
              </a:defRPr>
            </a:pPr>
            <a:r>
              <a:t>● WARN_COMPARABILITY / R_COMPARABILITY_HCES_METHOD</a:t>
            </a:r>
          </a:p>
          <a:p>
            <a:pPr>
              <a:spcAft>
                <a:spcPts val="300"/>
              </a:spcAft>
              <a:defRPr sz="950" b="1">
                <a:solidFill>
                  <a:srgbClr val="FFFFFF"/>
                </a:solidFill>
                <a:latin typeface="Segoe UI"/>
              </a:defRPr>
            </a:pPr>
            <a:r>
              <a:t>Q: Compare average MPCE in 2011-12 vs 2023-24.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697480"/>
            <a:ext cx="50749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C8D7EB"/>
                </a:solidFill>
                <a:latin typeface="Consolas"/>
              </a:defRPr>
            </a:pPr>
            <a:r>
              <a:t>A: [WARN/WARN_COMPARABILITY/R_COMPARABILITY_HCES_METHOD] Caution — HCES 2011-12 vs 2022-23+ uses different instruments (MMRP note, Statement 2); level comparison needs caution. [1] [2] [3]  hash=e3ac3335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FA5"/>
                </a:solidFill>
                <a:latin typeface="Segoe UI"/>
              </a:defRPr>
            </a:pPr>
            <a:r>
              <a:t>LIVE DEMO SCREENS · THE QUESTION THIS WORK REFUSES TO HALLUCINATE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Demo 2 — “urban female LFPR in PLFS 2025” gets honesty, not a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8D7EB"/>
                </a:solidFill>
                <a:latin typeface="Segoe UI"/>
              </a:defRPr>
            </a:pPr>
            <a:r>
              <a:t>Requested slice has no verified row: 3 verified PLFS_2025 LFPR rows cover all-India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8CA0BE"/>
                </a:solidFill>
                <a:latin typeface="Segoe UI"/>
              </a:defRPr>
            </a:pPr>
            <a:r>
              <a:t>Refuse to Hallucinate: Deterministic Validity Firewall  |  Ajay Choudhary (MSAI @ Plaksha)  |  ConfAI 2026 · Track 06 Responsible &amp; Ethical AI  |  5 of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349240" cy="448056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64792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F59E0B"/>
                </a:solidFill>
                <a:latin typeface="Segoe UI"/>
              </a:defRPr>
            </a:pPr>
            <a:r>
              <a:t>● WARN_NO_DATA / R_NO_CURATED_ROW</a:t>
            </a:r>
          </a:p>
          <a:p>
            <a:pPr>
              <a:spcAft>
                <a:spcPts val="300"/>
              </a:spcAft>
              <a:defRPr sz="950" b="1">
                <a:solidFill>
                  <a:srgbClr val="FFFFFF"/>
                </a:solidFill>
                <a:latin typeface="Segoe UI"/>
              </a:defRPr>
            </a:pPr>
            <a:r>
              <a:t>Q: What was urban female LFPR in PLFS 2025?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50749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C8D7EB"/>
                </a:solidFill>
                <a:latin typeface="Consolas"/>
              </a:defRPr>
            </a:pPr>
            <a:r>
              <a:t>A: [WARN/WARN_NO_DATA/R_NO_CURATED_ROW] Caution — Valid question but no curated numeric row; no figure given. Coverage: 3 verified LFPR row(s) exist for PLFS_2025 (slices residence×sex×state×round: all/all/all/2025, all/female/all/2025, all/male/all/2025). Requested slice [urban × female] has no verified row — no figure endorsed for it. Closest verified context (NOT the requested figure): all/female = 40 percent (row PLFS25_LFPR_15P_F, mospi_PLFS_2025_F_REV_29052026.pdf). To answer this slice, curate the official PLFS Table for that disaggregation into grou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349240" cy="448056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64792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EF4444"/>
                </a:solidFill>
                <a:latin typeface="Segoe UI"/>
              </a:defRPr>
            </a:pPr>
            <a:r>
              <a:t>● REFUSE_SCOPE / R_FORECAST</a:t>
            </a:r>
          </a:p>
          <a:p>
            <a:pPr>
              <a:spcAft>
                <a:spcPts val="300"/>
              </a:spcAft>
              <a:defRPr sz="950" b="1">
                <a:solidFill>
                  <a:srgbClr val="FFFFFF"/>
                </a:solidFill>
                <a:latin typeface="Segoe UI"/>
              </a:defRPr>
            </a:pPr>
            <a:r>
              <a:t>Q: Will unemployment fall in 2027?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697480"/>
            <a:ext cx="50749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C8D7EB"/>
                </a:solidFill>
                <a:latin typeface="Consolas"/>
              </a:defRPr>
            </a:pPr>
            <a:r>
              <a:t>A: [REFUSE/REFUSE_SCOPE/R_FORECAST] I can't answer that. [R_FORECAST] Forecasting is out of scope; only published estimates are answerable.  hash=5a037feb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FA5"/>
                </a:solidFill>
                <a:latin typeface="Segoe UI"/>
              </a:defRPr>
            </a:pPr>
            <a:r>
              <a:t>MEASURED, OFFLINE, REPRODUCIBLE · PYTHON VIDHI/EVAL.PY + PYTEST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Evaluation — every number below is a test output, not a slide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8D7EB"/>
                </a:solidFill>
                <a:latin typeface="Segoe UI"/>
              </a:defRPr>
            </a:pPr>
            <a:r>
              <a:t>88/88 PDF-traced rows · 42 golden queries · 5 danger pairs · 67 unit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8CA0BE"/>
                </a:solidFill>
                <a:latin typeface="Segoe UI"/>
              </a:defRPr>
            </a:pPr>
            <a:r>
              <a:t>Refuse to Hallucinate: Deterministic Validity Firewall  |  Ajay Choudhary (MSAI @ Plaksha)  |  ConfAI 2026 · Track 06 Responsible &amp; Ethical AI  |  6 of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349240" cy="448056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0BFA5"/>
                </a:solidFill>
                <a:latin typeface="Segoe UI"/>
              </a:defRPr>
            </a:pPr>
            <a:r>
              <a:t>Correctness gates (all must pass)</a:t>
            </a:r>
          </a:p>
          <a:p>
            <a:pPr>
              <a:spcAft>
                <a:spcPts val="3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Golden verdict accuracy: 42/42 = 1.000</a:t>
            </a:r>
          </a:p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Reason-code accuracy: 42/42 = 1.000</a:t>
            </a:r>
          </a:p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Numeric exact match: 12/12 valued queries</a:t>
            </a:r>
          </a:p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Citation validity: 1.000 (REFUSE needs no hits)</a:t>
            </a:r>
          </a:p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Danger-pair collisions: 0/5 (field-guard)</a:t>
            </a:r>
          </a:p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Safety-B: frozen hash unchanged under injection</a:t>
            </a:r>
          </a:p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Unit tests: 67 passed (test_vidhi + test_aip)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349240" cy="448056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6C6DA"/>
                </a:solidFill>
                <a:latin typeface="Segoe UI"/>
              </a:defRPr>
            </a:pPr>
            <a:r>
              <a:t>Economics &amp; limits (honest)</a:t>
            </a:r>
          </a:p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Cost: $0.00/query deterministic path (0 model calls)</a:t>
            </a:r>
          </a:p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Latency: p50 ~14 ms in-process; first-call import ~290 ms</a:t>
            </a:r>
          </a:p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Coverage is the limit: Bihar-LFPR &amp; TUS/MIS numerics → WARN</a:t>
            </a:r>
          </a:p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1 of 4 YAML rules stays inactive pending verbatim quotes</a:t>
            </a:r>
          </a:p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Heuristic extractor misreads exotic phrasings (LLM port exists)</a:t>
            </a:r>
          </a:p>
          <a:p>
            <a:pPr>
              <a:spcAft>
                <a:spcPts val="3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Scale path: curate PDF tables → truth JSON; no code change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FA5"/>
                </a:solidFill>
                <a:latin typeface="Segoe UI"/>
              </a:defRPr>
            </a:pPr>
            <a:r>
              <a:t>ROADMAP · WHAT CONFAI FEEDBACK WOULD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From 88 rows to national coverage without touching the firewall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8D7EB"/>
                </a:solidFill>
                <a:latin typeface="Segoe UI"/>
              </a:defRPr>
            </a:pPr>
            <a:r>
              <a:t>Try it: python -m uvicorn vidhi.service:app --port 8001 → /demo · MCP: python -m vidhi.mcp_server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8CA0BE"/>
                </a:solidFill>
                <a:latin typeface="Segoe UI"/>
              </a:defRPr>
            </a:pPr>
            <a:r>
              <a:t>Refuse to Hallucinate: Deterministic Validity Firewall  |  Ajay Choudhary (MSAI @ Plaksha)  |  ConfAI 2026 · Track 06 Responsible &amp; Ethical AI  |  7 of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349240" cy="448056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0BFA5"/>
                </a:solidFill>
                <a:latin typeface="Segoe UI"/>
              </a:defRPr>
            </a:pPr>
            <a:r>
              <a:t>Next three moves (ranked)</a:t>
            </a:r>
          </a:p>
          <a:p>
            <a:pPr>
              <a:spcAft>
                <a:spcPts val="3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  <a:r>
              <a:t>1. MoSPI operating model: eSankhyiki API adapter at release time → machine ingestion → audit gate → frozen JSON. Per-release human work is one comparability entry + diff review, not per-row typing.</a:t>
            </a:r>
          </a:p>
          <a:p>
            <a:pPr>
              <a:spcAft>
                <a:spcPts val="3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  <a:r>
              <a:t>2. One parser per table family (Statement 7 proven: 37/37 pairs, 0 mismatches); TUS-2024 + MIS tables next (kills methodology-only gaps).</a:t>
            </a:r>
          </a:p>
          <a:p>
            <a:pPr>
              <a:spcAft>
                <a:spcPts val="3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  <a:r>
              <a:t>3. Newsroom API: verify-then-publish endpoint for journalists &amp; fact-checkers.</a:t>
            </a:r>
          </a:p>
          <a:p>
            <a:pPr>
              <a:spcAft>
                <a:spcPts val="300"/>
              </a:spcAft>
              <a:defRPr sz="1050" b="0">
                <a:solidFill>
                  <a:srgbClr val="FFFFFF"/>
                </a:solidFill>
                <a:latin typeface="Segoe UI"/>
              </a:defRPr>
            </a:pPr>
            <a:r>
              <a:t>Interop already built: MCP server (4 tools) + policy-briefing agent.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349240" cy="448056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6C6DA"/>
                </a:solidFill>
                <a:latin typeface="Segoe UI"/>
              </a:defRPr>
            </a:pPr>
            <a:r>
              <a:t>Reproduce everything in 5 minutes</a:t>
            </a:r>
          </a:p>
          <a:p>
            <a:pPr>
              <a:spcAft>
                <a:spcPts val="300"/>
              </a:spcAft>
              <a:defRPr sz="1050" b="0">
                <a:solidFill>
                  <a:srgbClr val="FFFFFF"/>
                </a:solidFill>
                <a:latin typeface="Segoe UI"/>
              </a:defRPr>
            </a:pPr>
            <a:r>
              <a:t>python -m pytest tests/ -q  →  67 passed, offline, no key</a:t>
            </a:r>
          </a:p>
          <a:p>
            <a:pPr>
              <a:spcAft>
                <a:spcPts val="300"/>
              </a:spcAft>
              <a:defRPr sz="1050" b="0">
                <a:solidFill>
                  <a:srgbClr val="FFFFFF"/>
                </a:solidFill>
                <a:latin typeface="Segoe UI"/>
              </a:defRPr>
            </a:pPr>
            <a:r>
              <a:t>python vidhi/eval.py  →  42/42 · 0/5 · Safety-B ok</a:t>
            </a:r>
          </a:p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Ask the hard question; expect WARN_NO_DATA + coverage note.</a:t>
            </a:r>
          </a:p>
          <a:p>
            <a:pPr>
              <a:spcAft>
                <a:spcPts val="300"/>
              </a:spcAft>
              <a:defRPr sz="1050" b="1">
                <a:solidFill>
                  <a:srgbClr val="00BFA5"/>
                </a:solidFill>
                <a:latin typeface="Segoe UI"/>
              </a:defRPr>
            </a:pPr>
            <a:r>
              <a:t>Thank you — questions &amp; red-team attempts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